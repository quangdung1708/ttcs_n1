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78" r:id="rId36"/>
    <p:sldId id="263" r:id="rId13"/>
    <p:sldId id="264" r:id="rId14"/>
    <p:sldId id="265" r:id="rId15"/>
    <p:sldId id="266" r:id="rId16"/>
    <p:sldId id="267" r:id="rId17"/>
    <p:sldId id="268" r:id="rId18"/>
    <p:sldId id="279" r:id="rId37"/>
    <p:sldId id="269" r:id="rId19"/>
    <p:sldId id="270" r:id="rId20"/>
    <p:sldId id="271" r:id="rId21"/>
    <p:sldId id="272" r:id="rId22"/>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273" r:id="rId23"/>
    <p:sldId id="274" r:id="rId24"/>
    <p:sldId id="275" r:id="rId25"/>
    <p:sldId id="276" r:id="rId26"/>
    <p:sldId id="277" r:id="rId27"/>
  </p:sldIdLst>
  <p:sldSz cy="6858000" cx="12192000"/>
  <p:notesSz cx="6858000" cy="12192000"/>
  <p:embeddedFontLst>
    <p:embeddedFont>
      <p:font typeface="Be Vietnam Pro"/>
      <p:regular r:id="rId28"/>
      <p:bold r:id="rId29"/>
      <p:italic r:id="rId30"/>
      <p:boldItalic r:id="rId31"/>
    </p:embeddedFont>
    <p:embeddedFont>
      <p:font typeface="JetBrains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82B03F-E1A5-4E7F-97B6-85D91BCEE78B}">
  <a:tblStyle styleId="{A582B03F-E1A5-4E7F-97B6-85D91BCEE7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font" Target="fonts/BeVietnamPro-regular.fntdata"/><Relationship Id="rId29" Type="http://schemas.openxmlformats.org/officeDocument/2006/relationships/font" Target="fonts/BeVietnamPro-bold.fntdata"/><Relationship Id="rId30" Type="http://schemas.openxmlformats.org/officeDocument/2006/relationships/font" Target="fonts/BeVietnamPro-italic.fntdata"/><Relationship Id="rId31" Type="http://schemas.openxmlformats.org/officeDocument/2006/relationships/font" Target="fonts/BeVietnamPro-boldItalic.fntdata"/><Relationship Id="rId32" Type="http://schemas.openxmlformats.org/officeDocument/2006/relationships/font" Target="fonts/JetBrainsMono-regular.fntdata"/><Relationship Id="rId33" Type="http://schemas.openxmlformats.org/officeDocument/2006/relationships/font" Target="fonts/JetBrainsMono-bold.fntdata"/><Relationship Id="rId34" Type="http://schemas.openxmlformats.org/officeDocument/2006/relationships/font" Target="fonts/JetBrainsMono-italic.fntdata"/><Relationship Id="rId35" Type="http://schemas.openxmlformats.org/officeDocument/2006/relationships/font" Target="fonts/JetBrainsMono-boldItalic.fntdata"/><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Thông tin người dùng xác nhận: nhóm TTCS_N1; mentor Triệu Quang Dũng; Đại học CNTT &amp; Truyền thông Thái Nguyên, ngành CNTT, lớp CNTT K23G; đơn vị CodeGym; thực tập 23/09–26/10/2026; báo cáo 21/10/2026. Giữ logo và layout mẫu. Báo cáo này chỉ bao quát Sprint 1–4, không khẳng định toàn bộ kỳ thực tập đã kết thúc.</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Phần A giữ cấu trúc mẫu: tổng quan, quy trình, Jira, Git, kết quả và đóng góp. Người trình bày dự kiến cần nhóm xác nhận. Không khẳng định các số liệu chưa có nguồn.</a:t>
            </a: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Phạm vi theo kế hoạch gốc: S1 10 story/42 point, S2 10/43, S3 9/42, S4 9/45. Tổng kế hoạch 38 story/172 point, không phải point đã cam kết hoặc Done thực tế. Mục tiêu ở slide này đối chiếu theo đúng bốn nhóm ở slide A09.</a:t>
            </a: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Lịch do người dùng xác nhận: mỗi sprint 7 ngày, bắt đầu 23/09/2026. S1:23–29/09; S2:30/09–06/10; S3:07–13/10; S4:14–20/10. Kỳ thực tập tiếp tục tới 26/10, ngoài phạm vi bốn sprint này. Slide chỉ hiển thị bốn sprint đã xác nhận; lịch các cuộc họp còn thiếu. Không lấy Created/Updated làm lịch sprint. Quy tắc Gitflow từng được hướng dẫn, nhưng không có bằng chứng mọi commit đều qua PR/review; cần xác nhận thực tế nhóm đã làm. Nhánh demo độc lập dùng git init không cùng lịch sử develop và không là ví dụ Gitflow tích hợp.</a:t>
            </a: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199 issue, 135 Done, 64 chưa Done = 9 In Progress + 55 To Do, tỷ lệ 135/199=67,8%. Đây là toàn bộ tập issue trong export, gồm nhiều loại issue, không phải 38 story chính hay số liệu live. URL board do người dùng cung cấp đã gắn vào footer. Vẫn cần ảnh Backlog/Issues thật; chưa truy cập board hoặc cập nhật export từ URL. Giữ chỗ ảnh của template, không dựng ảnh giả.</a:t>
            </a: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Cần Velocity Chart thể hiện committed/completed SP cho Sprint 1–4 và Burndown cho 1–2 sprint tiêu biểu, kèm URL/ngày chụp. Export Jira hiện tại không có trường story point, lịch sprint hoặc lịch sử burndown. Không thể tính velocity thực hay SP Done từ số issue. 172 SP chỉ là kế hoạch gốc.</a:t>
            </a: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Các cột Git chờ thống kê. Kỳ thực tập 23/09–26/10, báo cáo 21/10/2026; khi tính số liệu chỉ lấy đến thời điểm báo cáo, không lấy các ngày sau 21/10. Vẫn cần nhánh/phạm vi và mapping tài khoản GitHub từng người. Không dùng git author/commit count một mình để đánh giá đóng góp. Cần commit (loại merge), PR merged, PR review và +/- dòng trong kỳ, loại tệp sinh tự động/node_modules/ZIP. Tài khoản author Dũng trong các thao tác trợ lý không chứng minh những thành viên khác viết code. Cần ảnh Insights Contributors/Commit graph thật.</a:t>
            </a: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Template yêu cầu PR có trao đổi thực chất, không chỉ LGTM. Cần link PR merged vào develop và ảnh Conversation/Files changed thể hiện review rồi sửa. CI đã ghi nhận Success tại https://github.com/QuangDung1708/TTCS_N1/actions/runs/39185149415, không thay bằng chứng review. Không khai PR trực tiếp push là quy trình review.</a:t>
            </a:r>
          </a:p>
        </p:txBody>
      </p:sp>
      <p:sp>
        <p:nvSpPr>
          <p:cNvPr id="203" name="Google Shape;20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Ảnh khách hàng đã có trong repository nên không cần yêu cầu người dùng chụp lại ảnh tương tự trừ khi muốn bản mới nhất. Chưa có URL deploy hoặc video demo. Bản demo độc lập N1-279 không thay thế module CRM chính. Snapshot Jira S1:8 Done/2 IP, S2:10 Done, S3:3 Done/6 IP, S4:9 To Do ở cấp story; không khẳng định toàn bộ S1–4 hoàn thành.</a:t>
            </a:r>
          </a:p>
        </p:txBody>
      </p:sp>
      <p:sp>
        <p:nvSpPr>
          <p:cNvPr id="232" name="Google Shape;23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Giữ bảng Web của template; không đưa công nghệ Game. CRM chính dùng MySQL. Hai demo độc lập dùng JSON, không nhầm với cơ sở dữ liệu CRM. Sơ đồ là shape chỉnh sửa được trong PowerPoint. Phần triển khai còn thiếu môi trường/URL và không tự khẳng định đã dùng Docker/VPS/Cloud.</a:t>
            </a: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Chỉ đếm 38 story chính S1–4: 21 Done, 8 In Progress, 9 To Do. Không đồng nhất 55,3% story với tỷ lệ SP hoặc nghiệm thu AC. Cần xác nhận nghiệm thu. S2-02 trong backlog là hồ sơ cá nhân, N1-125 trên Jira lại mô tả người liên hệ. Chức năng S4 có code/test không tự chuyển trạng thái To Do sang Done.</a:t>
            </a:r>
          </a:p>
        </p:txBody>
      </p:sp>
      <p:sp>
        <p:nvSpPr>
          <p:cNvPr id="274" name="Google Shape;2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121/121 backend và 50/50 browser là kết quả đã ghi nhận tại phiên bản tương ứng, không chứng minh mọi AC đạt hoặc đã chạy lại trên mọi commit sau đó. 100% chỉ là tỷ lệ case pass trong các lượt chạy đã nêu. Cần bug resolved count trong kỳ, coverage report, thời gian tải/API đo thực tế và số người test. Không đưa 11 test demo import vào tổng test của CRM chính. Mục tiêu 360&lt;1,5s/500 hoạt động và phân bổ≤5 phút dưới tải chưa được xác minh đầy đủ.</a:t>
            </a:r>
          </a:p>
        </p:txBody>
      </p:sp>
      <p:sp>
        <p:nvSpPr>
          <p:cNvPr id="292" name="Google Shape;2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Giữ đúng công thức của template. Với từng tiêu chí, chuẩn hóa phần mỗi người trên tổng của nhóm rồi nhân trọng số. Cần SP đã Done theo cá nhân, PR merged/review, đánh giá chéo, điểm/nhận xét mentor và xác nhận cuối. Không tự đặt 10% mỗi người chỉ vì nhóm có 10 người, không dùng commit count thay toàn bộ công thức. Hai slide cùng một bảng nhóm 10 người, tổng cuối của cả hai phải 100%.</a:t>
            </a:r>
          </a:p>
        </p:txBody>
      </p:sp>
      <p:sp>
        <p:nvSpPr>
          <p:cNvPr id="323" name="Google Shape;32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Người dùng đã xác nhận làm cho cả 10 thành viên, 3 slide/người theo template. Phần cá nhân dự thảo dựa trên assignee Jira, không tự nhận công việc đã trực tiếp làm. Từng người cần xác nhận nội dung, cung cấp trước/sau, PR và tự đánh giá; mentor cần xác nhận tỷ lệ đóng góp.</a:t>
            </a:r>
          </a:p>
        </p:txBody>
      </p:sp>
      <p:sp>
        <p:nvSpPr>
          <p:cNvPr id="348" name="Google Shape;3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Triệu Quang Dũng: 29 issue non-Epic Done được gán trong toàn bộ export Jira 18/10, không phải số story point hoặc tất cả công việc được người này trực tiếp thực hiện. Phạm vi nêu theo các ticket [6, 5, 8, 47, 210]; người phụ trách cần xác nhận. Chưa có dữ liệu SP/Git/PR/tỷ lệ đóng góp cá nhân trong kỳ. Các subtasks To Do giữ nguyên, không biến thành kết quả đã hoàn thành.</a:t>
            </a:r>
          </a:p>
        </p:txBody>
      </p:sp>
      <p:sp>
        <p:nvSpPr>
          <p:cNvPr id="359" name="Google Shape;35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Đề xuất bài toán cho Triệu Quang Dũng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390" name="Google Shape;39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Triệu Quang Dũng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19" name="Google Shape;4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Phần C tổng kết giá trị, bài học, hướng phát triển và demo. Người trình bày và thời lượng chốt lại theo số thành viên thực sự báo cáo. Phần B 10 người nếu 3 phút/người cần thêm khoảng 30 phút, không gộp toàn bộ báo cáo thành 15–20 phút.</a:t>
            </a:r>
          </a:p>
        </p:txBody>
      </p:sp>
      <p:sp>
        <p:nvSpPr>
          <p:cNvPr id="440" name="Google Shape;44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Chỉ tổng hợp các giá trị đã nêu ở Phần A. Không tự khẳng định Scrum ổn định, doanh thu tăng hoặc đã có cơ hội việc làm khi chưa có chứng cứ. Nội dung bài học và giá trị cá nhân cần nhóm xác nhận.</a:t>
            </a:r>
          </a:p>
        </p:txBody>
      </p:sp>
      <p:sp>
        <p:nvSpPr>
          <p:cNvPr id="451" name="Google Shape;45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Bài học dự thảo từ các vấn đề thật đã xử lý trong trao đổi: CI, SMTP/worker, import trùng và nhầm nhánh độc lập/Gitflow. Nhóm xác nhận trước khi nói đây là trải nghiệm chung. CI frontend đã sửa sibling backend path và login IP budgets giữa test, không bỏ kiểm tra khóa tài khoản trong case. Có bằng chứng 50/50 tại bản e370c679.</a:t>
            </a:r>
          </a:p>
        </p:txBody>
      </p:sp>
      <p:sp>
        <p:nvSpPr>
          <p:cNvPr id="476" name="Google Shape;47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Roadmap sản phẩm là đề xuất, không phải cam kết đã được mentor duyệt. Phần nghề nghiệp hoàn toàn thiếu thông tin từ từng người; không tự suy ra Backend hiện tại đồng nghĩa định hướng nghề nghiệp Backend. Cần câu trả lời của nhóm.</a:t>
            </a:r>
          </a:p>
        </p:txBody>
      </p:sp>
      <p:sp>
        <p:nvSpPr>
          <p:cNvPr id="503" name="Google Shape;5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BẢN DỰ THẢO — Phạm vi Sprint 1–4.</a:t>
            </a:r>
          </a:p>
          <a:p>
            <a:r>
              <a:t>Chuẩn bị tài khoản theo vai trò, DB test, dữ liệu mẫu và video dự phòng 2–3 phút. Demo nên chứng minh A không xem khách B, hồ sơ 360, import có lỗi và lead chấm điểm/phân bổ. Nếu dùng bản mẫu độc lập N1-279 phải nói rõ khác CRM chính. Không đưa .env, SMTP password hoặc dữ liệu khách thật vào ảnh.</a:t>
            </a:r>
          </a:p>
        </p:txBody>
      </p:sp>
      <p:sp>
        <p:nvSpPr>
          <p:cNvPr id="525" name="Google Shape;52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Các cột Git chờ thống kê. Kỳ thực tập 23/09–26/10, báo cáo 21/10/2026; khi tính số liệu chỉ lấy đến thời điểm báo cáo, không lấy các ngày sau 21/10. Vẫn cần nhánh/phạm vi và mapping tài khoản GitHub từng người. Không dùng git author/commit count một mình để đánh giá đóng góp. Cần commit (loại merge), PR merged, PR review và +/- dòng trong kỳ, loại tệp sinh tự động/node_modules/ZIP. Tài khoản author Dũng trong các thao tác trợ lý không chứng minh những thành viên khác viết code. Cần ảnh Insights Contributors/Commit graph thật.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Giữ đúng công thức của template. Với từng tiêu chí, chuẩn hóa phần mỗi người trên tổng của nhóm rồi nhân trọng số. Cần SP đã Done theo cá nhân, PR merged/review, đánh giá chéo, điểm/nhận xét mentor và xác nhận cuối. Không tự đặt 10% mỗi người chỉ vì nhóm có 10 người, không dùng commit count thay toàn bộ công thức. Hai slide cùng một bảng nhóm 10 người, tổng cuối của cả hai phải 100%.</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Lê Minh Danh: 12 issue non-Epic Done được gán trong toàn bộ export Jira 18/10, không phải số story point hoặc tất cả công việc được người này trực tiếp thực hiện. Phạm vi nêu theo các ticket [196, 197, 206, 207];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Lê Minh Danh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Lê Minh Danh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Đỗ Tuấn Dũng: 11 issue non-Epic Done được gán trong toàn bộ export Jira 18/10, không phải số story point hoặc tất cả công việc được người này trực tiếp thực hiện. Phạm vi nêu theo các ticket [199, 200];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Đỗ Tuấn Dũng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Đỗ Tuấn Dũng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Trần Việt Anh: 13 issue non-Epic Done được gán trong toàn bộ export Jira 18/10, không phải số story point hoặc tất cả công việc được người này trực tiếp thực hiện. Phạm vi nêu theo các ticket [203, 204, 209];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Nguyễn Trần Việt Anh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Trần Việt Anh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Thùy Chang: 10 issue non-Epic Done được gán trong toàn bộ export Jira 18/10, không phải số story point hoặc tất cả công việc được người này trực tiếp thực hiện. Phạm vi nêu theo các ticket [211, 214];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Nguyễn Thùy Chang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Thùy Chang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Phạm Xuân Bình: 11 issue non-Epic Done được gán trong toàn bộ export Jira 18/10, không phải số story point hoặc tất cả công việc được người này trực tiếp thực hiện. Phạm vi nêu theo các ticket [219, 220];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Phạm Xuân Bình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Phạm Xuân Bình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Hứa Huệ An: 11 issue non-Epic Done được gán trong toàn bộ export Jira 18/10, không phải số story point hoặc tất cả công việc được người này trực tiếp thực hiện. Phạm vi nêu theo các ticket [198, 208, 230];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Hứa Huệ An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Hứa Huệ An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Hoàng Lan Anh: 12 issue non-Epic Done được gán trong toàn bộ export Jira 18/10, không phải số story point hoặc tất cả công việc được người này trực tiếp thực hiện. Phạm vi nêu theo các ticket [201, 202, 221];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Hoàng Lan Anh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Hoàng Lan Anh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Châu Thùy Dung: 10 issue non-Epic Done được gán trong toàn bộ export Jira 18/10, không phải số story point hoặc tất cả công việc được người này trực tiếp thực hiện. Phạm vi nêu theo các ticket [205, 224];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Châu Thùy Dung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Châu Thùy Dung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Ngọc Anh: 10 issue non-Epic Done được gán trong toàn bộ export Jira 18/10, không phải số story point hoặc tất cả công việc được người này trực tiếp thực hiện. Phạm vi nêu theo các ticket [212, 215, 229]; người phụ trách cần xác nhận. Chưa có dữ liệu SP/Git/PR/tỷ lệ đóng góp cá nhân trong kỳ. Các subtasks To Do giữ nguyên, không biến thành kết quả đã hoàn thành.</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Đề xuất bài toán cho Nguyễn Ngọc Anh theo phạm vi được giao, chưa phải lời xác nhận người này đã trực tiếp giải quyết. Cần mô tả vấn đề, giải pháp, ảnh/log trước-sau cùng kịch bản/cấu hình/bộ dữ liệu, số đo và link PR. Không dùng số case pass chung của hệ thống làm số đo đóng góp cá nhân. Không tự trích lời mentor hoặc tạo bằng chứng giả.</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 DỰ THẢO — Phạm vi Sprint 1–4.</a:t>
            </a:r>
          </a:p>
          <a:p>
            <a:r>
              <a:t>Nguyễn Ngọc Anh tự đánh giá theo thang 1–5 của template (1 chưa biết, 3 làm có hướng dẫn, 5 làm độc lập và hướng dẫn người khác). Không suy ra năng lực trước kỳ thực tập từ số ticket. Cần điểm trước/sau, ví dụ minh chứng và nhận xét mentor/code review thật; sau đó chốt 1–2 điểm tiếp tục cải thiện.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hyperlink" Target="https://ictu-team-k8abz7ih.atlassian.net/jira/software/projects/N1/boards/3/backlo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6.png"/><Relationship Id="rId4" Type="http://schemas.openxmlformats.org/officeDocument/2006/relationships/image" Target="../media/image6.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6.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5.png"/><Relationship Id="rId5" Type="http://schemas.openxmlformats.org/officeDocument/2006/relationships/image" Target="../media/image50.png"/><Relationship Id="rId6" Type="http://schemas.openxmlformats.org/officeDocument/2006/relationships/image" Target="../media/image6.png"/><Relationship Id="rId7"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https://ictu-team-k8abz7ih.atlassian.net/jira/software/projects/N1/boards/3/backlo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15" name="Shape 15"/>
        <p:cNvGrpSpPr/>
        <p:nvPr/>
      </p:nvGrpSpPr>
      <p:grpSpPr>
        <a:xfrm>
          <a:off x="0" y="0"/>
          <a:ext cx="0" cy="0"/>
          <a:chOff x="0" y="0"/>
          <a:chExt cx="0" cy="0"/>
        </a:xfrm>
      </p:grpSpPr>
      <p:sp>
        <p:nvSpPr>
          <p:cNvPr id="16" name="Google Shape;16;p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BÁO CÁO TỔNG KẾT THỰC TẬP · </a:t>
            </a:r>
            <a:endParaRPr b="0" i="0" sz="1200" u="none" cap="none" strike="noStrike">
              <a:solidFill>
                <a:schemeClr val="dk1"/>
              </a:solidFill>
              <a:latin typeface="Calibri"/>
              <a:ea typeface="Calibri"/>
              <a:cs typeface="Calibri"/>
              <a:sym typeface="Calibri"/>
            </a:endParaRPr>
          </a:p>
        </p:txBody>
      </p:sp>
      <p:sp>
        <p:nvSpPr>
          <p:cNvPr id="17" name="Google Shape;17;p3"/>
          <p:cNvSpPr/>
          <p:nvPr/>
        </p:nvSpPr>
        <p:spPr>
          <a:xfrm>
            <a:off x="812800" y="1178520"/>
            <a:ext cx="10883392" cy="695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4800"/>
              <a:buFont typeface="Be Vietnam Pro"/>
              <a:buNone/>
            </a:pPr>
            <a:pPr indent="0" lvl="0" marL="0" marR="0" rtl="0" algn="l">
              <a:lnSpc>
                <a:spcPct val="110000"/>
              </a:lnSpc>
              <a:spcBef>
                <a:spcPts val="0"/>
              </a:spcBef>
              <a:spcAft>
                <a:spcPts val="0"/>
              </a:spcAft>
              <a:buClr>
                <a:srgbClr val="F6F7F4"/>
              </a:buClr>
              <a:buSzPts val="4800"/>
              <a:buFont typeface="Be Vietnam Pro"/>
              <a:buNone/>
            </a:pPr>
            <a:r>
              <a:rPr b="1" i="0" lang="en-US" sz="4400" u="none" cap="none" strike="noStrike">
                <a:solidFill>
                  <a:srgbClr val="F6F7F4"/>
                </a:solidFill>
                <a:latin typeface="Be Vietnam Pro"/>
                <a:ea typeface="Be Vietnam Pro"/>
                <a:cs typeface="Be Vietnam Pro"/>
                <a:sym typeface="Be Vietnam Pro"/>
              </a:rPr>
              <a:t>Enterprise CRM</a:t>
            </a:r>
            <a:endParaRPr b="0" i="0" sz="4800" u="none" cap="none" strike="noStrike">
              <a:solidFill>
                <a:schemeClr val="dk1"/>
              </a:solidFill>
              <a:latin typeface="Calibri"/>
              <a:ea typeface="Calibri"/>
              <a:cs typeface="Calibri"/>
              <a:sym typeface="Calibri"/>
            </a:endParaRPr>
          </a:p>
        </p:txBody>
      </p:sp>
      <p:sp>
        <p:nvSpPr>
          <p:cNvPr id="18" name="Google Shape;18;p3"/>
          <p:cNvSpPr/>
          <p:nvPr/>
        </p:nvSpPr>
        <p:spPr>
          <a:xfrm>
            <a:off x="812800" y="2001441"/>
            <a:ext cx="10883392" cy="345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BFD0DE"/>
              </a:buClr>
              <a:buSzPts val="1800"/>
              <a:buFont typeface="Be Vietnam Pro"/>
              <a:buNone/>
            </a:pPr>
            <a:pPr indent="0" lvl="0" marL="0" marR="0" rtl="0" algn="l">
              <a:lnSpc>
                <a:spcPct val="140000"/>
              </a:lnSpc>
              <a:spcBef>
                <a:spcPts val="0"/>
              </a:spcBef>
              <a:spcAft>
                <a:spcPts val="0"/>
              </a:spcAft>
              <a:buClr>
                <a:srgbClr val="BFD0DE"/>
              </a:buClr>
              <a:buSzPts val="1800"/>
              <a:buFont typeface="Be Vietnam Pro"/>
              <a:buNone/>
            </a:pPr>
            <a:r>
              <a:rPr b="0" i="0" lang="en-US" sz="1600" u="none" cap="none" strike="noStrike">
                <a:solidFill>
                  <a:srgbClr val="BFD0DE"/>
                </a:solidFill>
                <a:latin typeface="Be Vietnam Pro"/>
                <a:ea typeface="Be Vietnam Pro"/>
                <a:cs typeface="Be Vietnam Pro"/>
                <a:sym typeface="Be Vietnam Pro"/>
              </a:rPr>
              <a:t>TTCS_N1 · Kỳ thực tập 23/09–26/10/2026 · Báo cáo Sprint 1–4</a:t>
            </a:r>
            <a:endParaRPr b="0" i="0" sz="1800" u="none" cap="none" strike="noStrike">
              <a:solidFill>
                <a:schemeClr val="dk1"/>
              </a:solidFill>
              <a:latin typeface="Calibri"/>
              <a:ea typeface="Calibri"/>
              <a:cs typeface="Calibri"/>
              <a:sym typeface="Calibri"/>
            </a:endParaRPr>
          </a:p>
        </p:txBody>
      </p:sp>
      <p:pic>
        <p:nvPicPr>
          <p:cNvPr descr="line" id="19" name="Google Shape;19;p3"/>
          <p:cNvPicPr preferRelativeResize="0"/>
          <p:nvPr/>
        </p:nvPicPr>
        <p:blipFill rotWithShape="1">
          <a:blip r:embed="rId3">
            <a:alphaModFix/>
          </a:blip>
          <a:srcRect b="0" l="0" r="0" t="0"/>
          <a:stretch/>
        </p:blipFill>
        <p:spPr>
          <a:xfrm>
            <a:off x="812800" y="4310459"/>
            <a:ext cx="1016000" cy="25400"/>
          </a:xfrm>
          <a:prstGeom prst="rect">
            <a:avLst/>
          </a:prstGeom>
          <a:noFill/>
          <a:ln>
            <a:noFill/>
          </a:ln>
        </p:spPr>
      </p:pic>
      <p:sp>
        <p:nvSpPr>
          <p:cNvPr id="20" name="Google Shape;20;p3"/>
          <p:cNvSpPr/>
          <p:nvPr/>
        </p:nvSpPr>
        <p:spPr>
          <a:xfrm>
            <a:off x="812800" y="4589859"/>
            <a:ext cx="512775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THÀNH VIÊN</a:t>
            </a:r>
            <a:endParaRPr b="0" i="0" sz="1200" u="none" cap="none" strike="noStrike">
              <a:solidFill>
                <a:schemeClr val="dk1"/>
              </a:solidFill>
              <a:latin typeface="Calibri"/>
              <a:ea typeface="Calibri"/>
              <a:cs typeface="Calibri"/>
              <a:sym typeface="Calibri"/>
            </a:endParaRPr>
          </a:p>
        </p:txBody>
      </p:sp>
      <p:sp>
        <p:nvSpPr>
          <p:cNvPr id="21" name="Google Shape;21;p3"/>
          <p:cNvSpPr/>
          <p:nvPr/>
        </p:nvSpPr>
        <p:spPr>
          <a:xfrm>
            <a:off x="812800" y="4879380"/>
            <a:ext cx="5127752" cy="1092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400"/>
              <a:buFont typeface="Be Vietnam Pro"/>
              <a:buNone/>
            </a:pPr>
            <a:pPr indent="0" lvl="0" marL="0" marR="0" rtl="0" algn="l">
              <a:lnSpc>
                <a:spcPct val="150000"/>
              </a:lnSpc>
              <a:spcBef>
                <a:spcPts val="0"/>
              </a:spcBef>
              <a:spcAft>
                <a:spcPts val="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Triệu Quang Dũng — Leader / FE</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BE: Lê Minh Danh · Đỗ Tuấn Dũng</a:t>
            </a: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Nguyễn Trần Việt Anh · Nguyễn Thùy Chang · Phạm Xuân Bình</a:t>
            </a: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FE: Hứa Huệ An · Hoàng Lan Anh</a:t>
            </a: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Châu Thùy Dung · Nguyễn Ngọc Anh</a:t>
            </a:r>
          </a:p>
        </p:txBody>
      </p:sp>
      <p:sp>
        <p:nvSpPr>
          <p:cNvPr id="22" name="Google Shape;22;p3"/>
          <p:cNvSpPr/>
          <p:nvPr/>
        </p:nvSpPr>
        <p:spPr>
          <a:xfrm>
            <a:off x="6096000" y="4589859"/>
            <a:ext cx="256387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MENTOR HƯỚNG DẪN</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6096000" y="4879380"/>
            <a:ext cx="2563876" cy="292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400"/>
              <a:buFont typeface="Be Vietnam Pro"/>
              <a:buNone/>
            </a:pPr>
            <a:pPr indent="0" lvl="0" marL="0" marR="0" rtl="0" algn="l">
              <a:lnSpc>
                <a:spcPct val="150000"/>
              </a:lnSpc>
              <a:spcBef>
                <a:spcPts val="0"/>
              </a:spcBef>
              <a:spcAft>
                <a:spcPts val="0"/>
              </a:spcAft>
              <a:buClr>
                <a:srgbClr val="F6F7F4"/>
              </a:buClr>
              <a:buSzPts val="1400"/>
              <a:buFont typeface="Be Vietnam Pro"/>
              <a:buNone/>
            </a:pPr>
            <a:r>
              <a:rPr b="0" i="0" lang="en-US" sz="1400" u="none" cap="none" strike="noStrike">
                <a:solidFill>
                  <a:srgbClr val="F6F7F4"/>
                </a:solidFill>
                <a:latin typeface="Be Vietnam Pro"/>
                <a:ea typeface="Be Vietnam Pro"/>
                <a:cs typeface="Be Vietnam Pro"/>
                <a:sym typeface="Be Vietnam Pro"/>
              </a:rPr>
              <a:t>Triệu Quang Dũng</a:t>
            </a:r>
            <a:endParaRPr b="0" i="0" sz="1400" u="none" cap="none" strike="noStrike">
              <a:solidFill>
                <a:schemeClr val="dk1"/>
              </a:solidFill>
              <a:latin typeface="Calibri"/>
              <a:ea typeface="Calibri"/>
              <a:cs typeface="Calibri"/>
              <a:sym typeface="Calibri"/>
            </a:endParaRPr>
          </a:p>
        </p:txBody>
      </p:sp>
      <p:sp>
        <p:nvSpPr>
          <p:cNvPr id="24" name="Google Shape;24;p3"/>
          <p:cNvSpPr/>
          <p:nvPr/>
        </p:nvSpPr>
        <p:spPr>
          <a:xfrm>
            <a:off x="6096000" y="5222280"/>
            <a:ext cx="256387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ĐƠN VỊ</a:t>
            </a:r>
            <a:endParaRPr b="0" i="0" sz="1200" u="none" cap="none" strike="noStrike">
              <a:solidFill>
                <a:schemeClr val="dk1"/>
              </a:solidFill>
              <a:latin typeface="Calibri"/>
              <a:ea typeface="Calibri"/>
              <a:cs typeface="Calibri"/>
              <a:sym typeface="Calibri"/>
            </a:endParaRPr>
          </a:p>
        </p:txBody>
      </p:sp>
      <p:sp>
        <p:nvSpPr>
          <p:cNvPr id="25" name="Google Shape;25;p3"/>
          <p:cNvSpPr/>
          <p:nvPr/>
        </p:nvSpPr>
        <p:spPr>
          <a:xfrm>
            <a:off x="6096000" y="5511800"/>
            <a:ext cx="2563876" cy="292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400"/>
              <a:buFont typeface="Be Vietnam Pro"/>
              <a:buNone/>
            </a:pPr>
            <a:pPr indent="0" lvl="0" marL="0" marR="0" rtl="0" algn="l">
              <a:lnSpc>
                <a:spcPct val="150000"/>
              </a:lnSpc>
              <a:spcBef>
                <a:spcPts val="0"/>
              </a:spcBef>
              <a:spcAft>
                <a:spcPts val="0"/>
              </a:spcAft>
              <a:buClr>
                <a:srgbClr val="F6F7F4"/>
              </a:buClr>
              <a:buSzPts val="1400"/>
              <a:buFont typeface="Be Vietnam Pro"/>
              <a:buNone/>
            </a:pPr>
            <a:r>
              <a:rPr b="0" i="0" lang="en-US" sz="1400" u="none" cap="none" strike="noStrike">
                <a:solidFill>
                  <a:srgbClr val="F6F7F4"/>
                </a:solidFill>
                <a:latin typeface="Be Vietnam Pro"/>
                <a:ea typeface="Be Vietnam Pro"/>
                <a:cs typeface="Be Vietnam Pro"/>
                <a:sym typeface="Be Vietnam Pro"/>
              </a:rPr>
              <a:t>CodeGym</a:t>
            </a:r>
            <a:endParaRPr b="0" i="0" sz="1400" u="none" cap="none" strike="noStrike">
              <a:solidFill>
                <a:schemeClr val="dk1"/>
              </a:solidFill>
              <a:latin typeface="Calibri"/>
              <a:ea typeface="Calibri"/>
              <a:cs typeface="Calibri"/>
              <a:sym typeface="Calibri"/>
            </a:endParaRPr>
          </a:p>
        </p:txBody>
      </p:sp>
      <p:sp>
        <p:nvSpPr>
          <p:cNvPr id="26" name="Google Shape;26;p3"/>
          <p:cNvSpPr/>
          <p:nvPr/>
        </p:nvSpPr>
        <p:spPr>
          <a:xfrm>
            <a:off x="8890000" y="4589859"/>
            <a:ext cx="256387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TRƯỜNG · NGÀNH</a:t>
            </a:r>
            <a:endParaRPr b="0" i="0" sz="1200" u="none" cap="none" strike="noStrike">
              <a:solidFill>
                <a:schemeClr val="dk1"/>
              </a:solidFill>
              <a:latin typeface="Calibri"/>
              <a:ea typeface="Calibri"/>
              <a:cs typeface="Calibri"/>
              <a:sym typeface="Calibri"/>
            </a:endParaRPr>
          </a:p>
        </p:txBody>
      </p:sp>
      <p:sp>
        <p:nvSpPr>
          <p:cNvPr id="27" name="Google Shape;27;p3"/>
          <p:cNvSpPr/>
          <p:nvPr/>
        </p:nvSpPr>
        <p:spPr>
          <a:xfrm>
            <a:off x="8890000" y="4879380"/>
            <a:ext cx="2563876" cy="558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400"/>
              <a:buFont typeface="Be Vietnam Pro"/>
              <a:buNone/>
            </a:pPr>
            <a:pPr indent="0" lvl="0" marL="0" marR="0" rtl="0" algn="l">
              <a:lnSpc>
                <a:spcPct val="150000"/>
              </a:lnSpc>
              <a:spcBef>
                <a:spcPts val="0"/>
              </a:spcBef>
              <a:spcAft>
                <a:spcPts val="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ĐH CNTT &amp; Truyền thông</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Thái Nguyên · CNTT</a:t>
            </a:r>
          </a:p>
          <a:p>
            <a:pPr indent="0" lvl="0" marL="0" marR="0" rtl="0" algn="l">
              <a:lnSpc>
                <a:spcPct val="112000"/>
              </a:lnSpc>
              <a:spcBef>
                <a:spcPts val="0"/>
              </a:spcBef>
              <a:spcAft>
                <a:spcPts val="200"/>
              </a:spcAft>
              <a:buClr>
                <a:srgbClr val="F6F7F4"/>
              </a:buClr>
              <a:buSzPts val="1400"/>
              <a:buFont typeface="Be Vietnam Pro"/>
              <a:buNone/>
            </a:pPr>
            <a:r>
              <a:rPr b="0" i="0" lang="en-US" sz="1100" u="none" cap="none" strike="noStrike">
                <a:solidFill>
                  <a:srgbClr val="F6F7F4"/>
                </a:solidFill>
                <a:latin typeface="Be Vietnam Pro"/>
                <a:ea typeface="Be Vietnam Pro"/>
                <a:cs typeface="Be Vietnam Pro"/>
                <a:sym typeface="Be Vietnam Pro"/>
              </a:rPr>
              <a:t>Lớp CNTT K23G</a:t>
            </a:r>
          </a:p>
        </p:txBody>
      </p:sp>
      <p:sp>
        <p:nvSpPr>
          <p:cNvPr id="28" name="Google Shape;28;p3"/>
          <p:cNvSpPr/>
          <p:nvPr/>
        </p:nvSpPr>
        <p:spPr>
          <a:xfrm>
            <a:off x="8890000" y="5488980"/>
            <a:ext cx="256387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200"/>
              <a:buFont typeface="Be Vietnam Pro"/>
              <a:buNone/>
            </a:pPr>
            <a:r>
              <a:rPr b="1" i="0" lang="en-US" sz="1200" u="none" cap="none" strike="noStrike">
                <a:solidFill>
                  <a:srgbClr val="F28C28"/>
                </a:solidFill>
                <a:latin typeface="Be Vietnam Pro"/>
                <a:ea typeface="Be Vietnam Pro"/>
                <a:cs typeface="Be Vietnam Pro"/>
                <a:sym typeface="Be Vietnam Pro"/>
              </a:rPr>
              <a:t>NGÀY BÁO CÁO</a:t>
            </a:r>
            <a:endParaRPr b="0" i="0" sz="1200" u="none" cap="none" strike="noStrike">
              <a:solidFill>
                <a:schemeClr val="dk1"/>
              </a:solidFill>
              <a:latin typeface="Calibri"/>
              <a:ea typeface="Calibri"/>
              <a:cs typeface="Calibri"/>
              <a:sym typeface="Calibri"/>
            </a:endParaRPr>
          </a:p>
        </p:txBody>
      </p:sp>
      <p:sp>
        <p:nvSpPr>
          <p:cNvPr id="29" name="Google Shape;29;p3"/>
          <p:cNvSpPr/>
          <p:nvPr/>
        </p:nvSpPr>
        <p:spPr>
          <a:xfrm>
            <a:off x="8890000" y="5778500"/>
            <a:ext cx="2563876" cy="292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400"/>
              <a:buFont typeface="Be Vietnam Pro"/>
              <a:buNone/>
            </a:pPr>
            <a:pPr indent="0" lvl="0" marL="0" marR="0" rtl="0" algn="l">
              <a:lnSpc>
                <a:spcPct val="150000"/>
              </a:lnSpc>
              <a:spcBef>
                <a:spcPts val="0"/>
              </a:spcBef>
              <a:spcAft>
                <a:spcPts val="0"/>
              </a:spcAft>
              <a:buClr>
                <a:srgbClr val="F6F7F4"/>
              </a:buClr>
              <a:buSzPts val="1400"/>
              <a:buFont typeface="Be Vietnam Pro"/>
              <a:buNone/>
            </a:pPr>
            <a:r>
              <a:rPr b="0" i="0" lang="en-US" sz="1400" u="none" cap="none" strike="noStrike">
                <a:solidFill>
                  <a:srgbClr val="F6F7F4"/>
                </a:solidFill>
                <a:latin typeface="Be Vietnam Pro"/>
                <a:ea typeface="Be Vietnam Pro"/>
                <a:cs typeface="Be Vietnam Pro"/>
                <a:sym typeface="Be Vietnam Pro"/>
              </a:rPr>
              <a:t>21/10/2026</a:t>
            </a:r>
            <a:endParaRPr b="0" i="0" sz="14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0" name="Google Shape;30;p3"/>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31" name="Google Shape;31;p3"/>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32" name="TextBox 31"/>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3" name="TextBox 32"/>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36" name="Shape 36"/>
        <p:cNvGrpSpPr/>
        <p:nvPr/>
      </p:nvGrpSpPr>
      <p:grpSpPr>
        <a:xfrm>
          <a:off x="0" y="0"/>
          <a:ext cx="0" cy="0"/>
          <a:chOff x="0" y="0"/>
          <a:chExt cx="0" cy="0"/>
        </a:xfrm>
      </p:grpSpPr>
      <p:sp>
        <p:nvSpPr>
          <p:cNvPr id="37" name="Google Shape;37;p4"/>
          <p:cNvSpPr/>
          <p:nvPr/>
        </p:nvSpPr>
        <p:spPr>
          <a:xfrm>
            <a:off x="812800" y="238001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400"/>
              <a:buFont typeface="Be Vietnam Pro"/>
              <a:buNone/>
            </a:pPr>
            <a:r>
              <a:rPr b="1" i="0" lang="en-US" sz="1400" u="none" cap="none" strike="noStrike">
                <a:solidFill>
                  <a:srgbClr val="F28C28"/>
                </a:solidFill>
                <a:latin typeface="Be Vietnam Pro"/>
                <a:ea typeface="Be Vietnam Pro"/>
                <a:cs typeface="Be Vietnam Pro"/>
                <a:sym typeface="Be Vietnam Pro"/>
              </a:rPr>
              <a:t>PHẦN A</a:t>
            </a:r>
            <a:endParaRPr b="0" i="0" sz="1400" u="none" cap="none" strike="noStrike">
              <a:solidFill>
                <a:schemeClr val="dk1"/>
              </a:solidFill>
              <a:latin typeface="Calibri"/>
              <a:ea typeface="Calibri"/>
              <a:cs typeface="Calibri"/>
              <a:sym typeface="Calibri"/>
            </a:endParaRPr>
          </a:p>
        </p:txBody>
      </p:sp>
      <p:sp>
        <p:nvSpPr>
          <p:cNvPr id="38" name="Google Shape;38;p4"/>
          <p:cNvSpPr/>
          <p:nvPr/>
        </p:nvSpPr>
        <p:spPr>
          <a:xfrm>
            <a:off x="812800" y="2832100"/>
            <a:ext cx="10883392" cy="695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7F4"/>
              </a:buClr>
              <a:buSzPts val="4800"/>
              <a:buFont typeface="Be Vietnam Pro"/>
              <a:buNone/>
            </a:pPr>
            <a:r>
              <a:rPr b="1" i="0" lang="en-US" sz="4800" u="none" cap="none" strike="noStrike">
                <a:solidFill>
                  <a:srgbClr val="F6F7F4"/>
                </a:solidFill>
                <a:latin typeface="Be Vietnam Pro"/>
                <a:ea typeface="Be Vietnam Pro"/>
                <a:cs typeface="Be Vietnam Pro"/>
                <a:sym typeface="Be Vietnam Pro"/>
              </a:rPr>
              <a:t>Kết quả nhóm</a:t>
            </a:r>
            <a:endParaRPr b="0" i="0" sz="4800" u="none" cap="none" strike="noStrike">
              <a:solidFill>
                <a:schemeClr val="dk1"/>
              </a:solidFill>
              <a:latin typeface="Calibri"/>
              <a:ea typeface="Calibri"/>
              <a:cs typeface="Calibri"/>
              <a:sym typeface="Calibri"/>
            </a:endParaRPr>
          </a:p>
        </p:txBody>
      </p:sp>
      <p:sp>
        <p:nvSpPr>
          <p:cNvPr id="39" name="Google Shape;39;p4"/>
          <p:cNvSpPr/>
          <p:nvPr/>
        </p:nvSpPr>
        <p:spPr>
          <a:xfrm>
            <a:off x="812800" y="3705820"/>
            <a:ext cx="10883392"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D0DE"/>
              </a:buClr>
              <a:buSzPts val="1800"/>
              <a:buFont typeface="Be Vietnam Pro"/>
              <a:buNone/>
            </a:pPr>
            <a:r>
              <a:rPr b="0" i="0" lang="en-US" sz="1800" u="none" cap="none" strike="noStrike">
                <a:solidFill>
                  <a:srgbClr val="BFD0DE"/>
                </a:solidFill>
                <a:latin typeface="Be Vietnam Pro"/>
                <a:ea typeface="Be Vietnam Pro"/>
                <a:cs typeface="Be Vietnam Pro"/>
                <a:sym typeface="Be Vietnam Pro"/>
              </a:rPr>
              <a:t>Dự án · Quy trình · Minh chứng Jira &amp; Git · Sản phẩm · Tỉ lệ đóng góp</a:t>
            </a:r>
            <a:endParaRPr b="0" i="0" sz="1800" u="none" cap="none" strike="noStrike">
              <a:solidFill>
                <a:schemeClr val="dk1"/>
              </a:solidFill>
              <a:latin typeface="Calibri"/>
              <a:ea typeface="Calibri"/>
              <a:cs typeface="Calibri"/>
              <a:sym typeface="Calibri"/>
            </a:endParaRPr>
          </a:p>
        </p:txBody>
      </p:sp>
      <p:sp>
        <p:nvSpPr>
          <p:cNvPr id="40" name="Google Shape;40;p4"/>
          <p:cNvSpPr/>
          <p:nvPr/>
        </p:nvSpPr>
        <p:spPr>
          <a:xfrm>
            <a:off x="812800" y="4229050"/>
            <a:ext cx="10883392"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BFD0DE"/>
              </a:buClr>
              <a:buSzPts val="1400"/>
              <a:buFont typeface="Be Vietnam Pro"/>
              <a:buNone/>
            </a:pPr>
            <a:pPr indent="0" lvl="0" marL="0" marR="0" rtl="0" algn="l">
              <a:lnSpc>
                <a:spcPct val="140000"/>
              </a:lnSpc>
              <a:spcBef>
                <a:spcPts val="0"/>
              </a:spcBef>
              <a:spcAft>
                <a:spcPts val="0"/>
              </a:spcAft>
              <a:buClr>
                <a:srgbClr val="BFD0DE"/>
              </a:buClr>
              <a:buSzPts val="1400"/>
              <a:buFont typeface="Be Vietnam Pro"/>
              <a:buNone/>
            </a:pPr>
            <a:r>
              <a:rPr b="0" i="0" lang="en-US" sz="1400" u="none" cap="none" strike="noStrike">
                <a:solidFill>
                  <a:srgbClr val="BFD0DE"/>
                </a:solidFill>
                <a:latin typeface="Be Vietnam Pro"/>
                <a:ea typeface="Be Vietnam Pro"/>
                <a:cs typeface="Be Vietnam Pro"/>
                <a:sym typeface="Be Vietnam Pro"/>
              </a:rPr>
              <a:t>Người trình bày dự kiến: Triệu Quang Dũng · Khoảng 10 phút</a:t>
            </a:r>
            <a:endParaRPr b="0" i="0" sz="14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 name="Google Shape;41;p4"/>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2" name="Google Shape;42;p4"/>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3" name="TextBox 42"/>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4" name="TextBox 43"/>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47" name="Shape 47"/>
        <p:cNvGrpSpPr/>
        <p:nvPr/>
      </p:nvGrpSpPr>
      <p:grpSpPr>
        <a:xfrm>
          <a:off x="0" y="0"/>
          <a:ext cx="0" cy="0"/>
          <a:chOff x="0" y="0"/>
          <a:chExt cx="0" cy="0"/>
        </a:xfrm>
      </p:grpSpPr>
      <p:sp>
        <p:nvSpPr>
          <p:cNvPr id="48" name="Google Shape;48;p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01 — TỔNG QUAN</a:t>
            </a:r>
            <a:endParaRPr b="0" i="0" sz="1200" u="none" cap="none" strike="noStrike">
              <a:solidFill>
                <a:schemeClr val="dk1"/>
              </a:solidFill>
              <a:latin typeface="Calibri"/>
              <a:ea typeface="Calibri"/>
              <a:cs typeface="Calibri"/>
              <a:sym typeface="Calibri"/>
            </a:endParaRPr>
          </a:p>
        </p:txBody>
      </p:sp>
      <p:sp>
        <p:nvSpPr>
          <p:cNvPr id="49" name="Google Shape;49;p5"/>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Tổng quan dự án</a:t>
            </a:r>
            <a:endParaRPr b="0" i="0" sz="3200" u="none" cap="none" strike="noStrike">
              <a:solidFill>
                <a:schemeClr val="dk1"/>
              </a:solidFill>
              <a:latin typeface="Calibri"/>
              <a:ea typeface="Calibri"/>
              <a:cs typeface="Calibri"/>
              <a:sym typeface="Calibri"/>
            </a:endParaRPr>
          </a:p>
        </p:txBody>
      </p:sp>
      <p:sp>
        <p:nvSpPr>
          <p:cNvPr id="50" name="Google Shape;50;p5"/>
          <p:cNvSpPr/>
          <p:nvPr/>
        </p:nvSpPr>
        <p:spPr>
          <a:xfrm>
            <a:off x="815975" y="1806525"/>
            <a:ext cx="3414167" cy="2922389"/>
          </a:xfrm>
          <a:prstGeom prst="roundRect">
            <a:avLst>
              <a:gd fmla="val 336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022350" y="2012900"/>
            <a:ext cx="3091459"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Bài toán / ý tưởng</a:t>
            </a:r>
            <a:endParaRPr b="0" i="0" sz="1800" u="none" cap="none" strike="noStrike">
              <a:solidFill>
                <a:schemeClr val="dk1"/>
              </a:solidFill>
              <a:latin typeface="Calibri"/>
              <a:ea typeface="Calibri"/>
              <a:cs typeface="Calibri"/>
              <a:sym typeface="Calibri"/>
            </a:endParaRPr>
          </a:p>
        </p:txBody>
      </p:sp>
      <p:sp>
        <p:nvSpPr>
          <p:cNvPr id="52" name="Google Shape;52;p5"/>
          <p:cNvSpPr/>
          <p:nvPr/>
        </p:nvSpPr>
        <p:spPr>
          <a:xfrm>
            <a:off x="1022350" y="2363391"/>
            <a:ext cx="3091459" cy="19659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400" u="none" cap="none" strike="noStrike">
                <a:solidFill>
                  <a:srgbClr val="3F4A57"/>
                </a:solidFill>
                <a:latin typeface="Be Vietnam Pro"/>
                <a:ea typeface="Be Vietnam Pro"/>
                <a:cs typeface="Be Vietnam Pro"/>
                <a:sym typeface="Be Vietnam Pro"/>
              </a:rPr>
              <a:t>Thông tin khách hàng rời rạc, dễ trùng; khó kiểm soát sở hữu và phản hồi lead đúng hạn.</a:t>
            </a:r>
            <a:endParaRPr b="0" i="0" sz="1400" u="none" cap="none" strike="noStrike">
              <a:solidFill>
                <a:schemeClr val="dk1"/>
              </a:solidFill>
              <a:latin typeface="Calibri"/>
              <a:ea typeface="Calibri"/>
              <a:cs typeface="Calibri"/>
              <a:sym typeface="Calibri"/>
            </a:endParaRPr>
          </a:p>
        </p:txBody>
      </p:sp>
      <p:sp>
        <p:nvSpPr>
          <p:cNvPr id="53" name="Google Shape;53;p5"/>
          <p:cNvSpPr/>
          <p:nvPr/>
        </p:nvSpPr>
        <p:spPr>
          <a:xfrm>
            <a:off x="4388892" y="1806525"/>
            <a:ext cx="3414216" cy="2922389"/>
          </a:xfrm>
          <a:prstGeom prst="roundRect">
            <a:avLst>
              <a:gd fmla="val 336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595267" y="2012900"/>
            <a:ext cx="309151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Người dùng / người chơi</a:t>
            </a:r>
            <a:endParaRPr b="0" i="0" sz="1800" u="none" cap="none" strike="noStrike">
              <a:solidFill>
                <a:schemeClr val="dk1"/>
              </a:solidFill>
              <a:latin typeface="Calibri"/>
              <a:ea typeface="Calibri"/>
              <a:cs typeface="Calibri"/>
              <a:sym typeface="Calibri"/>
            </a:endParaRPr>
          </a:p>
        </p:txBody>
      </p:sp>
      <p:sp>
        <p:nvSpPr>
          <p:cNvPr id="55" name="Google Shape;55;p5"/>
          <p:cNvSpPr/>
          <p:nvPr/>
        </p:nvSpPr>
        <p:spPr>
          <a:xfrm>
            <a:off x="4595267" y="2363391"/>
            <a:ext cx="3091510" cy="19659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50" u="none" cap="none" strike="noStrike">
                <a:solidFill>
                  <a:srgbClr val="3F4A57"/>
                </a:solidFill>
                <a:latin typeface="Be Vietnam Pro"/>
                <a:ea typeface="Be Vietnam Pro"/>
                <a:cs typeface="Be Vietnam Pro"/>
                <a:sym typeface="Be Vietnam Pro"/>
              </a:rPr>
              <a:t>Sales, trưởng nhóm, giám đốc; Marketing, CSKH, kế toán và Admin.</a:t>
            </a:r>
            <a:endParaRPr b="0" i="0" sz="1400" u="none" cap="none" strike="noStrike">
              <a:solidFill>
                <a:schemeClr val="dk1"/>
              </a:solidFill>
              <a:latin typeface="Calibri"/>
              <a:ea typeface="Calibri"/>
              <a:cs typeface="Calibri"/>
              <a:sym typeface="Calibri"/>
            </a:endParaRPr>
          </a:p>
        </p:txBody>
      </p:sp>
      <p:sp>
        <p:nvSpPr>
          <p:cNvPr id="56" name="Google Shape;56;p5"/>
          <p:cNvSpPr/>
          <p:nvPr/>
        </p:nvSpPr>
        <p:spPr>
          <a:xfrm>
            <a:off x="7961858" y="1806525"/>
            <a:ext cx="3414167" cy="2922389"/>
          </a:xfrm>
          <a:prstGeom prst="roundRect">
            <a:avLst>
              <a:gd fmla="val 336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8168233" y="2012900"/>
            <a:ext cx="3091459"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Mục tiêu đầu kỳ</a:t>
            </a:r>
            <a:endParaRPr b="0" i="0" sz="1800" u="none" cap="none" strike="noStrike">
              <a:solidFill>
                <a:schemeClr val="dk1"/>
              </a:solidFill>
              <a:latin typeface="Calibri"/>
              <a:ea typeface="Calibri"/>
              <a:cs typeface="Calibri"/>
              <a:sym typeface="Calibri"/>
            </a:endParaRPr>
          </a:p>
        </p:txBody>
      </p:sp>
      <p:sp>
        <p:nvSpPr>
          <p:cNvPr id="58" name="Google Shape;58;p5"/>
          <p:cNvSpPr/>
          <p:nvPr/>
        </p:nvSpPr>
        <p:spPr>
          <a:xfrm>
            <a:off x="8168233" y="2363391"/>
            <a:ext cx="3091459" cy="196596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S1: truy cập đúng quyền.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S2: cấu hình thống nhất.</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S3: hồ sơ khách hàng 360.</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S4: lead có ưu tiên và người nhận.</a:t>
            </a:r>
          </a:p>
        </p:txBody>
      </p:sp>
      <p:sp>
        <p:nvSpPr>
          <p:cNvPr id="59" name="Google Shape;59;p5"/>
          <p:cNvSpPr/>
          <p:nvPr/>
        </p:nvSpPr>
        <p:spPr>
          <a:xfrm>
            <a:off x="812800" y="4986089"/>
            <a:ext cx="2527300" cy="85591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5"/>
          <p:cNvCxnSpPr/>
          <p:nvPr/>
        </p:nvCxnSpPr>
        <p:spPr>
          <a:xfrm>
            <a:off x="812800" y="5005139"/>
            <a:ext cx="2527300" cy="0"/>
          </a:xfrm>
          <a:prstGeom prst="straightConnector1">
            <a:avLst/>
          </a:prstGeom>
          <a:noFill/>
          <a:ln cap="flat" cmpd="sng" w="38100">
            <a:solidFill>
              <a:srgbClr val="F28C28"/>
            </a:solidFill>
            <a:prstDash val="solid"/>
            <a:round/>
            <a:headEnd len="sm" w="sm" type="none"/>
            <a:tailEnd len="sm" w="sm" type="none"/>
          </a:ln>
        </p:spPr>
      </p:cxnSp>
      <p:sp>
        <p:nvSpPr>
          <p:cNvPr id="61" name="Google Shape;61;p5"/>
          <p:cNvSpPr/>
          <p:nvPr/>
        </p:nvSpPr>
        <p:spPr>
          <a:xfrm>
            <a:off x="990600" y="5176589"/>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Loại sản phẩm</a:t>
            </a:r>
            <a:endParaRPr b="0" i="0" sz="1200" u="none" cap="none" strike="noStrike">
              <a:solidFill>
                <a:schemeClr val="dk1"/>
              </a:solidFill>
              <a:latin typeface="Calibri"/>
              <a:ea typeface="Calibri"/>
              <a:cs typeface="Calibri"/>
              <a:sym typeface="Calibri"/>
            </a:endParaRPr>
          </a:p>
        </p:txBody>
      </p:sp>
      <p:sp>
        <p:nvSpPr>
          <p:cNvPr id="62" name="Google Shape;62;p5"/>
          <p:cNvSpPr/>
          <p:nvPr/>
        </p:nvSpPr>
        <p:spPr>
          <a:xfrm>
            <a:off x="990600" y="5440710"/>
            <a:ext cx="223685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1" i="0" lang="en-US" sz="1400" u="none" cap="none" strike="noStrike">
                <a:solidFill>
                  <a:srgbClr val="12263A"/>
                </a:solidFill>
                <a:latin typeface="Be Vietnam Pro"/>
                <a:ea typeface="Be Vietnam Pro"/>
                <a:cs typeface="Be Vietnam Pro"/>
                <a:sym typeface="Be Vietnam Pro"/>
              </a:rPr>
              <a:t>Web app — CRM</a:t>
            </a:r>
            <a:endParaRPr b="0" i="0" sz="1400" u="none" cap="none" strike="noStrike">
              <a:solidFill>
                <a:schemeClr val="dk1"/>
              </a:solidFill>
              <a:latin typeface="Calibri"/>
              <a:ea typeface="Calibri"/>
              <a:cs typeface="Calibri"/>
              <a:sym typeface="Calibri"/>
            </a:endParaRPr>
          </a:p>
        </p:txBody>
      </p:sp>
      <p:sp>
        <p:nvSpPr>
          <p:cNvPr id="63" name="Google Shape;63;p5"/>
          <p:cNvSpPr/>
          <p:nvPr/>
        </p:nvSpPr>
        <p:spPr>
          <a:xfrm>
            <a:off x="3492500" y="4986089"/>
            <a:ext cx="2527300" cy="85591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 name="Google Shape;64;p5"/>
          <p:cNvCxnSpPr/>
          <p:nvPr/>
        </p:nvCxnSpPr>
        <p:spPr>
          <a:xfrm>
            <a:off x="3492500" y="5005139"/>
            <a:ext cx="2527300" cy="0"/>
          </a:xfrm>
          <a:prstGeom prst="straightConnector1">
            <a:avLst/>
          </a:prstGeom>
          <a:noFill/>
          <a:ln cap="flat" cmpd="sng" w="38100">
            <a:solidFill>
              <a:srgbClr val="F28C28"/>
            </a:solidFill>
            <a:prstDash val="solid"/>
            <a:round/>
            <a:headEnd len="sm" w="sm" type="none"/>
            <a:tailEnd len="sm" w="sm" type="none"/>
          </a:ln>
        </p:spPr>
      </p:cxnSp>
      <p:sp>
        <p:nvSpPr>
          <p:cNvPr id="65" name="Google Shape;65;p5"/>
          <p:cNvSpPr/>
          <p:nvPr/>
        </p:nvSpPr>
        <p:spPr>
          <a:xfrm>
            <a:off x="3670300" y="5176589"/>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Nền tảng</a:t>
            </a:r>
            <a:endParaRPr b="0" i="0" sz="1200" u="none" cap="none" strike="noStrike">
              <a:solidFill>
                <a:schemeClr val="dk1"/>
              </a:solidFill>
              <a:latin typeface="Calibri"/>
              <a:ea typeface="Calibri"/>
              <a:cs typeface="Calibri"/>
              <a:sym typeface="Calibri"/>
            </a:endParaRPr>
          </a:p>
        </p:txBody>
      </p:sp>
      <p:sp>
        <p:nvSpPr>
          <p:cNvPr id="66" name="Google Shape;66;p5"/>
          <p:cNvSpPr/>
          <p:nvPr/>
        </p:nvSpPr>
        <p:spPr>
          <a:xfrm>
            <a:off x="3670300" y="5440710"/>
            <a:ext cx="223685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1" i="0" lang="en-US" sz="1400" u="none" cap="none" strike="noStrike">
                <a:solidFill>
                  <a:srgbClr val="12263A"/>
                </a:solidFill>
                <a:latin typeface="Be Vietnam Pro"/>
                <a:ea typeface="Be Vietnam Pro"/>
                <a:cs typeface="Be Vietnam Pro"/>
                <a:sym typeface="Be Vietnam Pro"/>
              </a:rPr>
              <a:t>Web responsive</a:t>
            </a:r>
            <a:endParaRPr b="0" i="0" sz="1400" u="none" cap="none" strike="noStrike">
              <a:solidFill>
                <a:schemeClr val="dk1"/>
              </a:solidFill>
              <a:latin typeface="Calibri"/>
              <a:ea typeface="Calibri"/>
              <a:cs typeface="Calibri"/>
              <a:sym typeface="Calibri"/>
            </a:endParaRPr>
          </a:p>
        </p:txBody>
      </p:sp>
      <p:sp>
        <p:nvSpPr>
          <p:cNvPr id="67" name="Google Shape;67;p5"/>
          <p:cNvSpPr/>
          <p:nvPr/>
        </p:nvSpPr>
        <p:spPr>
          <a:xfrm>
            <a:off x="6172200" y="4986089"/>
            <a:ext cx="2527300" cy="85591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 name="Google Shape;68;p5"/>
          <p:cNvCxnSpPr/>
          <p:nvPr/>
        </p:nvCxnSpPr>
        <p:spPr>
          <a:xfrm>
            <a:off x="6172200" y="5005139"/>
            <a:ext cx="2527300" cy="0"/>
          </a:xfrm>
          <a:prstGeom prst="straightConnector1">
            <a:avLst/>
          </a:prstGeom>
          <a:noFill/>
          <a:ln cap="flat" cmpd="sng" w="38100">
            <a:solidFill>
              <a:srgbClr val="F28C28"/>
            </a:solidFill>
            <a:prstDash val="solid"/>
            <a:round/>
            <a:headEnd len="sm" w="sm" type="none"/>
            <a:tailEnd len="sm" w="sm" type="none"/>
          </a:ln>
        </p:spPr>
      </p:cxnSp>
      <p:sp>
        <p:nvSpPr>
          <p:cNvPr id="69" name="Google Shape;69;p5"/>
          <p:cNvSpPr/>
          <p:nvPr/>
        </p:nvSpPr>
        <p:spPr>
          <a:xfrm>
            <a:off x="6350000" y="5176589"/>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Thời gian</a:t>
            </a:r>
            <a:endParaRPr b="0" i="0" sz="1200" u="none" cap="none" strike="noStrike">
              <a:solidFill>
                <a:schemeClr val="dk1"/>
              </a:solidFill>
              <a:latin typeface="Calibri"/>
              <a:ea typeface="Calibri"/>
              <a:cs typeface="Calibri"/>
              <a:sym typeface="Calibri"/>
            </a:endParaRPr>
          </a:p>
        </p:txBody>
      </p:sp>
      <p:sp>
        <p:nvSpPr>
          <p:cNvPr id="70" name="Google Shape;70;p5"/>
          <p:cNvSpPr/>
          <p:nvPr/>
        </p:nvSpPr>
        <p:spPr>
          <a:xfrm>
            <a:off x="6350000" y="5440710"/>
            <a:ext cx="223685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1" i="0" lang="en-US" sz="1200" u="none" cap="none" strike="noStrike">
                <a:solidFill>
                  <a:srgbClr val="12263A"/>
                </a:solidFill>
                <a:latin typeface="Be Vietnam Pro"/>
                <a:ea typeface="Be Vietnam Pro"/>
                <a:cs typeface="Be Vietnam Pro"/>
                <a:sym typeface="Be Vietnam Pro"/>
              </a:rPr>
              <a:t>4 sprint · 23/9–20/10</a:t>
            </a:r>
            <a:endParaRPr b="0" i="0" sz="1400" u="none" cap="none" strike="noStrike">
              <a:solidFill>
                <a:schemeClr val="dk1"/>
              </a:solidFill>
              <a:latin typeface="Calibri"/>
              <a:ea typeface="Calibri"/>
              <a:cs typeface="Calibri"/>
              <a:sym typeface="Calibri"/>
            </a:endParaRPr>
          </a:p>
        </p:txBody>
      </p:sp>
      <p:sp>
        <p:nvSpPr>
          <p:cNvPr id="71" name="Google Shape;71;p5"/>
          <p:cNvSpPr/>
          <p:nvPr/>
        </p:nvSpPr>
        <p:spPr>
          <a:xfrm>
            <a:off x="8851900" y="4986089"/>
            <a:ext cx="2527300" cy="85591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 name="Google Shape;72;p5"/>
          <p:cNvCxnSpPr/>
          <p:nvPr/>
        </p:nvCxnSpPr>
        <p:spPr>
          <a:xfrm>
            <a:off x="8851900" y="5005139"/>
            <a:ext cx="2527300" cy="0"/>
          </a:xfrm>
          <a:prstGeom prst="straightConnector1">
            <a:avLst/>
          </a:prstGeom>
          <a:noFill/>
          <a:ln cap="flat" cmpd="sng" w="38100">
            <a:solidFill>
              <a:srgbClr val="F28C28"/>
            </a:solidFill>
            <a:prstDash val="solid"/>
            <a:round/>
            <a:headEnd len="sm" w="sm" type="none"/>
            <a:tailEnd len="sm" w="sm" type="none"/>
          </a:ln>
        </p:spPr>
      </p:cxnSp>
      <p:sp>
        <p:nvSpPr>
          <p:cNvPr id="73" name="Google Shape;73;p5"/>
          <p:cNvSpPr/>
          <p:nvPr/>
        </p:nvSpPr>
        <p:spPr>
          <a:xfrm>
            <a:off x="9029700" y="5176589"/>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Thành viên</a:t>
            </a:r>
            <a:endParaRPr b="0" i="0" sz="1200" u="none" cap="none" strike="noStrike">
              <a:solidFill>
                <a:schemeClr val="dk1"/>
              </a:solidFill>
              <a:latin typeface="Calibri"/>
              <a:ea typeface="Calibri"/>
              <a:cs typeface="Calibri"/>
              <a:sym typeface="Calibri"/>
            </a:endParaRPr>
          </a:p>
        </p:txBody>
      </p:sp>
      <p:sp>
        <p:nvSpPr>
          <p:cNvPr id="74" name="Google Shape;74;p5"/>
          <p:cNvSpPr/>
          <p:nvPr/>
        </p:nvSpPr>
        <p:spPr>
          <a:xfrm>
            <a:off x="9029700" y="5440710"/>
            <a:ext cx="223685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1" i="0" lang="en-US" sz="1400" u="none" cap="none" strike="noStrike">
                <a:solidFill>
                  <a:srgbClr val="12263A"/>
                </a:solidFill>
                <a:latin typeface="Be Vietnam Pro"/>
                <a:ea typeface="Be Vietnam Pro"/>
                <a:cs typeface="Be Vietnam Pro"/>
                <a:sym typeface="Be Vietnam Pro"/>
              </a:rPr>
              <a:t>10 thành viên</a:t>
            </a:r>
            <a:endParaRPr b="0" i="0" sz="1400" u="none" cap="none" strike="noStrike">
              <a:solidFill>
                <a:schemeClr val="dk1"/>
              </a:solidFill>
              <a:latin typeface="Calibri"/>
              <a:ea typeface="Calibri"/>
              <a:cs typeface="Calibri"/>
              <a:sym typeface="Calibri"/>
            </a:endParaRPr>
          </a:p>
        </p:txBody>
      </p:sp>
      <p:sp>
        <p:nvSpPr>
          <p:cNvPr id="75" name="Google Shape;75;p5"/>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77" name="Google Shape;77;p5"/>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78" name="Google Shape;78;p5"/>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79" name="TextBox 78"/>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80" name="TextBox 79"/>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83" name="Shape 83"/>
        <p:cNvGrpSpPr/>
        <p:nvPr/>
      </p:nvGrpSpPr>
      <p:grpSpPr>
        <a:xfrm>
          <a:off x="0" y="0"/>
          <a:ext cx="0" cy="0"/>
          <a:chOff x="0" y="0"/>
          <a:chExt cx="0" cy="0"/>
        </a:xfrm>
      </p:grpSpPr>
      <p:sp>
        <p:nvSpPr>
          <p:cNvPr id="84" name="Google Shape;84;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02 — QUY TRÌNH</a:t>
            </a:r>
            <a:endParaRPr b="0" i="0" sz="1200" u="none" cap="none" strike="noStrike">
              <a:solidFill>
                <a:schemeClr val="dk1"/>
              </a:solidFill>
              <a:latin typeface="Calibri"/>
              <a:ea typeface="Calibri"/>
              <a:cs typeface="Calibri"/>
              <a:sym typeface="Calibri"/>
            </a:endParaRPr>
          </a:p>
        </p:txBody>
      </p:sp>
      <p:sp>
        <p:nvSpPr>
          <p:cNvPr id="85" name="Google Shape;85;p6"/>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Quy trình &amp; cách làm việc nhóm</a:t>
            </a:r>
            <a:endParaRPr b="0" i="0" sz="3200" u="none" cap="none" strike="noStrike">
              <a:solidFill>
                <a:schemeClr val="dk1"/>
              </a:solidFill>
              <a:latin typeface="Calibri"/>
              <a:ea typeface="Calibri"/>
              <a:cs typeface="Calibri"/>
              <a:sym typeface="Calibri"/>
            </a:endParaRPr>
          </a:p>
        </p:txBody>
      </p:sp>
      <p:sp>
        <p:nvSpPr>
          <p:cNvPr id="91" name="Google Shape;91;p6"/>
          <p:cNvSpPr/>
          <p:nvPr/>
        </p:nvSpPr>
        <p:spPr>
          <a:xfrm>
            <a:off x="812901" y="1803350"/>
            <a:ext cx="2565806" cy="136892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6"/>
          <p:cNvCxnSpPr/>
          <p:nvPr/>
        </p:nvCxnSpPr>
        <p:spPr>
          <a:xfrm>
            <a:off x="812901" y="1822400"/>
            <a:ext cx="2565806" cy="0"/>
          </a:xfrm>
          <a:prstGeom prst="straightConnector1">
            <a:avLst/>
          </a:prstGeom>
          <a:noFill/>
          <a:ln cap="flat" cmpd="sng" w="38100">
            <a:solidFill>
              <a:srgbClr val="2556C4"/>
            </a:solidFill>
            <a:prstDash val="solid"/>
            <a:round/>
            <a:headEnd len="sm" w="sm" type="none"/>
            <a:tailEnd len="sm" w="sm" type="none"/>
          </a:ln>
        </p:spPr>
      </p:cxnSp>
      <p:sp>
        <p:nvSpPr>
          <p:cNvPr id="93" name="Google Shape;93;p6"/>
          <p:cNvSpPr/>
          <p:nvPr/>
        </p:nvSpPr>
        <p:spPr>
          <a:xfrm>
            <a:off x="965606" y="1993850"/>
            <a:ext cx="2313432" cy="23865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SPRINT 1</a:t>
            </a:r>
            <a:endParaRPr b="0" i="0" sz="1200" u="none" cap="none" strike="noStrike">
              <a:solidFill>
                <a:schemeClr val="dk1"/>
              </a:solidFill>
              <a:latin typeface="Calibri"/>
              <a:ea typeface="Calibri"/>
              <a:cs typeface="Calibri"/>
              <a:sym typeface="Calibri"/>
            </a:endParaRPr>
          </a:p>
        </p:txBody>
      </p:sp>
      <p:sp>
        <p:nvSpPr>
          <p:cNvPr id="94" name="Google Shape;94;p6"/>
          <p:cNvSpPr/>
          <p:nvPr/>
        </p:nvSpPr>
        <p:spPr>
          <a:xfrm>
            <a:off x="965606" y="2257971"/>
            <a:ext cx="2313432" cy="23865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23/09–29/09/2026</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965606" y="2522091"/>
            <a:ext cx="2313432"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rPr>
              <a:t>Tài khoản và phân quyền</a:t>
            </a:r>
            <a:endParaRPr b="0" i="0" sz="1400" u="none" cap="none" strike="noStrike">
              <a:solidFill>
                <a:schemeClr val="dk1"/>
              </a:solidFill>
              <a:latin typeface="Calibri"/>
              <a:ea typeface="Calibri"/>
              <a:cs typeface="Calibri"/>
              <a:sym typeface="Calibri"/>
            </a:endParaRPr>
          </a:p>
        </p:txBody>
      </p:sp>
      <p:sp>
        <p:nvSpPr>
          <p:cNvPr id="96" name="Google Shape;96;p6"/>
          <p:cNvSpPr/>
          <p:nvPr/>
        </p:nvSpPr>
        <p:spPr>
          <a:xfrm>
            <a:off x="3480206" y="1803350"/>
            <a:ext cx="2565806" cy="136892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 name="Google Shape;97;p6"/>
          <p:cNvCxnSpPr/>
          <p:nvPr/>
        </p:nvCxnSpPr>
        <p:spPr>
          <a:xfrm>
            <a:off x="3480206" y="1822400"/>
            <a:ext cx="2565806" cy="0"/>
          </a:xfrm>
          <a:prstGeom prst="straightConnector1">
            <a:avLst/>
          </a:prstGeom>
          <a:noFill/>
          <a:ln cap="flat" cmpd="sng" w="38100">
            <a:solidFill>
              <a:srgbClr val="2556C4"/>
            </a:solidFill>
            <a:prstDash val="solid"/>
            <a:round/>
            <a:headEnd len="sm" w="sm" type="none"/>
            <a:tailEnd len="sm" w="sm" type="none"/>
          </a:ln>
        </p:spPr>
      </p:cxnSp>
      <p:sp>
        <p:nvSpPr>
          <p:cNvPr id="98" name="Google Shape;98;p6"/>
          <p:cNvSpPr/>
          <p:nvPr/>
        </p:nvSpPr>
        <p:spPr>
          <a:xfrm>
            <a:off x="3632911" y="1993850"/>
            <a:ext cx="2313432" cy="23865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SPRINT 2</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3632911" y="2257971"/>
            <a:ext cx="2313432" cy="23865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30/09–06/10/2026</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3632911" y="2522091"/>
            <a:ext cx="2313432"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rPr>
              <a:t>Danh mục và cấu hình</a:t>
            </a:r>
            <a:endParaRPr b="0" i="0" sz="1400" u="none" cap="none" strike="noStrike">
              <a:solidFill>
                <a:schemeClr val="dk1"/>
              </a:solidFill>
              <a:latin typeface="Calibri"/>
              <a:ea typeface="Calibri"/>
              <a:cs typeface="Calibri"/>
              <a:sym typeface="Calibri"/>
            </a:endParaRPr>
          </a:p>
        </p:txBody>
      </p:sp>
      <p:sp>
        <p:nvSpPr>
          <p:cNvPr id="101" name="Google Shape;101;p6"/>
          <p:cNvSpPr/>
          <p:nvPr/>
        </p:nvSpPr>
        <p:spPr>
          <a:xfrm>
            <a:off x="6147511" y="1803350"/>
            <a:ext cx="2565806" cy="136892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 name="Google Shape;102;p6"/>
          <p:cNvCxnSpPr/>
          <p:nvPr/>
        </p:nvCxnSpPr>
        <p:spPr>
          <a:xfrm>
            <a:off x="6147511" y="1822400"/>
            <a:ext cx="2565806" cy="0"/>
          </a:xfrm>
          <a:prstGeom prst="straightConnector1">
            <a:avLst/>
          </a:prstGeom>
          <a:noFill/>
          <a:ln cap="flat" cmpd="sng" w="38100">
            <a:solidFill>
              <a:srgbClr val="2556C4"/>
            </a:solidFill>
            <a:prstDash val="solid"/>
            <a:round/>
            <a:headEnd len="sm" w="sm" type="none"/>
            <a:tailEnd len="sm" w="sm" type="none"/>
          </a:ln>
        </p:spPr>
      </p:cxnSp>
      <p:sp>
        <p:nvSpPr>
          <p:cNvPr id="103" name="Google Shape;103;p6"/>
          <p:cNvSpPr/>
          <p:nvPr/>
        </p:nvSpPr>
        <p:spPr>
          <a:xfrm>
            <a:off x="6300216" y="1993850"/>
            <a:ext cx="2313432" cy="23865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SPRINT 3</a:t>
            </a:r>
            <a:endParaRPr b="0" i="0" sz="1200" u="none" cap="none" strike="noStrike">
              <a:solidFill>
                <a:schemeClr val="dk1"/>
              </a:solidFill>
              <a:latin typeface="Calibri"/>
              <a:ea typeface="Calibri"/>
              <a:cs typeface="Calibri"/>
              <a:sym typeface="Calibri"/>
            </a:endParaRPr>
          </a:p>
        </p:txBody>
      </p:sp>
      <p:sp>
        <p:nvSpPr>
          <p:cNvPr id="104" name="Google Shape;104;p6"/>
          <p:cNvSpPr/>
          <p:nvPr/>
        </p:nvSpPr>
        <p:spPr>
          <a:xfrm>
            <a:off x="6300216" y="2257971"/>
            <a:ext cx="2313432" cy="23865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07/10–13/10/2026</a:t>
            </a:r>
            <a:endParaRPr b="0" i="0" sz="1200" u="none" cap="none" strike="noStrike">
              <a:solidFill>
                <a:schemeClr val="dk1"/>
              </a:solidFill>
              <a:latin typeface="Calibri"/>
              <a:ea typeface="Calibri"/>
              <a:cs typeface="Calibri"/>
              <a:sym typeface="Calibri"/>
            </a:endParaRPr>
          </a:p>
        </p:txBody>
      </p:sp>
      <p:sp>
        <p:nvSpPr>
          <p:cNvPr id="105" name="Google Shape;105;p6"/>
          <p:cNvSpPr/>
          <p:nvPr/>
        </p:nvSpPr>
        <p:spPr>
          <a:xfrm>
            <a:off x="6300216" y="2522091"/>
            <a:ext cx="2313432"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rPr>
              <a:t>Khách hàng 360</a:t>
            </a:r>
            <a:endParaRPr b="0" i="0" sz="1400" u="none" cap="none" strike="noStrike">
              <a:solidFill>
                <a:schemeClr val="dk1"/>
              </a:solidFill>
              <a:latin typeface="Calibri"/>
              <a:ea typeface="Calibri"/>
              <a:cs typeface="Calibri"/>
              <a:sym typeface="Calibri"/>
            </a:endParaRPr>
          </a:p>
        </p:txBody>
      </p:sp>
      <p:sp>
        <p:nvSpPr>
          <p:cNvPr id="106" name="Google Shape;106;p6"/>
          <p:cNvSpPr/>
          <p:nvPr/>
        </p:nvSpPr>
        <p:spPr>
          <a:xfrm>
            <a:off x="8814816" y="1803350"/>
            <a:ext cx="2565806" cy="1368921"/>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6"/>
          <p:cNvCxnSpPr/>
          <p:nvPr/>
        </p:nvCxnSpPr>
        <p:spPr>
          <a:xfrm>
            <a:off x="8814816" y="1822400"/>
            <a:ext cx="2565806" cy="0"/>
          </a:xfrm>
          <a:prstGeom prst="straightConnector1">
            <a:avLst/>
          </a:prstGeom>
          <a:noFill/>
          <a:ln cap="flat" cmpd="sng" w="38100">
            <a:solidFill>
              <a:srgbClr val="F28C28"/>
            </a:solidFill>
            <a:prstDash val="solid"/>
            <a:round/>
            <a:headEnd len="sm" w="sm" type="none"/>
            <a:tailEnd len="sm" w="sm" type="none"/>
          </a:ln>
        </p:spPr>
      </p:cxnSp>
      <p:sp>
        <p:nvSpPr>
          <p:cNvPr id="108" name="Google Shape;108;p6"/>
          <p:cNvSpPr/>
          <p:nvPr/>
        </p:nvSpPr>
        <p:spPr>
          <a:xfrm>
            <a:off x="8967520" y="1993850"/>
            <a:ext cx="2313432" cy="23865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300" u="none" cap="none" strike="noStrike">
                <a:solidFill>
                  <a:srgbClr val="2556C4"/>
                </a:solidFill>
                <a:latin typeface="Be Vietnam Pro"/>
                <a:ea typeface="Be Vietnam Pro"/>
                <a:cs typeface="Be Vietnam Pro"/>
                <a:sym typeface="Be Vietnam Pro"/>
              </a:rPr>
              <a:t>SPRINT 4</a:t>
            </a:r>
            <a:endParaRPr b="0" i="0" sz="1200" u="none" cap="none" strike="noStrike">
              <a:solidFill>
                <a:schemeClr val="dk1"/>
              </a:solidFill>
              <a:latin typeface="Calibri"/>
              <a:ea typeface="Calibri"/>
              <a:cs typeface="Calibri"/>
              <a:sym typeface="Calibri"/>
            </a:endParaRPr>
          </a:p>
        </p:txBody>
      </p:sp>
      <p:sp>
        <p:nvSpPr>
          <p:cNvPr id="109" name="Google Shape;109;p6"/>
          <p:cNvSpPr/>
          <p:nvPr/>
        </p:nvSpPr>
        <p:spPr>
          <a:xfrm>
            <a:off x="8967520" y="2257971"/>
            <a:ext cx="2313432" cy="23865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14/10–20/10/2026</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8967520" y="2522091"/>
            <a:ext cx="2313432"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rPr>
              <a:t>Lead và phân bổ</a:t>
            </a:r>
            <a:endParaRPr b="0" i="0" sz="1400" u="none" cap="none" strike="noStrike">
              <a:solidFill>
                <a:schemeClr val="dk1"/>
              </a:solidFill>
              <a:latin typeface="Calibri"/>
              <a:ea typeface="Calibri"/>
              <a:cs typeface="Calibri"/>
              <a:sym typeface="Calibri"/>
            </a:endParaRPr>
          </a:p>
        </p:txBody>
      </p:sp>
      <p:sp>
        <p:nvSpPr>
          <p:cNvPr id="111" name="Google Shape;111;p6"/>
          <p:cNvSpPr/>
          <p:nvPr/>
        </p:nvSpPr>
        <p:spPr>
          <a:xfrm>
            <a:off x="815975" y="3429446"/>
            <a:ext cx="3414167" cy="2409379"/>
          </a:xfrm>
          <a:prstGeom prst="roundRect">
            <a:avLst>
              <a:gd fmla="val 4085"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1022350" y="3635821"/>
            <a:ext cx="3091459"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Mô hình làm việc</a:t>
            </a:r>
            <a:endParaRPr b="0" i="0" sz="1800" u="none" cap="none" strike="noStrike">
              <a:solidFill>
                <a:schemeClr val="dk1"/>
              </a:solidFill>
              <a:latin typeface="Calibri"/>
              <a:ea typeface="Calibri"/>
              <a:cs typeface="Calibri"/>
              <a:sym typeface="Calibri"/>
            </a:endParaRPr>
          </a:p>
        </p:txBody>
      </p:sp>
      <p:sp>
        <p:nvSpPr>
          <p:cNvPr id="113" name="Google Shape;113;p6"/>
          <p:cNvSpPr/>
          <p:nvPr/>
        </p:nvSpPr>
        <p:spPr>
          <a:xfrm>
            <a:off x="1022350" y="3986312"/>
            <a:ext cx="3091459" cy="1261872"/>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C17B10"/>
                </a:solidFill>
                <a:latin typeface="Be Vietnam Pro"/>
                <a:ea typeface="Be Vietnam Pro"/>
                <a:cs typeface="Be Vietnam Pro"/>
                <a:sym typeface="Be Vietnam Pro"/>
              </a:rPr>
              <a:t>Sprint dài 1 tuần, bắt đầu 23/09.</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C17B10"/>
                </a:solidFill>
                <a:latin typeface="Be Vietnam Pro"/>
                <a:ea typeface="Be Vietnam Pro"/>
                <a:cs typeface="Be Vietnam Pro"/>
                <a:sym typeface="Be Vietnam Pro"/>
              </a:rPr>
              <a:t>Daily / review / retro: cần lịch họp.</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C17B10"/>
                </a:solidFill>
                <a:latin typeface="Be Vietnam Pro"/>
                <a:ea typeface="Be Vietnam Pro"/>
                <a:cs typeface="Be Vietnam Pro"/>
                <a:sym typeface="Be Vietnam Pro"/>
              </a:rPr>
              <a:t>Họp mentor: cần lịch cụ thể.</a:t>
            </a:r>
          </a:p>
        </p:txBody>
      </p:sp>
      <p:sp>
        <p:nvSpPr>
          <p:cNvPr id="114" name="Google Shape;114;p6"/>
          <p:cNvSpPr/>
          <p:nvPr/>
        </p:nvSpPr>
        <p:spPr>
          <a:xfrm>
            <a:off x="4388892" y="3429446"/>
            <a:ext cx="3414216" cy="2409379"/>
          </a:xfrm>
          <a:prstGeom prst="roundRect">
            <a:avLst>
              <a:gd fmla="val 4085"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4595267" y="3635821"/>
            <a:ext cx="309151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Công cụ</a:t>
            </a:r>
            <a:endParaRPr b="0" i="0" sz="1800" u="none" cap="none" strike="noStrike">
              <a:solidFill>
                <a:schemeClr val="dk1"/>
              </a:solidFill>
              <a:latin typeface="Calibri"/>
              <a:ea typeface="Calibri"/>
              <a:cs typeface="Calibri"/>
              <a:sym typeface="Calibri"/>
            </a:endParaRPr>
          </a:p>
        </p:txBody>
      </p:sp>
      <p:sp>
        <p:nvSpPr>
          <p:cNvPr id="116" name="Google Shape;116;p6"/>
          <p:cNvSpPr/>
          <p:nvPr/>
        </p:nvSpPr>
        <p:spPr>
          <a:xfrm>
            <a:off x="4595267" y="3986312"/>
            <a:ext cx="3091510" cy="102096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Jira — backlog và công việc.</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GitHub — mã nguồn, PR, CI.</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Kênh trao đổi / thiết kế: cần xác nhận.</a:t>
            </a:r>
          </a:p>
        </p:txBody>
      </p:sp>
      <p:sp>
        <p:nvSpPr>
          <p:cNvPr id="117" name="Google Shape;117;p6"/>
          <p:cNvSpPr/>
          <p:nvPr/>
        </p:nvSpPr>
        <p:spPr>
          <a:xfrm>
            <a:off x="7961858" y="3429446"/>
            <a:ext cx="3414167" cy="2409379"/>
          </a:xfrm>
          <a:prstGeom prst="roundRect">
            <a:avLst>
              <a:gd fmla="val 4085"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8168233" y="3635821"/>
            <a:ext cx="3091459"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Quy tắc Git</a:t>
            </a:r>
            <a:endParaRPr b="0" i="0" sz="1800" u="none" cap="none" strike="noStrike">
              <a:solidFill>
                <a:schemeClr val="dk1"/>
              </a:solidFill>
              <a:latin typeface="Calibri"/>
              <a:ea typeface="Calibri"/>
              <a:cs typeface="Calibri"/>
              <a:sym typeface="Calibri"/>
            </a:endParaRPr>
          </a:p>
        </p:txBody>
      </p:sp>
      <p:sp>
        <p:nvSpPr>
          <p:cNvPr id="119" name="Google Shape;119;p6"/>
          <p:cNvSpPr/>
          <p:nvPr/>
        </p:nvSpPr>
        <p:spPr>
          <a:xfrm>
            <a:off x="8168233" y="3986312"/>
            <a:ext cx="3091459" cy="102096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Nhánh main, develop và các nhánh tính năng đã có.</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Quy tắc review / commit thực tế: cần nhóm xác nhận.</a:t>
            </a:r>
          </a:p>
        </p:txBody>
      </p:sp>
      <p:sp>
        <p:nvSpPr>
          <p:cNvPr id="120" name="Google Shape;120;p6"/>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121" name="Google Shape;121;p6"/>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122" name="Google Shape;122;p6"/>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123" name="Google Shape;123;p6"/>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124" name="TextBox 123"/>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125" name="TextBox 124"/>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128" name="Shape 128"/>
        <p:cNvGrpSpPr/>
        <p:nvPr/>
      </p:nvGrpSpPr>
      <p:grpSpPr>
        <a:xfrm>
          <a:off x="0" y="0"/>
          <a:ext cx="0" cy="0"/>
          <a:chOff x="0" y="0"/>
          <a:chExt cx="0" cy="0"/>
        </a:xfrm>
      </p:grpSpPr>
      <p:sp>
        <p:nvSpPr>
          <p:cNvPr id="129" name="Google Shape;129;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03 — MINH CHỨNG JIRA</a:t>
            </a:r>
            <a:endParaRPr b="0" i="0" sz="1200" u="none" cap="none" strike="noStrike">
              <a:solidFill>
                <a:schemeClr val="dk1"/>
              </a:solidFill>
              <a:latin typeface="Calibri"/>
              <a:ea typeface="Calibri"/>
              <a:cs typeface="Calibri"/>
              <a:sym typeface="Calibri"/>
            </a:endParaRPr>
          </a:p>
        </p:txBody>
      </p:sp>
      <p:sp>
        <p:nvSpPr>
          <p:cNvPr id="130" name="Google Shape;130;p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Product Backlog của dự án</a:t>
            </a:r>
            <a:endParaRPr b="0" i="0" sz="3200" u="none" cap="none" strike="noStrike">
              <a:solidFill>
                <a:schemeClr val="dk1"/>
              </a:solidFill>
              <a:latin typeface="Calibri"/>
              <a:ea typeface="Calibri"/>
              <a:cs typeface="Calibri"/>
              <a:sym typeface="Calibri"/>
            </a:endParaRPr>
          </a:p>
        </p:txBody>
      </p:sp>
      <p:sp>
        <p:nvSpPr>
          <p:cNvPr id="131" name="Google Shape;131;p7"/>
          <p:cNvSpPr/>
          <p:nvPr/>
        </p:nvSpPr>
        <p:spPr>
          <a:xfrm>
            <a:off x="819150" y="1809700"/>
            <a:ext cx="6347470" cy="4025950"/>
          </a:xfrm>
          <a:prstGeom prst="roundRect">
            <a:avLst>
              <a:gd fmla="val 2366"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132" name="Google Shape;132;p7"/>
          <p:cNvPicPr preferRelativeResize="0"/>
          <p:nvPr/>
        </p:nvPicPr>
        <p:blipFill rotWithShape="1">
          <a:blip r:embed="rId3">
            <a:alphaModFix/>
          </a:blip>
          <a:srcRect b="0" l="0" r="0" t="0"/>
          <a:stretch/>
        </p:blipFill>
        <p:spPr>
          <a:xfrm>
            <a:off x="3789660" y="3312170"/>
            <a:ext cx="406400" cy="406400"/>
          </a:xfrm>
          <a:prstGeom prst="rect">
            <a:avLst/>
          </a:prstGeom>
          <a:noFill/>
          <a:ln>
            <a:noFill/>
          </a:ln>
        </p:spPr>
      </p:pic>
      <p:sp>
        <p:nvSpPr>
          <p:cNvPr id="133" name="Google Shape;133;p7"/>
          <p:cNvSpPr/>
          <p:nvPr/>
        </p:nvSpPr>
        <p:spPr>
          <a:xfrm>
            <a:off x="2296214" y="3794770"/>
            <a:ext cx="3393293"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400" u="none" cap="none" strike="noStrike">
                <a:solidFill>
                  <a:srgbClr val="C17B10"/>
                </a:solidFill>
                <a:latin typeface="Be Vietnam Pro"/>
                <a:ea typeface="Be Vietnam Pro"/>
                <a:cs typeface="Be Vietnam Pro"/>
                <a:sym typeface="Be Vietnam Pro"/>
              </a:rPr>
              <a:t>CẦN ẢNH PRODUCT BACKLOG</a:t>
            </a:r>
            <a:endParaRPr b="0" i="0" sz="1400" u="none" cap="none" strike="noStrike">
              <a:solidFill>
                <a:schemeClr val="dk1"/>
              </a:solidFill>
              <a:latin typeface="Calibri"/>
              <a:ea typeface="Calibri"/>
              <a:cs typeface="Calibri"/>
              <a:sym typeface="Calibri"/>
            </a:endParaRPr>
          </a:p>
        </p:txBody>
      </p:sp>
      <p:sp>
        <p:nvSpPr>
          <p:cNvPr id="134" name="Google Shape;134;p7"/>
          <p:cNvSpPr/>
          <p:nvPr/>
        </p:nvSpPr>
        <p:spPr>
          <a:xfrm>
            <a:off x="1942515" y="4119860"/>
            <a:ext cx="4100740" cy="23872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5A6573"/>
              </a:buClr>
              <a:buSzPts val="1200"/>
              <a:buFont typeface="Be Vietnam Pro"/>
              <a:buNone/>
            </a:pPr>
            <a:pPr indent="0" lvl="0" marL="0" marR="0" rtl="0" algn="ctr">
              <a:lnSpc>
                <a:spcPct val="140000"/>
              </a:lnSpc>
              <a:spcBef>
                <a:spcPts val="0"/>
              </a:spcBef>
              <a:spcAft>
                <a:spcPts val="0"/>
              </a:spcAft>
              <a:buClr>
                <a:srgbClr val="5A6573"/>
              </a:buClr>
              <a:buSzPts val="1200"/>
              <a:buFont typeface="Be Vietnam Pro"/>
              <a:buNone/>
            </a:pPr>
            <a:r>
              <a:rPr b="0" i="0" lang="en-US" sz="1200" u="none" cap="none" strike="noStrike">
                <a:solidFill>
                  <a:srgbClr val="C17B10"/>
                </a:solidFill>
                <a:latin typeface="Be Vietnam Pro"/>
                <a:ea typeface="Be Vietnam Pro"/>
                <a:cs typeface="Be Vietnam Pro"/>
                <a:sym typeface="Be Vietnam Pro"/>
              </a:rPr>
              <a:t>Chụp rõ epic, user story, trạng thái và ngày chụp</a:t>
            </a:r>
            <a:endParaRPr b="0" i="0" sz="1200" u="none" cap="none" strike="noStrike">
              <a:solidFill>
                <a:schemeClr val="dk1"/>
              </a:solidFill>
              <a:latin typeface="Calibri"/>
              <a:ea typeface="Calibri"/>
              <a:cs typeface="Calibri"/>
              <a:sym typeface="Calibri"/>
            </a:endParaRPr>
          </a:p>
        </p:txBody>
      </p:sp>
      <p:sp>
        <p:nvSpPr>
          <p:cNvPr id="135" name="Google Shape;135;p7"/>
          <p:cNvSpPr/>
          <p:nvPr/>
        </p:nvSpPr>
        <p:spPr>
          <a:xfrm>
            <a:off x="7430145" y="1806525"/>
            <a:ext cx="190624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7611120" y="1962100"/>
            <a:ext cx="15950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Tổng số issue</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7611120" y="2226221"/>
            <a:ext cx="1595090"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150" u="none" cap="none" strike="noStrike">
                <a:solidFill>
                  <a:srgbClr val="12263A"/>
                </a:solidFill>
                <a:latin typeface="Be Vietnam Pro"/>
                <a:ea typeface="Be Vietnam Pro"/>
                <a:cs typeface="Be Vietnam Pro"/>
                <a:sym typeface="Be Vietnam Pro"/>
              </a:rPr>
              <a:t>199</a:t>
            </a:r>
            <a:endParaRPr b="0" i="0" sz="3200" u="none" cap="none" strike="noStrike">
              <a:solidFill>
                <a:schemeClr val="dk1"/>
              </a:solidFill>
              <a:latin typeface="Calibri"/>
              <a:ea typeface="Calibri"/>
              <a:cs typeface="Calibri"/>
              <a:sym typeface="Calibri"/>
            </a:endParaRPr>
          </a:p>
        </p:txBody>
      </p:sp>
      <p:sp>
        <p:nvSpPr>
          <p:cNvPr id="138" name="Google Shape;138;p7"/>
          <p:cNvSpPr/>
          <p:nvPr/>
        </p:nvSpPr>
        <p:spPr>
          <a:xfrm>
            <a:off x="9469735" y="1806525"/>
            <a:ext cx="190629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9650710" y="1962100"/>
            <a:ext cx="15951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Đã Done</a:t>
            </a:r>
            <a:endParaRPr b="0" i="0" sz="1200" u="none" cap="none" strike="noStrike">
              <a:solidFill>
                <a:schemeClr val="dk1"/>
              </a:solidFill>
              <a:latin typeface="Calibri"/>
              <a:ea typeface="Calibri"/>
              <a:cs typeface="Calibri"/>
              <a:sym typeface="Calibri"/>
            </a:endParaRPr>
          </a:p>
        </p:txBody>
      </p:sp>
      <p:sp>
        <p:nvSpPr>
          <p:cNvPr id="140" name="Google Shape;140;p7"/>
          <p:cNvSpPr/>
          <p:nvPr/>
        </p:nvSpPr>
        <p:spPr>
          <a:xfrm>
            <a:off x="9650710" y="2226221"/>
            <a:ext cx="1595140"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150" u="none" cap="none" strike="noStrike">
                <a:solidFill>
                  <a:srgbClr val="12263A"/>
                </a:solidFill>
                <a:latin typeface="Be Vietnam Pro"/>
                <a:ea typeface="Be Vietnam Pro"/>
                <a:cs typeface="Be Vietnam Pro"/>
                <a:sym typeface="Be Vietnam Pro"/>
              </a:rPr>
              <a:t>135</a:t>
            </a:r>
            <a:endParaRPr b="0" i="0" sz="3200" u="none" cap="none" strike="noStrike">
              <a:solidFill>
                <a:schemeClr val="dk1"/>
              </a:solidFill>
              <a:latin typeface="Calibri"/>
              <a:ea typeface="Calibri"/>
              <a:cs typeface="Calibri"/>
              <a:sym typeface="Calibri"/>
            </a:endParaRPr>
          </a:p>
        </p:txBody>
      </p:sp>
      <p:sp>
        <p:nvSpPr>
          <p:cNvPr id="141" name="Google Shape;141;p7"/>
          <p:cNvSpPr/>
          <p:nvPr/>
        </p:nvSpPr>
        <p:spPr>
          <a:xfrm>
            <a:off x="7430145" y="2962176"/>
            <a:ext cx="190624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7611120" y="3117751"/>
            <a:ext cx="15950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Còn tồn</a:t>
            </a:r>
            <a:endParaRPr b="0" i="0" sz="1200" u="none" cap="none" strike="noStrike">
              <a:solidFill>
                <a:schemeClr val="dk1"/>
              </a:solidFill>
              <a:latin typeface="Calibri"/>
              <a:ea typeface="Calibri"/>
              <a:cs typeface="Calibri"/>
              <a:sym typeface="Calibri"/>
            </a:endParaRPr>
          </a:p>
        </p:txBody>
      </p:sp>
      <p:sp>
        <p:nvSpPr>
          <p:cNvPr id="143" name="Google Shape;143;p7"/>
          <p:cNvSpPr/>
          <p:nvPr/>
        </p:nvSpPr>
        <p:spPr>
          <a:xfrm>
            <a:off x="7611120" y="3381871"/>
            <a:ext cx="1595090"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150" u="none" cap="none" strike="noStrike">
                <a:solidFill>
                  <a:srgbClr val="12263A"/>
                </a:solidFill>
                <a:latin typeface="Be Vietnam Pro"/>
                <a:ea typeface="Be Vietnam Pro"/>
                <a:cs typeface="Be Vietnam Pro"/>
                <a:sym typeface="Be Vietnam Pro"/>
              </a:rPr>
              <a:t>64</a:t>
            </a:r>
            <a:endParaRPr b="0" i="0" sz="3200" u="none" cap="none" strike="noStrike">
              <a:solidFill>
                <a:schemeClr val="dk1"/>
              </a:solidFill>
              <a:latin typeface="Calibri"/>
              <a:ea typeface="Calibri"/>
              <a:cs typeface="Calibri"/>
              <a:sym typeface="Calibri"/>
            </a:endParaRPr>
          </a:p>
        </p:txBody>
      </p:sp>
      <p:sp>
        <p:nvSpPr>
          <p:cNvPr id="144" name="Google Shape;144;p7"/>
          <p:cNvSpPr/>
          <p:nvPr/>
        </p:nvSpPr>
        <p:spPr>
          <a:xfrm>
            <a:off x="9469735" y="2962176"/>
            <a:ext cx="190629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9650710" y="3117751"/>
            <a:ext cx="15951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Hoàn thành backlog</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9650710" y="3381871"/>
            <a:ext cx="1595140"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3150" u="none" cap="none" strike="noStrike">
                <a:solidFill>
                  <a:srgbClr val="2556C4"/>
                </a:solidFill>
                <a:latin typeface="Be Vietnam Pro"/>
                <a:ea typeface="Be Vietnam Pro"/>
                <a:cs typeface="Be Vietnam Pro"/>
                <a:sym typeface="Be Vietnam Pro"/>
              </a:rPr>
              <a:t>67,8%</a:t>
            </a:r>
            <a:endParaRPr b="0" i="0" sz="3200" u="none" cap="none" strike="noStrike">
              <a:solidFill>
                <a:schemeClr val="dk1"/>
              </a:solidFill>
              <a:latin typeface="Calibri"/>
              <a:ea typeface="Calibri"/>
              <a:cs typeface="Calibri"/>
              <a:sym typeface="Calibri"/>
            </a:endParaRPr>
          </a:p>
        </p:txBody>
      </p:sp>
      <p:sp>
        <p:nvSpPr>
          <p:cNvPr id="147" name="Google Shape;147;p7"/>
          <p:cNvSpPr/>
          <p:nvPr/>
        </p:nvSpPr>
        <p:spPr>
          <a:xfrm>
            <a:off x="7430145" y="4143226"/>
            <a:ext cx="3945880" cy="1695599"/>
          </a:xfrm>
          <a:prstGeom prst="roundRect">
            <a:avLst>
              <a:gd fmla="val 5805"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7636520" y="4324201"/>
            <a:ext cx="363912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Epic chính</a:t>
            </a:r>
            <a:endParaRPr b="0" i="0" sz="1800" u="none" cap="none" strike="noStrike">
              <a:solidFill>
                <a:schemeClr val="dk1"/>
              </a:solidFill>
              <a:latin typeface="Calibri"/>
              <a:ea typeface="Calibri"/>
              <a:cs typeface="Calibri"/>
              <a:sym typeface="Calibri"/>
            </a:endParaRPr>
          </a:p>
        </p:txBody>
      </p:sp>
      <p:sp>
        <p:nvSpPr>
          <p:cNvPr id="149" name="Google Shape;149;p7"/>
          <p:cNvSpPr/>
          <p:nvPr/>
        </p:nvSpPr>
        <p:spPr>
          <a:xfrm>
            <a:off x="7636520" y="4674691"/>
            <a:ext cx="3639124" cy="77207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200" u="none" cap="none" strike="noStrike">
                <a:solidFill>
                  <a:srgbClr val="3F4A57"/>
                </a:solidFill>
                <a:latin typeface="Be Vietnam Pro"/>
                <a:ea typeface="Be Vietnam Pro"/>
                <a:cs typeface="Be Vietnam Pro"/>
                <a:sym typeface="Be Vietnam Pro"/>
              </a:rPr>
              <a:t>EP-01: Tài khoản / phân quyền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200" u="none" cap="none" strike="noStrike">
                <a:solidFill>
                  <a:srgbClr val="3F4A57"/>
                </a:solidFill>
                <a:latin typeface="Be Vietnam Pro"/>
                <a:ea typeface="Be Vietnam Pro"/>
                <a:cs typeface="Be Vietnam Pro"/>
                <a:sym typeface="Be Vietnam Pro"/>
              </a:rPr>
              <a:t>EP-02: Danh mục / cấu hình</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200" u="none" cap="none" strike="noStrike">
                <a:solidFill>
                  <a:srgbClr val="3F4A57"/>
                </a:solidFill>
                <a:latin typeface="Be Vietnam Pro"/>
                <a:ea typeface="Be Vietnam Pro"/>
                <a:cs typeface="Be Vietnam Pro"/>
                <a:sym typeface="Be Vietnam Pro"/>
              </a:rPr>
              <a:t>EP-03/04: Khách hàng / Lead</a:t>
            </a:r>
          </a:p>
        </p:txBody>
      </p:sp>
      <p:sp>
        <p:nvSpPr>
          <p:cNvPr id="150" name="Google Shape;150;p7"/>
          <p:cNvSpPr/>
          <p:nvPr/>
        </p:nvSpPr>
        <p:spPr>
          <a:xfrm>
            <a:off x="812800" y="6238280"/>
            <a:ext cx="403140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hlinkClick r:id="rId6"/>
              </a:rPr>
              <a:t>Nguồn: export 18/10 · N1 / Board 3 (mở link)</a:t>
            </a:r>
            <a:endParaRPr b="0" i="0" sz="1200" u="none" cap="none" strike="noStrike">
              <a:solidFill>
                <a:schemeClr val="dk1"/>
              </a:solidFill>
              <a:latin typeface="Calibri"/>
              <a:ea typeface="Calibri"/>
              <a:cs typeface="Calibri"/>
              <a:sym typeface="Calibri"/>
            </a:endParaRPr>
          </a:p>
        </p:txBody>
      </p:sp>
      <p:sp>
        <p:nvSpPr>
          <p:cNvPr id="151" name="Google Shape;151;p7"/>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152" name="Google Shape;152;p7"/>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153" name="Google Shape;153;p7"/>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154" name="TextBox 153"/>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155" name="TextBox 154"/>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5</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158" name="Shape 158"/>
        <p:cNvGrpSpPr/>
        <p:nvPr/>
      </p:nvGrpSpPr>
      <p:grpSpPr>
        <a:xfrm>
          <a:off x="0" y="0"/>
          <a:ext cx="0" cy="0"/>
          <a:chOff x="0" y="0"/>
          <a:chExt cx="0" cy="0"/>
        </a:xfrm>
      </p:grpSpPr>
      <p:sp>
        <p:nvSpPr>
          <p:cNvPr id="159" name="Google Shape;159;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04 — MINH CHỨNG JIRA</a:t>
            </a:r>
            <a:endParaRPr b="0" i="0" sz="1200" u="none" cap="none" strike="noStrike">
              <a:solidFill>
                <a:schemeClr val="dk1"/>
              </a:solidFill>
              <a:latin typeface="Calibri"/>
              <a:ea typeface="Calibri"/>
              <a:cs typeface="Calibri"/>
              <a:sym typeface="Calibri"/>
            </a:endParaRPr>
          </a:p>
        </p:txBody>
      </p:sp>
      <p:sp>
        <p:nvSpPr>
          <p:cNvPr id="160" name="Google Shape;160;p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Tiến độ theo sprint</a:t>
            </a:r>
            <a:endParaRPr b="0" i="0" sz="3200" u="none" cap="none" strike="noStrike">
              <a:solidFill>
                <a:schemeClr val="dk1"/>
              </a:solidFill>
              <a:latin typeface="Calibri"/>
              <a:ea typeface="Calibri"/>
              <a:cs typeface="Calibri"/>
              <a:sym typeface="Calibri"/>
            </a:endParaRPr>
          </a:p>
        </p:txBody>
      </p:sp>
      <p:sp>
        <p:nvSpPr>
          <p:cNvPr id="161" name="Google Shape;161;p8"/>
          <p:cNvSpPr/>
          <p:nvPr/>
        </p:nvSpPr>
        <p:spPr>
          <a:xfrm>
            <a:off x="819150" y="1809700"/>
            <a:ext cx="5194300" cy="1765300"/>
          </a:xfrm>
          <a:prstGeom prst="roundRect">
            <a:avLst>
              <a:gd fmla="val 5396"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162" name="Google Shape;162;p8"/>
          <p:cNvPicPr preferRelativeResize="0"/>
          <p:nvPr/>
        </p:nvPicPr>
        <p:blipFill rotWithShape="1">
          <a:blip r:embed="rId3">
            <a:alphaModFix/>
          </a:blip>
          <a:srcRect b="0" l="0" r="0" t="0"/>
          <a:stretch/>
        </p:blipFill>
        <p:spPr>
          <a:xfrm>
            <a:off x="3238500" y="2207220"/>
            <a:ext cx="355600" cy="355600"/>
          </a:xfrm>
          <a:prstGeom prst="rect">
            <a:avLst/>
          </a:prstGeom>
          <a:noFill/>
          <a:ln>
            <a:noFill/>
          </a:ln>
        </p:spPr>
      </p:pic>
      <p:sp>
        <p:nvSpPr>
          <p:cNvPr id="163" name="Google Shape;163;p8"/>
          <p:cNvSpPr/>
          <p:nvPr/>
        </p:nvSpPr>
        <p:spPr>
          <a:xfrm>
            <a:off x="2215557" y="2639020"/>
            <a:ext cx="240143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400" u="none" cap="none" strike="noStrike">
                <a:solidFill>
                  <a:srgbClr val="C17B10"/>
                </a:solidFill>
                <a:latin typeface="Be Vietnam Pro"/>
                <a:ea typeface="Be Vietnam Pro"/>
                <a:cs typeface="Be Vietnam Pro"/>
                <a:sym typeface="Be Vietnam Pro"/>
              </a:rPr>
              <a:t>CẦN ẢNH VELOCITY</a:t>
            </a:r>
            <a:endParaRPr b="0" i="0" sz="1400" u="none" cap="none" strike="noStrike">
              <a:solidFill>
                <a:schemeClr val="dk1"/>
              </a:solidFill>
              <a:latin typeface="Calibri"/>
              <a:ea typeface="Calibri"/>
              <a:cs typeface="Calibri"/>
              <a:sym typeface="Calibri"/>
            </a:endParaRPr>
          </a:p>
        </p:txBody>
      </p:sp>
      <p:sp>
        <p:nvSpPr>
          <p:cNvPr id="164" name="Google Shape;164;p8"/>
          <p:cNvSpPr/>
          <p:nvPr/>
        </p:nvSpPr>
        <p:spPr>
          <a:xfrm>
            <a:off x="1968857" y="2964111"/>
            <a:ext cx="2894887"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 cam kết so với hoàn thành</a:t>
            </a:r>
            <a:endParaRPr b="0" i="0" sz="1200" u="none" cap="none" strike="noStrike">
              <a:solidFill>
                <a:schemeClr val="dk1"/>
              </a:solidFill>
              <a:latin typeface="Calibri"/>
              <a:ea typeface="Calibri"/>
              <a:cs typeface="Calibri"/>
              <a:sym typeface="Calibri"/>
            </a:endParaRPr>
          </a:p>
        </p:txBody>
      </p:sp>
      <p:sp>
        <p:nvSpPr>
          <p:cNvPr id="165" name="Google Shape;165;p8"/>
          <p:cNvSpPr/>
          <p:nvPr/>
        </p:nvSpPr>
        <p:spPr>
          <a:xfrm>
            <a:off x="6178550" y="1809700"/>
            <a:ext cx="5194300" cy="1765300"/>
          </a:xfrm>
          <a:prstGeom prst="roundRect">
            <a:avLst>
              <a:gd fmla="val 5396"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166" name="Google Shape;166;p8"/>
          <p:cNvPicPr preferRelativeResize="0"/>
          <p:nvPr/>
        </p:nvPicPr>
        <p:blipFill rotWithShape="1">
          <a:blip r:embed="rId4">
            <a:alphaModFix/>
          </a:blip>
          <a:srcRect b="0" l="0" r="0" t="0"/>
          <a:stretch/>
        </p:blipFill>
        <p:spPr>
          <a:xfrm>
            <a:off x="8597900" y="2207220"/>
            <a:ext cx="355600" cy="355600"/>
          </a:xfrm>
          <a:prstGeom prst="rect">
            <a:avLst/>
          </a:prstGeom>
          <a:noFill/>
          <a:ln>
            <a:noFill/>
          </a:ln>
        </p:spPr>
      </p:pic>
      <p:sp>
        <p:nvSpPr>
          <p:cNvPr id="167" name="Google Shape;167;p8"/>
          <p:cNvSpPr/>
          <p:nvPr/>
        </p:nvSpPr>
        <p:spPr>
          <a:xfrm>
            <a:off x="7275882" y="2639020"/>
            <a:ext cx="2999586"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400" u="none" cap="none" strike="noStrike">
                <a:solidFill>
                  <a:srgbClr val="C17B10"/>
                </a:solidFill>
                <a:latin typeface="Be Vietnam Pro"/>
                <a:ea typeface="Be Vietnam Pro"/>
                <a:cs typeface="Be Vietnam Pro"/>
                <a:sym typeface="Be Vietnam Pro"/>
              </a:rPr>
              <a:t>CẦN ẢNH BURNDOWN</a:t>
            </a:r>
            <a:endParaRPr b="0" i="0" sz="1400" u="none" cap="none" strike="noStrike">
              <a:solidFill>
                <a:schemeClr val="dk1"/>
              </a:solidFill>
              <a:latin typeface="Calibri"/>
              <a:ea typeface="Calibri"/>
              <a:cs typeface="Calibri"/>
              <a:sym typeface="Calibri"/>
            </a:endParaRPr>
          </a:p>
        </p:txBody>
      </p:sp>
      <p:sp>
        <p:nvSpPr>
          <p:cNvPr id="168" name="Google Shape;168;p8"/>
          <p:cNvSpPr/>
          <p:nvPr/>
        </p:nvSpPr>
        <p:spPr>
          <a:xfrm>
            <a:off x="7834175" y="2964111"/>
            <a:ext cx="1883051" cy="23872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5A6573"/>
              </a:buClr>
              <a:buSzPts val="1200"/>
              <a:buFont typeface="Be Vietnam Pro"/>
              <a:buNone/>
            </a:pPr>
            <a:pPr indent="0" lvl="0" marL="0" marR="0" rtl="0" algn="ctr">
              <a:lnSpc>
                <a:spcPct val="140000"/>
              </a:lnSpc>
              <a:spcBef>
                <a:spcPts val="0"/>
              </a:spcBef>
              <a:spcAft>
                <a:spcPts val="0"/>
              </a:spcAft>
              <a:buClr>
                <a:srgbClr val="5A6573"/>
              </a:buClr>
              <a:buSzPts val="1200"/>
              <a:buFont typeface="Be Vietnam Pro"/>
              <a:buNone/>
            </a:pPr>
            <a:r>
              <a:rPr b="0" i="0" lang="en-US" sz="1050" u="none" cap="none" strike="noStrike">
                <a:solidFill>
                  <a:srgbClr val="C17B10"/>
                </a:solidFill>
                <a:latin typeface="Be Vietnam Pro"/>
                <a:ea typeface="Be Vietnam Pro"/>
                <a:cs typeface="Be Vietnam Pro"/>
                <a:sym typeface="Be Vietnam Pro"/>
              </a:rPr>
              <a:t>Sprint tiêu biểu + ngày chụp</a:t>
            </a:r>
            <a:endParaRPr b="0" i="0" sz="1200" u="none" cap="none" strike="noStrike">
              <a:solidFill>
                <a:schemeClr val="dk1"/>
              </a:solidFill>
              <a:latin typeface="Calibri"/>
              <a:ea typeface="Calibri"/>
              <a:cs typeface="Calibri"/>
              <a:sym typeface="Calibri"/>
            </a:endParaRPr>
          </a:p>
        </p:txBody>
      </p:sp>
      <p:sp>
        <p:nvSpPr>
          <p:cNvPr id="169" name="Google Shape;169;p8"/>
          <p:cNvSpPr/>
          <p:nvPr/>
        </p:nvSpPr>
        <p:spPr>
          <a:xfrm>
            <a:off x="812800" y="3835350"/>
            <a:ext cx="10566400" cy="1682452"/>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 name="Google Shape;170;p8"/>
          <p:cNvCxnSpPr/>
          <p:nvPr/>
        </p:nvCxnSpPr>
        <p:spPr>
          <a:xfrm>
            <a:off x="11376025" y="3835350"/>
            <a:ext cx="0" cy="1682452"/>
          </a:xfrm>
          <a:prstGeom prst="straightConnector1">
            <a:avLst/>
          </a:prstGeom>
          <a:noFill/>
          <a:ln cap="flat" cmpd="sng" w="9525">
            <a:solidFill>
              <a:srgbClr val="DDE1DC"/>
            </a:solidFill>
            <a:prstDash val="solid"/>
            <a:round/>
            <a:headEnd len="sm" w="sm" type="none"/>
            <a:tailEnd len="sm" w="sm" type="none"/>
          </a:ln>
        </p:spPr>
      </p:cxnSp>
      <p:cxnSp>
        <p:nvCxnSpPr>
          <p:cNvPr id="171" name="Google Shape;171;p8"/>
          <p:cNvCxnSpPr/>
          <p:nvPr/>
        </p:nvCxnSpPr>
        <p:spPr>
          <a:xfrm>
            <a:off x="812800" y="551462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172" name="Google Shape;172;p8"/>
          <p:cNvGraphicFramePr/>
          <p:nvPr/>
        </p:nvGraphicFramePr>
        <p:xfrm>
          <a:off x="825500" y="3848050"/>
          <a:ext cx="10547350" cy="1691640"/>
        </p:xfrm>
        <a:graphic>
          <a:graphicData uri="http://schemas.openxmlformats.org/drawingml/2006/table">
            <a:tbl>
              <a:tblPr>
                <a:noFill/>
                <a:tableStyleId>{A582B03F-E1A5-4E7F-97B6-85D91BCEE78B}</a:tableStyleId>
              </a:tblPr>
              <a:tblGrid>
                <a:gridCol w="1476625"/>
                <a:gridCol w="4008000"/>
                <a:gridCol w="1687575"/>
                <a:gridCol w="1687575"/>
                <a:gridCol w="1687575"/>
              </a:tblGrid>
              <a:tr h="320040">
                <a:tc>
                  <a:txBody>
                    <a:bodyPr/>
                    <a:lstStyle/>
                    <a:p>
                      <a:pPr>
                        <a:lnSpc>
                          <a:spcPct val="105000"/>
                        </a:lnSpc>
                        <a:spcBef>
                          <a:spcPts val="0"/>
                        </a:spcBef>
                        <a:spcAft>
                          <a:spcPts val="0"/>
                        </a:spcAft>
                      </a:pPr>
                      <a:r>
                        <a:rPr sz="1000" b="1">
                          <a:solidFill>
                            <a:srgbClr val="FFFFFF"/>
                          </a:solidFill>
                          <a:latin typeface="Be Vietnam Pro"/>
                        </a:rPr>
                        <a:t>Sprint</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Mục tiêu sprint</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SP cam kết</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SP hoàn thành</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Tỉ lệ</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74320">
                <a:tc>
                  <a:txBody>
                    <a:bodyPr/>
                    <a:lstStyle/>
                    <a:p>
                      <a:pPr>
                        <a:lnSpc>
                          <a:spcPct val="105000"/>
                        </a:lnSpc>
                        <a:spcBef>
                          <a:spcPts val="0"/>
                        </a:spcBef>
                        <a:spcAft>
                          <a:spcPts val="0"/>
                        </a:spcAft>
                      </a:pPr>
                      <a:r>
                        <a:rPr sz="1100" b="0">
                          <a:solidFill>
                            <a:srgbClr val="142B3D"/>
                          </a:solidFill>
                          <a:latin typeface="Be Vietnam Pro"/>
                        </a:rPr>
                        <a:t>Sprint 1</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Tài khoản / phân quyền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74320">
                <a:tc>
                  <a:txBody>
                    <a:bodyPr/>
                    <a:lstStyle/>
                    <a:p>
                      <a:pPr>
                        <a:lnSpc>
                          <a:spcPct val="105000"/>
                        </a:lnSpc>
                        <a:spcBef>
                          <a:spcPts val="0"/>
                        </a:spcBef>
                        <a:spcAft>
                          <a:spcPts val="0"/>
                        </a:spcAft>
                      </a:pPr>
                      <a:r>
                        <a:rPr sz="1100" b="0">
                          <a:solidFill>
                            <a:srgbClr val="142B3D"/>
                          </a:solidFill>
                          <a:latin typeface="Be Vietnam Pro"/>
                        </a:rPr>
                        <a:t>Sprint 2</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Danh mục / cấu hình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74320">
                <a:tc>
                  <a:txBody>
                    <a:bodyPr/>
                    <a:lstStyle/>
                    <a:p>
                      <a:pPr>
                        <a:lnSpc>
                          <a:spcPct val="105000"/>
                        </a:lnSpc>
                        <a:spcBef>
                          <a:spcPts val="0"/>
                        </a:spcBef>
                        <a:spcAft>
                          <a:spcPts val="0"/>
                        </a:spcAft>
                      </a:pPr>
                      <a:r>
                        <a:rPr sz="1100" b="0">
                          <a:solidFill>
                            <a:srgbClr val="142B3D"/>
                          </a:solidFill>
                          <a:latin typeface="Be Vietnam Pro"/>
                        </a:rPr>
                        <a:t>Sprint 3</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Khách hàng 360</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74320">
                <a:tc>
                  <a:txBody>
                    <a:bodyPr/>
                    <a:lstStyle/>
                    <a:p>
                      <a:pPr>
                        <a:lnSpc>
                          <a:spcPct val="105000"/>
                        </a:lnSpc>
                        <a:spcBef>
                          <a:spcPts val="0"/>
                        </a:spcBef>
                        <a:spcAft>
                          <a:spcPts val="0"/>
                        </a:spcAft>
                      </a:pPr>
                      <a:r>
                        <a:rPr sz="1100" b="0">
                          <a:solidFill>
                            <a:srgbClr val="142B3D"/>
                          </a:solidFill>
                          <a:latin typeface="Be Vietnam Pro"/>
                        </a:rPr>
                        <a:t>Sprint 4</a:t>
                      </a:r>
                    </a:p>
                  </a:txBody>
                  <a:tcPr marT="27432" marB="27432" marR="53350" marL="53350">
                    <a:lnL cap="flat" cmpd="sng" w="12700">
                      <a:solidFill>
                        <a:srgbClr val="CACAC8"/>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Lead / phân bổ</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Chờ số liệu</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r>
              <a:tr h="274320">
                <a:tc>
                  <a:txBody>
                    <a:bodyPr/>
                    <a:lstStyle/>
                    <a:p>
                      <a:pPr>
                        <a:lnSpc>
                          <a:spcPct val="105000"/>
                        </a:lnSpc>
                        <a:spcBef>
                          <a:spcPts val="0"/>
                        </a:spcBef>
                        <a:spcAft>
                          <a:spcPts val="0"/>
                        </a:spcAft>
                      </a:pPr>
                      <a:r>
                        <a:rPr sz="1100" b="0">
                          <a:solidFill>
                            <a:srgbClr val="142B3D"/>
                          </a:solidFill>
                          <a:latin typeface="Be Vietnam Pro"/>
                        </a:rPr>
                        <a:t>Tổng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Kế hoạch gốc: 172 SP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Chưa chốt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Chưa chốt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173" name="Google Shape;173;p8"/>
          <p:cNvSpPr/>
          <p:nvPr/>
        </p:nvSpPr>
        <p:spPr>
          <a:xfrm>
            <a:off x="812800" y="6238280"/>
            <a:ext cx="4272633"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Nguồn: cần Jira Reports; không dùng SP kế hoạch thay SP cam kết</a:t>
            </a:r>
            <a:endParaRPr b="0" i="0" sz="1200" u="none" cap="none" strike="noStrike">
              <a:solidFill>
                <a:schemeClr val="dk1"/>
              </a:solidFill>
              <a:latin typeface="Calibri"/>
              <a:ea typeface="Calibri"/>
              <a:cs typeface="Calibri"/>
              <a:sym typeface="Calibri"/>
            </a:endParaRPr>
          </a:p>
        </p:txBody>
      </p:sp>
      <p:sp>
        <p:nvSpPr>
          <p:cNvPr id="174" name="Google Shape;174;p8"/>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175" name="Google Shape;175;p8"/>
          <p:cNvPicPr preferRelativeResize="0"/>
          <p:nvPr/>
        </p:nvPicPr>
        <p:blipFill rotWithShape="1">
          <a:blip r:embed="rId5">
            <a:alphaModFix/>
          </a:blip>
          <a:srcRect b="0" l="0" r="0" t="0"/>
          <a:stretch/>
        </p:blipFill>
        <p:spPr>
          <a:xfrm>
            <a:off x="4778375" y="203200"/>
            <a:ext cx="406400" cy="406400"/>
          </a:xfrm>
          <a:prstGeom prst="rect">
            <a:avLst/>
          </a:prstGeom>
          <a:noFill/>
          <a:ln>
            <a:noFill/>
          </a:ln>
        </p:spPr>
      </p:pic>
      <p:pic>
        <p:nvPicPr>
          <p:cNvPr descr="Logo CodeGym" id="176" name="Google Shape;176;p8"/>
          <p:cNvPicPr preferRelativeResize="0"/>
          <p:nvPr/>
        </p:nvPicPr>
        <p:blipFill rotWithShape="1">
          <a:blip r:embed="rId6">
            <a:alphaModFix/>
          </a:blip>
          <a:srcRect b="-50" l="0" r="0" t="-50"/>
          <a:stretch/>
        </p:blipFill>
        <p:spPr>
          <a:xfrm>
            <a:off x="5438775" y="203200"/>
            <a:ext cx="1974850" cy="406400"/>
          </a:xfrm>
          <a:prstGeom prst="rect">
            <a:avLst/>
          </a:prstGeom>
          <a:noFill/>
          <a:ln>
            <a:noFill/>
          </a:ln>
        </p:spPr>
      </p:pic>
      <p:sp>
        <p:nvSpPr>
          <p:cNvPr id="177" name="TextBox 17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178" name="TextBox 17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181" name="Shape 181"/>
        <p:cNvGrpSpPr/>
        <p:nvPr/>
      </p:nvGrpSpPr>
      <p:grpSpPr>
        <a:xfrm>
          <a:off x="0" y="0"/>
          <a:ext cx="0" cy="0"/>
          <a:chOff x="0" y="0"/>
          <a:chExt cx="0" cy="0"/>
        </a:xfrm>
      </p:grpSpPr>
      <p:sp>
        <p:nvSpPr>
          <p:cNvPr id="182" name="Google Shape;182;p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05 — MINH CHỨNG GIT</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Hoạt động phát triển trên Git (1/2)</a:t>
            </a:r>
            <a:endParaRPr b="0" i="0" sz="3200" u="none" cap="none" strike="noStrike">
              <a:solidFill>
                <a:schemeClr val="dk1"/>
              </a:solidFill>
              <a:latin typeface="Calibri"/>
              <a:ea typeface="Calibri"/>
              <a:cs typeface="Calibri"/>
              <a:sym typeface="Calibri"/>
            </a:endParaRPr>
          </a:p>
        </p:txBody>
      </p:sp>
      <p:sp>
        <p:nvSpPr>
          <p:cNvPr id="184" name="Google Shape;184;p9"/>
          <p:cNvSpPr/>
          <p:nvPr/>
        </p:nvSpPr>
        <p:spPr>
          <a:xfrm>
            <a:off x="812800" y="1803350"/>
            <a:ext cx="63500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 name="Google Shape;185;p9"/>
          <p:cNvCxnSpPr/>
          <p:nvPr/>
        </p:nvCxnSpPr>
        <p:spPr>
          <a:xfrm>
            <a:off x="71596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186" name="Google Shape;186;p9"/>
          <p:cNvCxnSpPr/>
          <p:nvPr/>
        </p:nvCxnSpPr>
        <p:spPr>
          <a:xfrm>
            <a:off x="812800" y="3815308"/>
            <a:ext cx="6350000" cy="0"/>
          </a:xfrm>
          <a:prstGeom prst="straightConnector1">
            <a:avLst/>
          </a:prstGeom>
          <a:noFill/>
          <a:ln cap="flat" cmpd="sng" w="9525">
            <a:solidFill>
              <a:srgbClr val="DDE1DC"/>
            </a:solidFill>
            <a:prstDash val="solid"/>
            <a:round/>
            <a:headEnd len="sm" w="sm" type="none"/>
            <a:tailEnd len="sm" w="sm" type="none"/>
          </a:ln>
        </p:spPr>
      </p:cxnSp>
      <p:graphicFrame>
        <p:nvGraphicFramePr>
          <p:cNvPr id="187" name="Google Shape;187;p9"/>
          <p:cNvGraphicFramePr/>
          <p:nvPr/>
        </p:nvGraphicFramePr>
        <p:xfrm>
          <a:off x="825500" y="1816050"/>
          <a:ext cx="6330950" cy="1920240"/>
        </p:xfrm>
        <a:graphic>
          <a:graphicData uri="http://schemas.openxmlformats.org/drawingml/2006/table">
            <a:tbl>
              <a:tblPr>
                <a:noFill/>
                <a:tableStyleId>{A582B03F-E1A5-4E7F-97B6-85D91BCEE78B}</a:tableStyleId>
              </a:tblPr>
              <a:tblGrid>
                <a:gridCol w="2025900"/>
                <a:gridCol w="1012950"/>
                <a:gridCol w="1139575"/>
                <a:gridCol w="1139575"/>
                <a:gridCol w="1012950"/>
              </a:tblGrid>
              <a:tr h="329184">
                <a:tc>
                  <a:txBody>
                    <a:bodyPr/>
                    <a:lstStyle/>
                    <a:p>
                      <a:pPr>
                        <a:lnSpc>
                          <a:spcPct val="105000"/>
                        </a:lnSpc>
                        <a:spcBef>
                          <a:spcPts val="0"/>
                        </a:spcBef>
                        <a:spcAft>
                          <a:spcPts val="0"/>
                        </a:spcAft>
                      </a:pPr>
                      <a:r>
                        <a:rPr sz="1000" b="1">
                          <a:solidFill>
                            <a:srgbClr val="FFFFFF"/>
                          </a:solidFill>
                          <a:latin typeface="Be Vietnam Pro"/>
                        </a:rPr>
                        <a:t>Thành viên</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Commit</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merge</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review</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 dòng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65176">
                <a:tc>
                  <a:txBody>
                    <a:bodyPr/>
                    <a:lstStyle/>
                    <a:p>
                      <a:pPr>
                        <a:lnSpc>
                          <a:spcPct val="105000"/>
                        </a:lnSpc>
                        <a:spcBef>
                          <a:spcPts val="0"/>
                        </a:spcBef>
                        <a:spcAft>
                          <a:spcPts val="0"/>
                        </a:spcAft>
                      </a:pPr>
                      <a:r>
                        <a:rPr sz="1100" b="0">
                          <a:solidFill>
                            <a:srgbClr val="142B3D"/>
                          </a:solidFill>
                          <a:latin typeface="Be Vietnam Pro"/>
                        </a:rPr>
                        <a:t>Triệu Quang Dũng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Lê Minh Danh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Đỗ Tuấn Dũng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Nguyễn Trần Việt 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Nguyễn Thùy Chang</a:t>
                      </a:r>
                    </a:p>
                  </a:txBody>
                  <a:tcPr marT="27432" marB="27432" marR="53350" marL="53350">
                    <a:lnL cap="flat" cmpd="sng" w="12700">
                      <a:solidFill>
                        <a:srgbClr val="CACAC8"/>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r>
              <a:tr h="265176">
                <a:tc>
                  <a:txBody>
                    <a:bodyPr/>
                    <a:lstStyle/>
                    <a:p>
                      <a:pPr>
                        <a:lnSpc>
                          <a:spcPct val="105000"/>
                        </a:lnSpc>
                        <a:spcBef>
                          <a:spcPts val="0"/>
                        </a:spcBef>
                        <a:spcAft>
                          <a:spcPts val="0"/>
                        </a:spcAft>
                      </a:pPr>
                      <a:r>
                        <a:rPr sz="1100" b="0">
                          <a:solidFill>
                            <a:srgbClr val="142B3D"/>
                          </a:solidFill>
                          <a:latin typeface="Be Vietnam Pro"/>
                        </a:rPr>
                        <a:t>Tổng nhóm con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188" name="Google Shape;188;p9"/>
          <p:cNvSpPr/>
          <p:nvPr/>
        </p:nvSpPr>
        <p:spPr>
          <a:xfrm>
            <a:off x="815975" y="3974058"/>
            <a:ext cx="6343650" cy="1428601"/>
          </a:xfrm>
          <a:prstGeom prst="roundRect">
            <a:avLst>
              <a:gd fmla="val 689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1022350" y="4155033"/>
            <a:ext cx="610882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Cách lấy số liệu</a:t>
            </a:r>
            <a:endParaRPr b="0" i="0" sz="1800" u="none" cap="none" strike="noStrike">
              <a:solidFill>
                <a:schemeClr val="dk1"/>
              </a:solidFill>
              <a:latin typeface="Calibri"/>
              <a:ea typeface="Calibri"/>
              <a:cs typeface="Calibri"/>
              <a:sym typeface="Calibri"/>
            </a:endParaRPr>
          </a:p>
        </p:txBody>
      </p:sp>
      <p:sp>
        <p:nvSpPr>
          <p:cNvPr id="190" name="Google Shape;190;p9"/>
          <p:cNvSpPr/>
          <p:nvPr/>
        </p:nvSpPr>
        <p:spPr>
          <a:xfrm>
            <a:off x="1022350" y="4505523"/>
            <a:ext cx="6108827"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JetBrains Mono"/>
              <a:buNone/>
            </a:pPr>
            <a:pPr indent="0" lvl="0" marL="0" marR="0" rtl="0" algn="l">
              <a:lnSpc>
                <a:spcPct val="140000"/>
              </a:lnSpc>
              <a:spcBef>
                <a:spcPts val="0"/>
              </a:spcBef>
              <a:spcAft>
                <a:spcPts val="0"/>
              </a:spcAft>
              <a:buClr>
                <a:srgbClr val="2556C4"/>
              </a:buClr>
              <a:buSzPts val="1200"/>
              <a:buFont typeface="JetBrains Mono"/>
              <a:buNone/>
            </a:pPr>
            <a:r>
              <a:rPr b="0" i="0" lang="en-US" sz="1200" u="none" cap="none" strike="noStrike">
                <a:solidFill>
                  <a:srgbClr val="2556C4"/>
                </a:solidFill>
                <a:latin typeface="Be Vietnam Pro"/>
                <a:ea typeface="JetBrains Mono"/>
                <a:cs typeface="JetBrains Mono"/>
                <a:sym typeface="JetBrains Mono"/>
              </a:rPr>
              <a:t>git shortlog -sn --no-merges</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2556C4"/>
              </a:buClr>
              <a:buSzPts val="1200"/>
              <a:buFont typeface="JetBrains Mono"/>
              <a:buNone/>
            </a:pPr>
            <a:r>
              <a:rPr b="0" i="0" lang="en-US" sz="1200" u="none" cap="none" strike="noStrike">
                <a:solidFill>
                  <a:srgbClr val="2556C4"/>
                </a:solidFill>
                <a:latin typeface="Be Vietnam Pro"/>
                <a:ea typeface="JetBrains Mono"/>
                <a:cs typeface="JetBrains Mono"/>
                <a:sym typeface="JetBrains Mono"/>
              </a:rPr>
              <a:t>git log --author="tên" --numstat</a:t>
            </a:r>
          </a:p>
        </p:txBody>
      </p:sp>
      <p:sp>
        <p:nvSpPr>
          <p:cNvPr id="191" name="Google Shape;191;p9"/>
          <p:cNvSpPr/>
          <p:nvPr/>
        </p:nvSpPr>
        <p:spPr>
          <a:xfrm>
            <a:off x="1022350" y="5008364"/>
            <a:ext cx="610882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Hoặc GitHub / GitLab › Insights › Contributors</a:t>
            </a:r>
            <a:endParaRPr b="0" i="0" sz="1200" u="none" cap="none" strike="noStrike">
              <a:solidFill>
                <a:schemeClr val="dk1"/>
              </a:solidFill>
              <a:latin typeface="Calibri"/>
              <a:ea typeface="Calibri"/>
              <a:cs typeface="Calibri"/>
              <a:sym typeface="Calibri"/>
            </a:endParaRPr>
          </a:p>
        </p:txBody>
      </p:sp>
      <p:sp>
        <p:nvSpPr>
          <p:cNvPr id="192" name="Google Shape;192;p9"/>
          <p:cNvSpPr/>
          <p:nvPr/>
        </p:nvSpPr>
        <p:spPr>
          <a:xfrm>
            <a:off x="7423150" y="1809700"/>
            <a:ext cx="3949700" cy="4025950"/>
          </a:xfrm>
          <a:prstGeom prst="roundRect">
            <a:avLst>
              <a:gd fmla="val 2412"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93" name="Google Shape;193;p9"/>
          <p:cNvPicPr preferRelativeResize="0"/>
          <p:nvPr/>
        </p:nvPicPr>
        <p:blipFill rotWithShape="1">
          <a:blip r:embed="rId3">
            <a:alphaModFix/>
          </a:blip>
          <a:srcRect b="0" l="0" r="0" t="0"/>
          <a:stretch/>
        </p:blipFill>
        <p:spPr>
          <a:xfrm>
            <a:off x="9194800" y="3187700"/>
            <a:ext cx="406400" cy="406400"/>
          </a:xfrm>
          <a:prstGeom prst="rect">
            <a:avLst/>
          </a:prstGeom>
          <a:noFill/>
          <a:ln>
            <a:noFill/>
          </a:ln>
        </p:spPr>
      </p:pic>
      <p:sp>
        <p:nvSpPr>
          <p:cNvPr id="194" name="Google Shape;194;p9"/>
          <p:cNvSpPr/>
          <p:nvPr/>
        </p:nvSpPr>
        <p:spPr>
          <a:xfrm>
            <a:off x="7579741" y="3670300"/>
            <a:ext cx="3636518" cy="52318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300" u="none" cap="none" strike="noStrike">
                <a:solidFill>
                  <a:srgbClr val="C17B10"/>
                </a:solidFill>
                <a:latin typeface="Be Vietnam Pro"/>
                <a:ea typeface="Be Vietnam Pro"/>
                <a:cs typeface="Be Vietnam Pro"/>
                <a:sym typeface="Be Vietnam Pro"/>
              </a:rPr>
              <a:t>CẦN ẢNH CONTRIBUTORS / COMMIT GRAPH</a:t>
            </a:r>
            <a:endParaRPr b="0" i="0" sz="1400" u="none" cap="none" strike="noStrike">
              <a:solidFill>
                <a:schemeClr val="dk1"/>
              </a:solidFill>
              <a:latin typeface="Calibri"/>
              <a:ea typeface="Calibri"/>
              <a:cs typeface="Calibri"/>
              <a:sym typeface="Calibri"/>
            </a:endParaRPr>
          </a:p>
        </p:txBody>
      </p:sp>
      <p:sp>
        <p:nvSpPr>
          <p:cNvPr id="195" name="Google Shape;195;p9"/>
          <p:cNvSpPr/>
          <p:nvPr/>
        </p:nvSpPr>
        <p:spPr>
          <a:xfrm>
            <a:off x="7799359" y="4244280"/>
            <a:ext cx="3197231" cy="23872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5A6573"/>
              </a:buClr>
              <a:buSzPts val="1200"/>
              <a:buFont typeface="Be Vietnam Pro"/>
              <a:buNone/>
            </a:pPr>
            <a:pPr indent="0" lvl="0" marL="0" marR="0" rtl="0" algn="ctr">
              <a:lnSpc>
                <a:spcPct val="140000"/>
              </a:lnSpc>
              <a:spcBef>
                <a:spcPts val="0"/>
              </a:spcBef>
              <a:spcAft>
                <a:spcPts val="0"/>
              </a:spcAft>
              <a:buClr>
                <a:srgbClr val="5A6573"/>
              </a:buClr>
              <a:buSzPts val="1200"/>
              <a:buFont typeface="Be Vietnam Pro"/>
              <a:buNone/>
            </a:pPr>
            <a:r>
              <a:rPr b="0" i="0" lang="en-US" sz="1000" u="none" cap="none" strike="noStrike">
                <a:solidFill>
                  <a:srgbClr val="C17B10"/>
                </a:solidFill>
                <a:latin typeface="Be Vietnam Pro"/>
                <a:ea typeface="Be Vietnam Pro"/>
                <a:cs typeface="Be Vietnam Pro"/>
                <a:sym typeface="Be Vietnam Pro"/>
              </a:rPr>
              <a:t>Đúng repository, nhánh và kỳ thống kê</a:t>
            </a:r>
            <a:endParaRPr b="0" i="0" sz="1200" u="none" cap="none" strike="noStrike">
              <a:solidFill>
                <a:schemeClr val="dk1"/>
              </a:solidFill>
              <a:latin typeface="Calibri"/>
              <a:ea typeface="Calibri"/>
              <a:cs typeface="Calibri"/>
              <a:sym typeface="Calibri"/>
            </a:endParaRPr>
          </a:p>
        </p:txBody>
      </p:sp>
      <p:sp>
        <p:nvSpPr>
          <p:cNvPr id="196" name="Google Shape;196;p9"/>
          <p:cNvSpPr/>
          <p:nvPr/>
        </p:nvSpPr>
        <p:spPr>
          <a:xfrm>
            <a:off x="812800" y="6238280"/>
            <a:ext cx="421519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Git: QuangDung1708/TTCS_N1 · đến 21/10 · chờ thống kê</a:t>
            </a:r>
            <a:endParaRPr b="0" i="0" sz="1200" u="none" cap="none" strike="noStrike">
              <a:solidFill>
                <a:schemeClr val="dk1"/>
              </a:solidFill>
              <a:latin typeface="Calibri"/>
              <a:ea typeface="Calibri"/>
              <a:cs typeface="Calibri"/>
              <a:sym typeface="Calibri"/>
            </a:endParaRPr>
          </a:p>
        </p:txBody>
      </p:sp>
      <p:sp>
        <p:nvSpPr>
          <p:cNvPr id="197" name="Google Shape;197;p9"/>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198" name="Google Shape;198;p9"/>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199" name="Google Shape;199;p9"/>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200" name="TextBox 199"/>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201" name="TextBox 200"/>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7</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204" name="Shape 204"/>
        <p:cNvGrpSpPr/>
        <p:nvPr/>
      </p:nvGrpSpPr>
      <p:grpSpPr>
        <a:xfrm>
          <a:off x="0" y="0"/>
          <a:ext cx="0" cy="0"/>
          <a:chOff x="0" y="0"/>
          <a:chExt cx="0" cy="0"/>
        </a:xfrm>
      </p:grpSpPr>
      <p:sp>
        <p:nvSpPr>
          <p:cNvPr id="205" name="Google Shape;205;p1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06 — MINH CHỨNG GIT</a:t>
            </a:r>
            <a:endParaRPr b="0" i="0" sz="1200" u="none" cap="none" strike="noStrike">
              <a:solidFill>
                <a:schemeClr val="dk1"/>
              </a:solidFill>
              <a:latin typeface="Calibri"/>
              <a:ea typeface="Calibri"/>
              <a:cs typeface="Calibri"/>
              <a:sym typeface="Calibri"/>
            </a:endParaRPr>
          </a:p>
        </p:txBody>
      </p:sp>
      <p:sp>
        <p:nvSpPr>
          <p:cNvPr id="206" name="Google Shape;206;p10"/>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Quy trình Git &amp; Pull Request tiêu biểu</a:t>
            </a:r>
            <a:endParaRPr b="0" i="0" sz="3200" u="none" cap="none" strike="noStrike">
              <a:solidFill>
                <a:schemeClr val="dk1"/>
              </a:solidFill>
              <a:latin typeface="Calibri"/>
              <a:ea typeface="Calibri"/>
              <a:cs typeface="Calibri"/>
              <a:sym typeface="Calibri"/>
            </a:endParaRPr>
          </a:p>
        </p:txBody>
      </p:sp>
      <p:sp>
        <p:nvSpPr>
          <p:cNvPr id="207" name="Google Shape;207;p10"/>
          <p:cNvSpPr/>
          <p:nvPr/>
        </p:nvSpPr>
        <p:spPr>
          <a:xfrm>
            <a:off x="812800" y="1803350"/>
            <a:ext cx="536321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Mô hình nhánh</a:t>
            </a:r>
            <a:endParaRPr b="0" i="0" sz="1800" u="none" cap="none" strike="noStrike">
              <a:solidFill>
                <a:schemeClr val="dk1"/>
              </a:solidFill>
              <a:latin typeface="Calibri"/>
              <a:ea typeface="Calibri"/>
              <a:cs typeface="Calibri"/>
              <a:sym typeface="Calibri"/>
            </a:endParaRPr>
          </a:p>
        </p:txBody>
      </p:sp>
      <p:sp>
        <p:nvSpPr>
          <p:cNvPr id="208" name="Google Shape;208;p10"/>
          <p:cNvSpPr/>
          <p:nvPr/>
        </p:nvSpPr>
        <p:spPr>
          <a:xfrm>
            <a:off x="812800" y="2230041"/>
            <a:ext cx="1127770" cy="365720"/>
          </a:xfrm>
          <a:prstGeom prst="roundRect">
            <a:avLst>
              <a:gd fmla="val 48616" name="adj"/>
            </a:avLst>
          </a:prstGeom>
          <a:solidFill>
            <a:srgbClr val="255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965200" y="2306241"/>
            <a:ext cx="87377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7F4"/>
              </a:buClr>
              <a:buSzPts val="1200"/>
              <a:buFont typeface="JetBrains Mono"/>
              <a:buNone/>
            </a:pPr>
            <a:r>
              <a:rPr b="0" i="0" lang="en-US" sz="1200" u="none" cap="none" strike="noStrike">
                <a:solidFill>
                  <a:srgbClr val="F6F7F4"/>
                </a:solidFill>
                <a:latin typeface="JetBrains Mono"/>
                <a:ea typeface="JetBrains Mono"/>
                <a:cs typeface="JetBrains Mono"/>
                <a:sym typeface="JetBrains Mono"/>
              </a:rPr>
              <a:t>feature/*</a:t>
            </a:r>
            <a:endParaRPr b="0" i="0" sz="1200" u="none" cap="none" strike="noStrike">
              <a:solidFill>
                <a:schemeClr val="dk1"/>
              </a:solidFill>
              <a:latin typeface="Calibri"/>
              <a:ea typeface="Calibri"/>
              <a:cs typeface="Calibri"/>
              <a:sym typeface="Calibri"/>
            </a:endParaRPr>
          </a:p>
        </p:txBody>
      </p:sp>
      <p:pic>
        <p:nvPicPr>
          <p:cNvPr descr="arrow-right" id="210" name="Google Shape;210;p10"/>
          <p:cNvPicPr preferRelativeResize="0"/>
          <p:nvPr/>
        </p:nvPicPr>
        <p:blipFill rotWithShape="1">
          <a:blip r:embed="rId3">
            <a:alphaModFix/>
          </a:blip>
          <a:srcRect b="0" l="0" r="0" t="0"/>
          <a:stretch/>
        </p:blipFill>
        <p:spPr>
          <a:xfrm>
            <a:off x="2042170" y="2324001"/>
            <a:ext cx="355600" cy="177800"/>
          </a:xfrm>
          <a:prstGeom prst="rect">
            <a:avLst/>
          </a:prstGeom>
          <a:noFill/>
          <a:ln>
            <a:noFill/>
          </a:ln>
        </p:spPr>
      </p:pic>
      <p:sp>
        <p:nvSpPr>
          <p:cNvPr id="211" name="Google Shape;211;p10"/>
          <p:cNvSpPr/>
          <p:nvPr/>
        </p:nvSpPr>
        <p:spPr>
          <a:xfrm>
            <a:off x="2499370" y="2230041"/>
            <a:ext cx="944910" cy="365720"/>
          </a:xfrm>
          <a:prstGeom prst="roundRect">
            <a:avLst>
              <a:gd fmla="val 48616"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2651770" y="2306241"/>
            <a:ext cx="6909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7F4"/>
              </a:buClr>
              <a:buSzPts val="1200"/>
              <a:buFont typeface="JetBrains Mono"/>
              <a:buNone/>
            </a:pPr>
            <a:r>
              <a:rPr b="0" i="0" lang="en-US" sz="1200" u="none" cap="none" strike="noStrike">
                <a:solidFill>
                  <a:srgbClr val="F6F7F4"/>
                </a:solidFill>
                <a:latin typeface="JetBrains Mono"/>
                <a:ea typeface="JetBrains Mono"/>
                <a:cs typeface="JetBrains Mono"/>
                <a:sym typeface="JetBrains Mono"/>
              </a:rPr>
              <a:t>develop</a:t>
            </a:r>
            <a:endParaRPr b="0" i="0" sz="1200" u="none" cap="none" strike="noStrike">
              <a:solidFill>
                <a:schemeClr val="dk1"/>
              </a:solidFill>
              <a:latin typeface="Calibri"/>
              <a:ea typeface="Calibri"/>
              <a:cs typeface="Calibri"/>
              <a:sym typeface="Calibri"/>
            </a:endParaRPr>
          </a:p>
        </p:txBody>
      </p:sp>
      <p:pic>
        <p:nvPicPr>
          <p:cNvPr descr="arrow-right" id="213" name="Google Shape;213;p10"/>
          <p:cNvPicPr preferRelativeResize="0"/>
          <p:nvPr/>
        </p:nvPicPr>
        <p:blipFill rotWithShape="1">
          <a:blip r:embed="rId3">
            <a:alphaModFix/>
          </a:blip>
          <a:srcRect b="0" l="0" r="0" t="0"/>
          <a:stretch/>
        </p:blipFill>
        <p:spPr>
          <a:xfrm>
            <a:off x="3545880" y="2324001"/>
            <a:ext cx="355600" cy="177800"/>
          </a:xfrm>
          <a:prstGeom prst="rect">
            <a:avLst/>
          </a:prstGeom>
          <a:noFill/>
          <a:ln>
            <a:noFill/>
          </a:ln>
        </p:spPr>
      </p:pic>
      <p:sp>
        <p:nvSpPr>
          <p:cNvPr id="214" name="Google Shape;214;p10"/>
          <p:cNvSpPr/>
          <p:nvPr/>
        </p:nvSpPr>
        <p:spPr>
          <a:xfrm>
            <a:off x="4003080" y="2230041"/>
            <a:ext cx="670570" cy="365720"/>
          </a:xfrm>
          <a:prstGeom prst="roundRect">
            <a:avLst>
              <a:gd fmla="val 48616" name="adj"/>
            </a:avLst>
          </a:prstGeom>
          <a:solidFill>
            <a:srgbClr val="F28C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4155480" y="2306241"/>
            <a:ext cx="41657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2263A"/>
              </a:buClr>
              <a:buSzPts val="1200"/>
              <a:buFont typeface="JetBrains Mono"/>
              <a:buNone/>
            </a:pPr>
            <a:r>
              <a:rPr b="0" i="0" lang="en-US" sz="1200" u="none" cap="none" strike="noStrike">
                <a:solidFill>
                  <a:srgbClr val="12263A"/>
                </a:solidFill>
                <a:latin typeface="JetBrains Mono"/>
                <a:ea typeface="JetBrains Mono"/>
                <a:cs typeface="JetBrains Mono"/>
                <a:sym typeface="JetBrains Mono"/>
              </a:rPr>
              <a:t>main</a:t>
            </a:r>
            <a:endParaRPr b="0" i="0" sz="1200" u="none" cap="none" strike="noStrike">
              <a:solidFill>
                <a:schemeClr val="dk1"/>
              </a:solidFill>
              <a:latin typeface="Calibri"/>
              <a:ea typeface="Calibri"/>
              <a:cs typeface="Calibri"/>
              <a:sym typeface="Calibri"/>
            </a:endParaRPr>
          </a:p>
        </p:txBody>
      </p:sp>
      <p:sp>
        <p:nvSpPr>
          <p:cNvPr id="216" name="Google Shape;216;p10"/>
          <p:cNvSpPr/>
          <p:nvPr/>
        </p:nvSpPr>
        <p:spPr>
          <a:xfrm>
            <a:off x="812800" y="2748161"/>
            <a:ext cx="536321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Merge vào develop qua PR; main chỉ nhận bản phát hành</a:t>
            </a:r>
            <a:endParaRPr b="0" i="0" sz="1200" u="none" cap="none" strike="noStrike">
              <a:solidFill>
                <a:schemeClr val="dk1"/>
              </a:solidFill>
              <a:latin typeface="Calibri"/>
              <a:ea typeface="Calibri"/>
              <a:cs typeface="Calibri"/>
              <a:sym typeface="Calibri"/>
            </a:endParaRPr>
          </a:p>
        </p:txBody>
      </p:sp>
      <p:sp>
        <p:nvSpPr>
          <p:cNvPr id="217" name="Google Shape;217;p10"/>
          <p:cNvSpPr/>
          <p:nvPr/>
        </p:nvSpPr>
        <p:spPr>
          <a:xfrm>
            <a:off x="815975" y="3117056"/>
            <a:ext cx="5200650" cy="2721769"/>
          </a:xfrm>
          <a:prstGeom prst="roundRect">
            <a:avLst>
              <a:gd fmla="val 3616"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1022350" y="3298031"/>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Quy tắc nhóm áp dụng</a:t>
            </a:r>
            <a:endParaRPr b="0" i="0" sz="1800" u="none" cap="none" strike="noStrike">
              <a:solidFill>
                <a:schemeClr val="dk1"/>
              </a:solidFill>
              <a:latin typeface="Calibri"/>
              <a:ea typeface="Calibri"/>
              <a:cs typeface="Calibri"/>
              <a:sym typeface="Calibri"/>
            </a:endParaRPr>
          </a:p>
        </p:txBody>
      </p:sp>
      <p:sp>
        <p:nvSpPr>
          <p:cNvPr id="219" name="Google Shape;219;p10"/>
          <p:cNvSpPr/>
          <p:nvPr/>
        </p:nvSpPr>
        <p:spPr>
          <a:xfrm>
            <a:off x="1022350" y="3648521"/>
            <a:ext cx="4931537" cy="102096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Mô hình mong muốn: feature → develop → main.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Cần PR thật có góp ý và chỉnh sửa sau review.</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CI frontend đã ghi nhận Success.</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Chưa đủ bằng chứng mọi PR có ≥1 review.</a:t>
            </a:r>
          </a:p>
        </p:txBody>
      </p:sp>
      <p:sp>
        <p:nvSpPr>
          <p:cNvPr id="220" name="Google Shape;220;p10"/>
          <p:cNvSpPr/>
          <p:nvPr/>
        </p:nvSpPr>
        <p:spPr>
          <a:xfrm>
            <a:off x="6280150" y="1809700"/>
            <a:ext cx="5092700" cy="3711029"/>
          </a:xfrm>
          <a:prstGeom prst="roundRect">
            <a:avLst>
              <a:gd fmla="val 2567"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221" name="Google Shape;221;p10"/>
          <p:cNvPicPr preferRelativeResize="0"/>
          <p:nvPr/>
        </p:nvPicPr>
        <p:blipFill rotWithShape="1">
          <a:blip r:embed="rId4">
            <a:alphaModFix/>
          </a:blip>
          <a:srcRect b="0" l="0" r="0" t="0"/>
          <a:stretch/>
        </p:blipFill>
        <p:spPr>
          <a:xfrm>
            <a:off x="8623300" y="3154710"/>
            <a:ext cx="406400" cy="406400"/>
          </a:xfrm>
          <a:prstGeom prst="rect">
            <a:avLst/>
          </a:prstGeom>
          <a:noFill/>
          <a:ln>
            <a:noFill/>
          </a:ln>
        </p:spPr>
      </p:pic>
      <p:sp>
        <p:nvSpPr>
          <p:cNvPr id="222" name="Google Shape;222;p10"/>
          <p:cNvSpPr/>
          <p:nvPr/>
        </p:nvSpPr>
        <p:spPr>
          <a:xfrm>
            <a:off x="7034710" y="3637310"/>
            <a:ext cx="3583581"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300" u="none" cap="none" strike="noStrike">
                <a:solidFill>
                  <a:srgbClr val="C17B10"/>
                </a:solidFill>
                <a:latin typeface="Be Vietnam Pro"/>
                <a:ea typeface="Be Vietnam Pro"/>
                <a:cs typeface="Be Vietnam Pro"/>
                <a:sym typeface="Be Vietnam Pro"/>
              </a:rPr>
              <a:t>CẦN ẢNH PR CÓ CODE REVIEW</a:t>
            </a:r>
            <a:endParaRPr b="0" i="0" sz="1400" u="none" cap="none" strike="noStrike">
              <a:solidFill>
                <a:schemeClr val="dk1"/>
              </a:solidFill>
              <a:latin typeface="Calibri"/>
              <a:ea typeface="Calibri"/>
              <a:cs typeface="Calibri"/>
              <a:sym typeface="Calibri"/>
            </a:endParaRPr>
          </a:p>
        </p:txBody>
      </p:sp>
      <p:sp>
        <p:nvSpPr>
          <p:cNvPr id="223" name="Google Shape;223;p10"/>
          <p:cNvSpPr/>
          <p:nvPr/>
        </p:nvSpPr>
        <p:spPr>
          <a:xfrm>
            <a:off x="6962458" y="3962400"/>
            <a:ext cx="3728085" cy="23872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5A6573"/>
              </a:buClr>
              <a:buSzPts val="1200"/>
              <a:buFont typeface="Be Vietnam Pro"/>
              <a:buNone/>
            </a:pPr>
            <a:pPr indent="0" lvl="0" marL="0" marR="0" rtl="0" algn="ctr">
              <a:lnSpc>
                <a:spcPct val="140000"/>
              </a:lnSpc>
              <a:spcBef>
                <a:spcPts val="0"/>
              </a:spcBef>
              <a:spcAft>
                <a:spcPts val="0"/>
              </a:spcAft>
              <a:buClr>
                <a:srgbClr val="5A6573"/>
              </a:buClr>
              <a:buSzPts val="1200"/>
              <a:buFont typeface="Be Vietnam Pro"/>
              <a:buNone/>
            </a:pPr>
            <a:r>
              <a:rPr b="0" i="0" lang="en-US" sz="1000" u="none" cap="none" strike="noStrike">
                <a:solidFill>
                  <a:srgbClr val="C17B10"/>
                </a:solidFill>
                <a:latin typeface="Be Vietnam Pro"/>
                <a:ea typeface="Be Vietnam Pro"/>
                <a:cs typeface="Be Vietnam Pro"/>
                <a:sym typeface="Be Vietnam Pro"/>
              </a:rPr>
              <a:t>Rõ người review, góp ý và commit sửa sau đó</a:t>
            </a:r>
            <a:endParaRPr b="0" i="0" sz="1200" u="none" cap="none" strike="noStrike">
              <a:solidFill>
                <a:schemeClr val="dk1"/>
              </a:solidFill>
              <a:latin typeface="Calibri"/>
              <a:ea typeface="Calibri"/>
              <a:cs typeface="Calibri"/>
              <a:sym typeface="Calibri"/>
            </a:endParaRPr>
          </a:p>
        </p:txBody>
      </p:sp>
      <p:sp>
        <p:nvSpPr>
          <p:cNvPr id="224" name="Google Shape;224;p10"/>
          <p:cNvSpPr/>
          <p:nvPr/>
        </p:nvSpPr>
        <p:spPr>
          <a:xfrm>
            <a:off x="6273800" y="5628680"/>
            <a:ext cx="525856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200"/>
              <a:buFont typeface="Be Vietnam Pro"/>
              <a:buNone/>
            </a:pPr>
            <a:pPr indent="0" lvl="0" marL="0" marR="0" rtl="0" algn="l">
              <a:lnSpc>
                <a:spcPct val="140000"/>
              </a:lnSpc>
              <a:spcBef>
                <a:spcPts val="0"/>
              </a:spcBef>
              <a:spcAft>
                <a:spcPts val="0"/>
              </a:spcAft>
              <a:buClr>
                <a:srgbClr val="3F4A57"/>
              </a:buClr>
              <a:buSzPts val="1200"/>
              <a:buFont typeface="Be Vietnam Pro"/>
              <a:buNone/>
            </a:pPr>
            <a:r>
              <a:rPr b="0" i="0" lang="en-US" sz="1100" u="none" cap="none" strike="noStrike">
                <a:solidFill>
                  <a:srgbClr val="C17B10"/>
                </a:solidFill>
                <a:latin typeface="Be Vietnam Pro"/>
                <a:ea typeface="Be Vietnam Pro"/>
                <a:cs typeface="Be Vietnam Pro"/>
                <a:sym typeface="Be Vietnam Pro"/>
              </a:rPr>
              <a:t>Cần số PR, URL và số bình luận review thực tế</a:t>
            </a:r>
            <a:endParaRPr b="0" i="0" sz="1200" u="none" cap="none" strike="noStrike">
              <a:solidFill>
                <a:schemeClr val="dk1"/>
              </a:solidFill>
              <a:latin typeface="Calibri"/>
              <a:ea typeface="Calibri"/>
              <a:cs typeface="Calibri"/>
              <a:sym typeface="Calibri"/>
            </a:endParaRPr>
          </a:p>
        </p:txBody>
      </p:sp>
      <p:sp>
        <p:nvSpPr>
          <p:cNvPr id="225" name="Google Shape;225;p10"/>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226" name="Google Shape;226;p10"/>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227" name="Google Shape;227;p10"/>
          <p:cNvPicPr preferRelativeResize="0"/>
          <p:nvPr/>
        </p:nvPicPr>
        <p:blipFill rotWithShape="1">
          <a:blip r:embed="rId5">
            <a:alphaModFix/>
          </a:blip>
          <a:srcRect b="0" l="0" r="0" t="0"/>
          <a:stretch/>
        </p:blipFill>
        <p:spPr>
          <a:xfrm>
            <a:off x="4778375" y="203200"/>
            <a:ext cx="406400" cy="406400"/>
          </a:xfrm>
          <a:prstGeom prst="rect">
            <a:avLst/>
          </a:prstGeom>
          <a:noFill/>
          <a:ln>
            <a:noFill/>
          </a:ln>
        </p:spPr>
      </p:pic>
      <p:pic>
        <p:nvPicPr>
          <p:cNvPr descr="Logo CodeGym" id="228" name="Google Shape;228;p10"/>
          <p:cNvPicPr preferRelativeResize="0"/>
          <p:nvPr/>
        </p:nvPicPr>
        <p:blipFill rotWithShape="1">
          <a:blip r:embed="rId6">
            <a:alphaModFix/>
          </a:blip>
          <a:srcRect b="-50" l="0" r="0" t="-50"/>
          <a:stretch/>
        </p:blipFill>
        <p:spPr>
          <a:xfrm>
            <a:off x="5438775" y="203200"/>
            <a:ext cx="1974850" cy="406400"/>
          </a:xfrm>
          <a:prstGeom prst="rect">
            <a:avLst/>
          </a:prstGeom>
          <a:noFill/>
          <a:ln>
            <a:noFill/>
          </a:ln>
        </p:spPr>
      </p:pic>
      <p:sp>
        <p:nvSpPr>
          <p:cNvPr id="229" name="TextBox 228"/>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230" name="TextBox 229"/>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9</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233" name="Shape 233"/>
        <p:cNvGrpSpPr/>
        <p:nvPr/>
      </p:nvGrpSpPr>
      <p:grpSpPr>
        <a:xfrm>
          <a:off x="0" y="0"/>
          <a:ext cx="0" cy="0"/>
          <a:chOff x="0" y="0"/>
          <a:chExt cx="0" cy="0"/>
        </a:xfrm>
      </p:grpSpPr>
      <p:sp>
        <p:nvSpPr>
          <p:cNvPr id="234" name="Google Shape;234;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07 — KẾT QUẢ SẢN PHẨM</a:t>
            </a:r>
            <a:endParaRPr b="0" i="0" sz="1200" u="none" cap="none" strike="noStrike">
              <a:solidFill>
                <a:schemeClr val="dk1"/>
              </a:solidFill>
              <a:latin typeface="Calibri"/>
              <a:ea typeface="Calibri"/>
              <a:cs typeface="Calibri"/>
              <a:sym typeface="Calibri"/>
            </a:endParaRPr>
          </a:p>
        </p:txBody>
      </p:sp>
      <p:sp>
        <p:nvSpPr>
          <p:cNvPr id="235" name="Google Shape;235;p11"/>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150" u="none" cap="none" strike="noStrike">
                <a:solidFill>
                  <a:srgbClr val="12263A"/>
                </a:solidFill>
                <a:latin typeface="Be Vietnam Pro"/>
                <a:ea typeface="Be Vietnam Pro"/>
                <a:cs typeface="Be Vietnam Pro"/>
                <a:sym typeface="Be Vietnam Pro"/>
              </a:rPr>
              <a:t>Sản phẩm và kết quả hiện có</a:t>
            </a:r>
            <a:endParaRPr b="0" i="0" sz="3200" u="none" cap="none" strike="noStrike">
              <a:solidFill>
                <a:schemeClr val="dk1"/>
              </a:solidFill>
              <a:latin typeface="Calibri"/>
              <a:ea typeface="Calibri"/>
              <a:cs typeface="Calibri"/>
              <a:sym typeface="Calibri"/>
            </a:endParaRPr>
          </a:p>
        </p:txBody>
      </p:sp>
      <p:sp>
        <p:nvSpPr>
          <p:cNvPr id="236" name="Google Shape;236;p11"/>
          <p:cNvSpPr/>
          <p:nvPr/>
        </p:nvSpPr>
        <p:spPr>
          <a:xfrm>
            <a:off x="819150" y="1809700"/>
            <a:ext cx="6235700" cy="4025950"/>
          </a:xfrm>
          <a:prstGeom prst="roundRect">
            <a:avLst>
              <a:gd fmla="val 2366"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7318375" y="1806525"/>
            <a:ext cx="4057650" cy="1708001"/>
          </a:xfrm>
          <a:prstGeom prst="roundRect">
            <a:avLst>
              <a:gd fmla="val 5763"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7524750" y="1987500"/>
            <a:ext cx="3754247"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700" u="none" cap="none" strike="noStrike">
                <a:solidFill>
                  <a:srgbClr val="12263A"/>
                </a:solidFill>
                <a:latin typeface="Be Vietnam Pro"/>
                <a:ea typeface="Be Vietnam Pro"/>
                <a:cs typeface="Be Vietnam Pro"/>
                <a:sym typeface="Be Vietnam Pro"/>
              </a:rPr>
              <a:t>Chức năng trong phạm vi S1–4</a:t>
            </a:r>
            <a:endParaRPr b="0" i="0" sz="1800" u="none" cap="none" strike="noStrike">
              <a:solidFill>
                <a:schemeClr val="dk1"/>
              </a:solidFill>
              <a:latin typeface="Calibri"/>
              <a:ea typeface="Calibri"/>
              <a:cs typeface="Calibri"/>
              <a:sym typeface="Calibri"/>
            </a:endParaRPr>
          </a:p>
        </p:txBody>
      </p:sp>
      <p:sp>
        <p:nvSpPr>
          <p:cNvPr id="242" name="Google Shape;242;p11"/>
          <p:cNvSpPr/>
          <p:nvPr/>
        </p:nvSpPr>
        <p:spPr>
          <a:xfrm>
            <a:off x="7524750" y="2337991"/>
            <a:ext cx="3754247" cy="118872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S1: tài khoản và phân quyền.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S2: danh mục, cây tổ chức.</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S3: khách hàng / liên hệ / 360.</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S4: lead, điểm và phân bổ.</a:t>
            </a:r>
          </a:p>
        </p:txBody>
      </p:sp>
      <p:sp>
        <p:nvSpPr>
          <p:cNvPr id="243" name="Google Shape;243;p11"/>
          <p:cNvSpPr/>
          <p:nvPr/>
        </p:nvSpPr>
        <p:spPr>
          <a:xfrm>
            <a:off x="7318375" y="3673277"/>
            <a:ext cx="4057650" cy="2165548"/>
          </a:xfrm>
          <a:prstGeom prst="roundRect">
            <a:avLst>
              <a:gd fmla="val 4545"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7524750" y="3854252"/>
            <a:ext cx="375424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Truy cập sản phẩm</a:t>
            </a:r>
            <a:endParaRPr b="0" i="0" sz="1800" u="none" cap="none" strike="noStrike">
              <a:solidFill>
                <a:schemeClr val="dk1"/>
              </a:solidFill>
              <a:latin typeface="Calibri"/>
              <a:ea typeface="Calibri"/>
              <a:cs typeface="Calibri"/>
              <a:sym typeface="Calibri"/>
            </a:endParaRPr>
          </a:p>
        </p:txBody>
      </p:sp>
      <p:sp>
        <p:nvSpPr>
          <p:cNvPr id="245" name="Google Shape;245;p11"/>
          <p:cNvSpPr/>
          <p:nvPr/>
        </p:nvSpPr>
        <p:spPr>
          <a:xfrm>
            <a:off x="7524750" y="4204742"/>
            <a:ext cx="3754247" cy="126985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1" i="0" lang="en-US" sz="1300" u="none" cap="none" strike="noStrike">
                <a:solidFill>
                  <a:srgbClr val="3F4A57"/>
                </a:solidFill>
                <a:latin typeface="Be Vietnam Pro"/>
                <a:ea typeface="Be Vietnam Pro"/>
                <a:cs typeface="Be Vietnam Pro"/>
                <a:sym typeface="Be Vietnam Pro"/>
              </a:rPr>
              <a:t>Mức độ: có bản chạy local và test.</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1" i="0" lang="en-US" sz="1300" u="none" cap="none" strike="noStrike">
                <a:solidFill>
                  <a:srgbClr val="3F4A57"/>
                </a:solidFill>
                <a:latin typeface="Be Vietnam Pro"/>
                <a:ea typeface="Be Vietnam Pro"/>
                <a:cs typeface="Be Vietnam Pro"/>
                <a:sym typeface="Be Vietnam Pro"/>
              </a:rPr>
              <a:t>Deploy: cần URL xác nhận.</a:t>
            </a:r>
          </a:p>
          <a:p>
            <a:pPr indent="0" lvl="0" marL="0" marR="0" rtl="0" algn="l">
              <a:lnSpc>
                <a:spcPct val="112000"/>
              </a:lnSpc>
              <a:spcBef>
                <a:spcPts val="0"/>
              </a:spcBef>
              <a:spcAft>
                <a:spcPts val="200"/>
              </a:spcAft>
              <a:buClr>
                <a:srgbClr val="3F4A57"/>
              </a:buClr>
              <a:buSzPts val="1400"/>
              <a:buFont typeface="Be Vietnam Pro"/>
              <a:buNone/>
            </a:pPr>
            <a:r>
              <a:rPr b="1" i="0" lang="en-US" sz="1300" u="none" cap="none" strike="noStrike">
                <a:solidFill>
                  <a:srgbClr val="3F4A57"/>
                </a:solidFill>
                <a:latin typeface="Be Vietnam Pro"/>
                <a:ea typeface="Be Vietnam Pro"/>
                <a:cs typeface="Be Vietnam Pro"/>
                <a:sym typeface="Be Vietnam Pro"/>
              </a:rPr>
              <a:t>Video demo 2–3 phút: cần link.</a:t>
            </a:r>
          </a:p>
          <a:p>
            <a:pPr indent="0" lvl="0" marL="0" marR="0" rtl="0" algn="l">
              <a:lnSpc>
                <a:spcPct val="112000"/>
              </a:lnSpc>
              <a:spcBef>
                <a:spcPts val="0"/>
              </a:spcBef>
              <a:spcAft>
                <a:spcPts val="200"/>
              </a:spcAft>
              <a:buClr>
                <a:srgbClr val="3F4A57"/>
              </a:buClr>
              <a:buSzPts val="1400"/>
              <a:buFont typeface="Be Vietnam Pro"/>
              <a:buNone/>
            </a:pPr>
            <a:r>
              <a:rPr b="1" i="0" lang="en-US" sz="1300" u="none" cap="none" strike="noStrike">
                <a:solidFill>
                  <a:srgbClr val="3F4A57"/>
                </a:solidFill>
                <a:latin typeface="Be Vietnam Pro"/>
                <a:ea typeface="Be Vietnam Pro"/>
                <a:cs typeface="Be Vietnam Pro"/>
                <a:sym typeface="Be Vietnam Pro"/>
              </a:rPr>
              <a:t>Ảnh: giao diện thật từ repository.</a:t>
            </a:r>
          </a:p>
        </p:txBody>
      </p:sp>
      <p:sp>
        <p:nvSpPr>
          <p:cNvPr id="246" name="Google Shape;246;p11"/>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247" name="Google Shape;247;p11"/>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248" name="Google Shape;248;p11"/>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249" name="Google Shape;249;p11"/>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250" name="TextBox 249"/>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pic>
        <p:nvPicPr>
          <p:cNvPr id="251" name="Picture 250" descr="customers-crop.png"/>
          <p:cNvPicPr>
            <a:picLocks noChangeAspect="1"/>
          </p:cNvPicPr>
          <p:nvPr/>
        </p:nvPicPr>
        <p:blipFill>
          <a:blip r:embed="rId6"/>
          <a:stretch>
            <a:fillRect/>
          </a:stretch>
        </p:blipFill>
        <p:spPr>
          <a:xfrm>
            <a:off x="941832" y="1936369"/>
            <a:ext cx="5989320" cy="3826509"/>
          </a:xfrm>
          <a:prstGeom prst="rect">
            <a:avLst/>
          </a:prstGeom>
        </p:spPr>
      </p:pic>
      <p:sp>
        <p:nvSpPr>
          <p:cNvPr id="252" name="TextBox 251"/>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10</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254" name="Shape 254"/>
        <p:cNvGrpSpPr/>
        <p:nvPr/>
      </p:nvGrpSpPr>
      <p:grpSpPr>
        <a:xfrm>
          <a:off x="0" y="0"/>
          <a:ext cx="0" cy="0"/>
          <a:chOff x="0" y="0"/>
          <a:chExt cx="0" cy="0"/>
        </a:xfrm>
      </p:grpSpPr>
      <p:sp>
        <p:nvSpPr>
          <p:cNvPr id="255" name="Google Shape;255;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08 — KỸ THUẬT</a:t>
            </a:r>
            <a:endParaRPr b="0" i="0" sz="1200" u="none" cap="none" strike="noStrike">
              <a:solidFill>
                <a:schemeClr val="dk1"/>
              </a:solidFill>
              <a:latin typeface="Calibri"/>
              <a:ea typeface="Calibri"/>
              <a:cs typeface="Calibri"/>
              <a:sym typeface="Calibri"/>
            </a:endParaRPr>
          </a:p>
        </p:txBody>
      </p:sp>
      <p:sp>
        <p:nvSpPr>
          <p:cNvPr id="256" name="Google Shape;256;p12"/>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Kiến trúc &amp; công nghệ</a:t>
            </a:r>
            <a:endParaRPr b="0" i="0" sz="3200" u="none" cap="none" strike="noStrike">
              <a:solidFill>
                <a:schemeClr val="dk1"/>
              </a:solidFill>
              <a:latin typeface="Calibri"/>
              <a:ea typeface="Calibri"/>
              <a:cs typeface="Calibri"/>
              <a:sym typeface="Calibri"/>
            </a:endParaRPr>
          </a:p>
        </p:txBody>
      </p:sp>
      <p:sp>
        <p:nvSpPr>
          <p:cNvPr id="257" name="Google Shape;257;p12"/>
          <p:cNvSpPr/>
          <p:nvPr/>
        </p:nvSpPr>
        <p:spPr>
          <a:xfrm>
            <a:off x="819150" y="1809700"/>
            <a:ext cx="5727700" cy="4025950"/>
          </a:xfrm>
          <a:prstGeom prst="roundRect">
            <a:avLst>
              <a:gd fmla="val 2366"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6807200" y="1803350"/>
            <a:ext cx="47091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LẬP TRÌNH WEB</a:t>
            </a:r>
            <a:endParaRPr b="0" i="0" sz="1200" u="none" cap="none" strike="noStrike">
              <a:solidFill>
                <a:schemeClr val="dk1"/>
              </a:solidFill>
              <a:latin typeface="Calibri"/>
              <a:ea typeface="Calibri"/>
              <a:cs typeface="Calibri"/>
              <a:sym typeface="Calibri"/>
            </a:endParaRPr>
          </a:p>
        </p:txBody>
      </p:sp>
      <p:sp>
        <p:nvSpPr>
          <p:cNvPr id="262" name="Google Shape;262;p12"/>
          <p:cNvSpPr/>
          <p:nvPr/>
        </p:nvSpPr>
        <p:spPr>
          <a:xfrm>
            <a:off x="6807200" y="2092871"/>
            <a:ext cx="4572000" cy="1349772"/>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12"/>
          <p:cNvCxnSpPr/>
          <p:nvPr/>
        </p:nvCxnSpPr>
        <p:spPr>
          <a:xfrm>
            <a:off x="11376025" y="2092871"/>
            <a:ext cx="0" cy="1349772"/>
          </a:xfrm>
          <a:prstGeom prst="straightConnector1">
            <a:avLst/>
          </a:prstGeom>
          <a:noFill/>
          <a:ln cap="flat" cmpd="sng" w="9525">
            <a:solidFill>
              <a:srgbClr val="DDE1DC"/>
            </a:solidFill>
            <a:prstDash val="solid"/>
            <a:round/>
            <a:headEnd len="sm" w="sm" type="none"/>
            <a:tailEnd len="sm" w="sm" type="none"/>
          </a:ln>
        </p:spPr>
      </p:cxnSp>
      <p:cxnSp>
        <p:nvCxnSpPr>
          <p:cNvPr id="264" name="Google Shape;264;p12"/>
          <p:cNvCxnSpPr/>
          <p:nvPr/>
        </p:nvCxnSpPr>
        <p:spPr>
          <a:xfrm>
            <a:off x="6807200" y="3439468"/>
            <a:ext cx="4572000" cy="0"/>
          </a:xfrm>
          <a:prstGeom prst="straightConnector1">
            <a:avLst/>
          </a:prstGeom>
          <a:noFill/>
          <a:ln cap="flat" cmpd="sng" w="9525">
            <a:solidFill>
              <a:srgbClr val="DDE1DC"/>
            </a:solidFill>
            <a:prstDash val="solid"/>
            <a:round/>
            <a:headEnd len="sm" w="sm" type="none"/>
            <a:tailEnd len="sm" w="sm" type="none"/>
          </a:ln>
        </p:spPr>
      </p:cxnSp>
      <p:graphicFrame>
        <p:nvGraphicFramePr>
          <p:cNvPr id="265" name="Google Shape;265;p12"/>
          <p:cNvGraphicFramePr/>
          <p:nvPr/>
        </p:nvGraphicFramePr>
        <p:xfrm>
          <a:off x="6819900" y="2105571"/>
          <a:ext cx="4552950" cy="1755648"/>
        </p:xfrm>
        <a:graphic>
          <a:graphicData uri="http://schemas.openxmlformats.org/drawingml/2006/table">
            <a:tbl>
              <a:tblPr>
                <a:noFill/>
                <a:tableStyleId>{A582B03F-E1A5-4E7F-97B6-85D91BCEE78B}</a:tableStyleId>
              </a:tblPr>
              <a:tblGrid>
                <a:gridCol w="1821175"/>
                <a:gridCol w="2731775"/>
              </a:tblGrid>
              <a:tr h="438912">
                <a:tc>
                  <a:txBody>
                    <a:bodyPr/>
                    <a:lstStyle/>
                    <a:p>
                      <a:pPr>
                        <a:lnSpc>
                          <a:spcPct val="105000"/>
                        </a:lnSpc>
                        <a:spcBef>
                          <a:spcPts val="0"/>
                        </a:spcBef>
                        <a:spcAft>
                          <a:spcPts val="0"/>
                        </a:spcAft>
                      </a:pPr>
                      <a:r>
                        <a:rPr sz="1200" b="1">
                          <a:solidFill>
                            <a:srgbClr val="142B3D"/>
                          </a:solidFill>
                          <a:latin typeface="Be Vietnam Pro"/>
                        </a:rPr>
                        <a:t>Frontend</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200" b="1">
                          <a:solidFill>
                            <a:srgbClr val="142B3D"/>
                          </a:solidFill>
                          <a:latin typeface="Be Vietnam Pro"/>
                        </a:rPr>
                        <a:t>React 19 · Ant Design 6</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300" b="0">
                          <a:solidFill>
                            <a:srgbClr val="142B3D"/>
                          </a:solidFill>
                          <a:latin typeface="Be Vietnam Pro"/>
                        </a:rPr>
                        <a:t>Backend</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300" b="0">
                          <a:solidFill>
                            <a:srgbClr val="142B3D"/>
                          </a:solidFill>
                          <a:latin typeface="Be Vietnam Pro"/>
                        </a:rPr>
                        <a:t>Node.js · Express</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300" b="0">
                          <a:solidFill>
                            <a:srgbClr val="142B3D"/>
                          </a:solidFill>
                          <a:latin typeface="Be Vietnam Pro"/>
                        </a:rPr>
                        <a:t>Database</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300" b="0">
                          <a:solidFill>
                            <a:srgbClr val="142B3D"/>
                          </a:solidFill>
                          <a:latin typeface="Be Vietnam Pro"/>
                        </a:rPr>
                        <a:t>MySQL; test cả MariaDB</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300" b="0">
                          <a:solidFill>
                            <a:srgbClr val="142B3D"/>
                          </a:solidFill>
                          <a:latin typeface="Be Vietnam Pro"/>
                        </a:rPr>
                        <a:t>Triển khai</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300" b="0">
                          <a:solidFill>
                            <a:srgbClr val="142B3D"/>
                          </a:solidFill>
                          <a:latin typeface="Be Vietnam Pro"/>
                        </a:rPr>
                        <a:t>Local đã chạy; deploy cần xác nhận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266" name="Google Shape;266;p12"/>
          <p:cNvSpPr/>
          <p:nvPr/>
        </p:nvSpPr>
        <p:spPr>
          <a:xfrm>
            <a:off x="6807200" y="3595043"/>
            <a:ext cx="47091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t/>
            </a:r>
            <a:endParaRPr b="0" i="0" sz="1200" u="none" cap="none" strike="noStrike">
              <a:solidFill>
                <a:schemeClr val="dk1"/>
              </a:solidFill>
              <a:latin typeface="Calibri"/>
              <a:ea typeface="Calibri"/>
              <a:cs typeface="Calibri"/>
              <a:sym typeface="Calibri"/>
            </a:endParaRPr>
          </a:p>
        </p:txBody>
      </p:sp>
      <p:sp>
        <p:nvSpPr>
          <p:cNvPr id="267" name="Google Shape;267;p12"/>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268" name="Google Shape;268;p12"/>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269" name="Google Shape;269;p12"/>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270" name="Google Shape;270;p12"/>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271" name="TextBox 270"/>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272" name="Rounded Rectangle 271"/>
          <p:cNvSpPr/>
          <p:nvPr/>
        </p:nvSpPr>
        <p:spPr>
          <a:xfrm>
            <a:off x="1143000" y="2148840"/>
            <a:ext cx="4983480" cy="640080"/>
          </a:xfrm>
          <a:prstGeom prst="roundRect">
            <a:avLst/>
          </a:prstGeom>
          <a:solidFill>
            <a:srgbClr val="EDF3FE"/>
          </a:solidFill>
          <a:ln>
            <a:solidFill>
              <a:srgbClr val="CCD8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2000"/>
              </a:lnSpc>
              <a:spcBef>
                <a:spcPts val="0"/>
              </a:spcBef>
              <a:spcAft>
                <a:spcPts val="200"/>
              </a:spcAft>
            </a:pPr>
            <a:pPr algn="ctr"/>
            <a:r>
              <a:rPr sz="1500">
                <a:solidFill>
                  <a:srgbClr val="142B3D"/>
                </a:solidFill>
                <a:latin typeface="Be Vietnam Pro"/>
              </a:rPr>
              <a:t>Client: React 19 + Ant Design 6</a:t>
            </a:r>
          </a:p>
        </p:txBody>
      </p:sp>
      <p:sp>
        <p:nvSpPr>
          <p:cNvPr id="273" name="Rounded Rectangle 272"/>
          <p:cNvSpPr/>
          <p:nvPr/>
        </p:nvSpPr>
        <p:spPr>
          <a:xfrm>
            <a:off x="1143000" y="3291840"/>
            <a:ext cx="4983480" cy="640080"/>
          </a:xfrm>
          <a:prstGeom prst="roundRect">
            <a:avLst/>
          </a:prstGeom>
          <a:solidFill>
            <a:srgbClr val="EDF3FE"/>
          </a:solidFill>
          <a:ln>
            <a:solidFill>
              <a:srgbClr val="CCD8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2000"/>
              </a:lnSpc>
              <a:spcBef>
                <a:spcPts val="0"/>
              </a:spcBef>
              <a:spcAft>
                <a:spcPts val="200"/>
              </a:spcAft>
            </a:pPr>
            <a:pPr algn="ctr"/>
            <a:r>
              <a:rPr sz="1500">
                <a:solidFill>
                  <a:srgbClr val="142B3D"/>
                </a:solidFill>
                <a:latin typeface="Be Vietnam Pro"/>
              </a:rPr>
              <a:t>API: Node.js + Express · quyền / nghiệp vụ</a:t>
            </a:r>
          </a:p>
        </p:txBody>
      </p:sp>
      <p:sp>
        <p:nvSpPr>
          <p:cNvPr id="274" name="Rounded Rectangle 273"/>
          <p:cNvSpPr/>
          <p:nvPr/>
        </p:nvSpPr>
        <p:spPr>
          <a:xfrm>
            <a:off x="1143000" y="4434840"/>
            <a:ext cx="4983480" cy="640080"/>
          </a:xfrm>
          <a:prstGeom prst="roundRect">
            <a:avLst/>
          </a:prstGeom>
          <a:solidFill>
            <a:srgbClr val="EDF3FE"/>
          </a:solidFill>
          <a:ln>
            <a:solidFill>
              <a:srgbClr val="CCD8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2000"/>
              </a:lnSpc>
              <a:spcBef>
                <a:spcPts val="0"/>
              </a:spcBef>
              <a:spcAft>
                <a:spcPts val="200"/>
              </a:spcAft>
            </a:pPr>
            <a:pPr algn="ctr"/>
            <a:r>
              <a:rPr sz="1500">
                <a:solidFill>
                  <a:srgbClr val="142B3D"/>
                </a:solidFill>
                <a:latin typeface="Be Vietnam Pro"/>
              </a:rPr>
              <a:t>MySQL · dữ liệu và quan hệ CRM</a:t>
            </a:r>
          </a:p>
        </p:txBody>
      </p:sp>
      <p:cxnSp>
        <p:nvCxnSpPr>
          <p:cNvPr id="275" name="Connector 274"/>
          <p:cNvCxnSpPr/>
          <p:nvPr/>
        </p:nvCxnSpPr>
        <p:spPr>
          <a:xfrm>
            <a:off x="3630168" y="2788920"/>
            <a:ext cx="0" cy="502919"/>
          </a:xfrm>
          <a:prstGeom prst="line">
            <a:avLst/>
          </a:prstGeom>
          <a:ln>
            <a:solidFill>
              <a:srgbClr val="2457C5"/>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3630168" y="3931920"/>
            <a:ext cx="0" cy="502920"/>
          </a:xfrm>
          <a:prstGeom prst="line">
            <a:avLst/>
          </a:prstGeom>
          <a:ln>
            <a:solidFill>
              <a:srgbClr val="2457C5"/>
            </a:solidFill>
          </a:ln>
        </p:spPr>
        <p:style>
          <a:lnRef idx="2">
            <a:schemeClr val="accent1"/>
          </a:lnRef>
          <a:fillRef idx="0">
            <a:schemeClr val="accent1"/>
          </a:fillRef>
          <a:effectRef idx="1">
            <a:schemeClr val="accent1"/>
          </a:effectRef>
          <a:fontRef idx="minor">
            <a:schemeClr val="tx1"/>
          </a:fontRef>
        </p:style>
      </p:cxnSp>
      <p:sp>
        <p:nvSpPr>
          <p:cNvPr id="277" name="TextBox 276"/>
          <p:cNvSpPr txBox="1"/>
          <p:nvPr/>
        </p:nvSpPr>
        <p:spPr>
          <a:xfrm>
            <a:off x="1188720" y="5285232"/>
            <a:ext cx="4846320" cy="393192"/>
          </a:xfrm>
          <a:prstGeom prst="rect">
            <a:avLst/>
          </a:prstGeom>
          <a:noFill/>
        </p:spPr>
        <p:txBody>
          <a:bodyPr wrap="square" lIns="0" rIns="0" tIns="0" bIns="0">
            <a:spAutoFit/>
          </a:bodyPr>
          <a:lstStyle/>
          <a:p>
            <a:r>
              <a:rPr sz="1200" b="0">
                <a:solidFill>
                  <a:srgbClr val="6A7681"/>
                </a:solidFill>
                <a:latin typeface="Be Vietnam Pro"/>
              </a:rPr>
              <a:t>Worker / SMTP / Excel là các tích hợp bổ trợ.</a:t>
            </a:r>
          </a:p>
        </p:txBody>
      </p:sp>
      <p:sp>
        <p:nvSpPr>
          <p:cNvPr id="278" name="TextBox 27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11</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275" name="Shape 275"/>
        <p:cNvGrpSpPr/>
        <p:nvPr/>
      </p:nvGrpSpPr>
      <p:grpSpPr>
        <a:xfrm>
          <a:off x="0" y="0"/>
          <a:ext cx="0" cy="0"/>
          <a:chOff x="0" y="0"/>
          <a:chExt cx="0" cy="0"/>
        </a:xfrm>
      </p:grpSpPr>
      <p:sp>
        <p:nvSpPr>
          <p:cNvPr id="276" name="Google Shape;276;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09 — KẾT QUẢ SẢN PHẨM</a:t>
            </a:r>
            <a:endParaRPr b="0" i="0" sz="1200" u="none" cap="none" strike="noStrike">
              <a:solidFill>
                <a:schemeClr val="dk1"/>
              </a:solidFill>
              <a:latin typeface="Calibri"/>
              <a:ea typeface="Calibri"/>
              <a:cs typeface="Calibri"/>
              <a:sym typeface="Calibri"/>
            </a:endParaRPr>
          </a:p>
        </p:txBody>
      </p:sp>
      <p:sp>
        <p:nvSpPr>
          <p:cNvPr id="277" name="Google Shape;277;p13"/>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Mục tiêu đầu kỳ ↔ Kết quả thực tế</a:t>
            </a:r>
            <a:endParaRPr b="0" i="0" sz="3200" u="none" cap="none" strike="noStrike">
              <a:solidFill>
                <a:schemeClr val="dk1"/>
              </a:solidFill>
              <a:latin typeface="Calibri"/>
              <a:ea typeface="Calibri"/>
              <a:cs typeface="Calibri"/>
              <a:sym typeface="Calibri"/>
            </a:endParaRPr>
          </a:p>
        </p:txBody>
      </p:sp>
      <p:sp>
        <p:nvSpPr>
          <p:cNvPr id="278" name="Google Shape;278;p13"/>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9" name="Google Shape;279;p13"/>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280" name="Google Shape;280;p13"/>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281" name="Google Shape;281;p13"/>
          <p:cNvGraphicFramePr/>
          <p:nvPr/>
        </p:nvGraphicFramePr>
        <p:xfrm>
          <a:off x="825500" y="1816050"/>
          <a:ext cx="10547375" cy="2167128"/>
        </p:xfrm>
        <a:graphic>
          <a:graphicData uri="http://schemas.openxmlformats.org/drawingml/2006/table">
            <a:tbl>
              <a:tblPr>
                <a:noFill/>
                <a:tableStyleId>{A582B03F-E1A5-4E7F-97B6-85D91BCEE78B}</a:tableStyleId>
              </a:tblPr>
              <a:tblGrid>
                <a:gridCol w="632850"/>
                <a:gridCol w="2320425"/>
                <a:gridCol w="2531375"/>
                <a:gridCol w="2531375"/>
                <a:gridCol w="1265675"/>
                <a:gridCol w="1265675"/>
              </a:tblGrid>
              <a:tr h="411480">
                <a:tc>
                  <a:txBody>
                    <a:bodyPr/>
                    <a:lstStyle/>
                    <a:p>
                      <a:pPr>
                        <a:lnSpc>
                          <a:spcPct val="105000"/>
                        </a:lnSpc>
                        <a:spcBef>
                          <a:spcPts val="0"/>
                        </a:spcBef>
                        <a:spcAft>
                          <a:spcPts val="0"/>
                        </a:spcAft>
                      </a:pPr>
                      <a:r>
                        <a:rPr sz="1000" b="1">
                          <a:solidFill>
                            <a:srgbClr val="FFFFFF"/>
                          </a:solidFill>
                          <a:latin typeface="Be Vietnam Pro"/>
                        </a:rPr>
                        <a:t>STT</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Hạng mục</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Mục tiêu đầu kỳ</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Kết quả / Jira 18/10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Trạng thái</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438912">
                <a:tc>
                  <a:txBody>
                    <a:bodyPr/>
                    <a:lstStyle/>
                    <a:p>
                      <a:pPr>
                        <a:lnSpc>
                          <a:spcPct val="105000"/>
                        </a:lnSpc>
                        <a:spcBef>
                          <a:spcPts val="0"/>
                        </a:spcBef>
                        <a:spcAft>
                          <a:spcPts val="0"/>
                        </a:spcAft>
                      </a:pPr>
                      <a:r>
                        <a:rPr sz="1100" b="0">
                          <a:solidFill>
                            <a:srgbClr val="142B3D"/>
                          </a:solidFill>
                          <a:latin typeface="Be Vietnam Pro"/>
                        </a:rPr>
                        <a:t>1</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Sprint 1</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Truy cập đúng quyền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8/10 story Done; 2 IP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Một phần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Jira + test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100" b="0">
                          <a:solidFill>
                            <a:srgbClr val="142B3D"/>
                          </a:solidFill>
                          <a:latin typeface="Be Vietnam Pro"/>
                        </a:rPr>
                        <a:t>2</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Sprint 2</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Cấu hình thống nhất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10/10 story Done*</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Done trên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Jira + giao diện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100" b="0">
                          <a:solidFill>
                            <a:srgbClr val="142B3D"/>
                          </a:solidFill>
                          <a:latin typeface="Be Vietnam Pro"/>
                        </a:rPr>
                        <a:t>3</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Sprint 3</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Khách hàng 360</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3/9 Done; 6 IP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Một phần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Jira + ảnh 360</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38912">
                <a:tc>
                  <a:txBody>
                    <a:bodyPr/>
                    <a:lstStyle/>
                    <a:p>
                      <a:pPr>
                        <a:lnSpc>
                          <a:spcPct val="105000"/>
                        </a:lnSpc>
                        <a:spcBef>
                          <a:spcPts val="0"/>
                        </a:spcBef>
                        <a:spcAft>
                          <a:spcPts val="0"/>
                        </a:spcAft>
                      </a:pPr>
                      <a:r>
                        <a:rPr sz="1100" b="0">
                          <a:solidFill>
                            <a:srgbClr val="142B3D"/>
                          </a:solidFill>
                          <a:latin typeface="Be Vietnam Pro"/>
                        </a:rPr>
                        <a:t>4</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Sprint 4</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Lead có người nhận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9 story To Do; có code/test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Chờ nghiệm thu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Jira + audit S4</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282" name="Google Shape;282;p13"/>
          <p:cNvSpPr/>
          <p:nvPr/>
        </p:nvSpPr>
        <p:spPr>
          <a:xfrm>
            <a:off x="815975" y="4075658"/>
            <a:ext cx="4526955" cy="458440"/>
          </a:xfrm>
          <a:prstGeom prst="roundRect">
            <a:avLst>
              <a:gd fmla="val 15929"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996950" y="4180433"/>
            <a:ext cx="4754880"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1" i="0" lang="en-US" sz="1200" u="none" cap="none" strike="noStrike">
                <a:solidFill>
                  <a:srgbClr val="12263A"/>
                </a:solidFill>
                <a:latin typeface="Be Vietnam Pro"/>
                <a:ea typeface="Be Vietnam Pro"/>
                <a:cs typeface="Be Vietnam Pro"/>
                <a:sym typeface="Be Vietnam Pro"/>
              </a:rPr>
              <a:t>Story Done: 21/38 = 55,3% (snapshot 18/10)</a:t>
            </a:r>
            <a:endParaRPr b="0" i="0" sz="1400" u="none" cap="none" strike="noStrike">
              <a:solidFill>
                <a:schemeClr val="dk1"/>
              </a:solidFill>
              <a:latin typeface="Calibri"/>
              <a:ea typeface="Calibri"/>
              <a:cs typeface="Calibri"/>
              <a:sym typeface="Calibri"/>
            </a:endParaRPr>
          </a:p>
        </p:txBody>
      </p:sp>
      <p:sp>
        <p:nvSpPr>
          <p:cNvPr id="284" name="Google Shape;284;p13"/>
          <p:cNvSpPr/>
          <p:nvPr/>
        </p:nvSpPr>
        <p:spPr>
          <a:xfrm>
            <a:off x="5498505" y="4198193"/>
            <a:ext cx="3421703"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*S2-02 lệch nội dung giữa Jira và backlog.</a:t>
            </a:r>
            <a:endParaRPr b="0" i="0" sz="1200" u="none" cap="none" strike="noStrike">
              <a:solidFill>
                <a:schemeClr val="dk1"/>
              </a:solidFill>
              <a:latin typeface="Calibri"/>
              <a:ea typeface="Calibri"/>
              <a:cs typeface="Calibri"/>
              <a:sym typeface="Calibri"/>
            </a:endParaRPr>
          </a:p>
        </p:txBody>
      </p:sp>
      <p:sp>
        <p:nvSpPr>
          <p:cNvPr id="285" name="Google Shape;285;p13"/>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286" name="Google Shape;286;p13"/>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287" name="Google Shape;287;p13"/>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288" name="Google Shape;288;p13"/>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289" name="TextBox 288"/>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290" name="TextBox 289"/>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12</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293" name="Shape 293"/>
        <p:cNvGrpSpPr/>
        <p:nvPr/>
      </p:nvGrpSpPr>
      <p:grpSpPr>
        <a:xfrm>
          <a:off x="0" y="0"/>
          <a:ext cx="0" cy="0"/>
          <a:chOff x="0" y="0"/>
          <a:chExt cx="0" cy="0"/>
        </a:xfrm>
      </p:grpSpPr>
      <p:sp>
        <p:nvSpPr>
          <p:cNvPr id="294" name="Google Shape;294;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10 — KẾT QUẢ SẢN PHẨM</a:t>
            </a:r>
            <a:endParaRPr b="0" i="0" sz="1200" u="none" cap="none" strike="noStrike">
              <a:solidFill>
                <a:schemeClr val="dk1"/>
              </a:solidFill>
              <a:latin typeface="Calibri"/>
              <a:ea typeface="Calibri"/>
              <a:cs typeface="Calibri"/>
              <a:sym typeface="Calibri"/>
            </a:endParaRPr>
          </a:p>
        </p:txBody>
      </p:sp>
      <p:sp>
        <p:nvSpPr>
          <p:cNvPr id="295" name="Google Shape;295;p14"/>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Chỉ số chất lượng &amp; hiệu năng</a:t>
            </a:r>
            <a:endParaRPr b="0" i="0" sz="3200" u="none" cap="none" strike="noStrike">
              <a:solidFill>
                <a:schemeClr val="dk1"/>
              </a:solidFill>
              <a:latin typeface="Calibri"/>
              <a:ea typeface="Calibri"/>
              <a:cs typeface="Calibri"/>
              <a:sym typeface="Calibri"/>
            </a:endParaRPr>
          </a:p>
        </p:txBody>
      </p:sp>
      <p:sp>
        <p:nvSpPr>
          <p:cNvPr id="296" name="Google Shape;296;p14"/>
          <p:cNvSpPr/>
          <p:nvPr/>
        </p:nvSpPr>
        <p:spPr>
          <a:xfrm>
            <a:off x="812800" y="1803350"/>
            <a:ext cx="25273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7" name="Google Shape;297;p14"/>
          <p:cNvCxnSpPr/>
          <p:nvPr/>
        </p:nvCxnSpPr>
        <p:spPr>
          <a:xfrm>
            <a:off x="812800" y="1822400"/>
            <a:ext cx="2527300" cy="0"/>
          </a:xfrm>
          <a:prstGeom prst="straightConnector1">
            <a:avLst/>
          </a:prstGeom>
          <a:noFill/>
          <a:ln cap="flat" cmpd="sng" w="38100">
            <a:solidFill>
              <a:srgbClr val="F28C28"/>
            </a:solidFill>
            <a:prstDash val="solid"/>
            <a:round/>
            <a:headEnd len="sm" w="sm" type="none"/>
            <a:tailEnd len="sm" w="sm" type="none"/>
          </a:ln>
        </p:spPr>
      </p:cxnSp>
      <p:sp>
        <p:nvSpPr>
          <p:cNvPr id="298" name="Google Shape;298;p14"/>
          <p:cNvSpPr/>
          <p:nvPr/>
        </p:nvSpPr>
        <p:spPr>
          <a:xfrm>
            <a:off x="990600" y="1993850"/>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 Done</a:t>
            </a:r>
            <a:endParaRPr b="0" i="0" sz="1200" u="none" cap="none" strike="noStrike">
              <a:solidFill>
                <a:schemeClr val="dk1"/>
              </a:solidFill>
              <a:latin typeface="Calibri"/>
              <a:ea typeface="Calibri"/>
              <a:cs typeface="Calibri"/>
              <a:sym typeface="Calibri"/>
            </a:endParaRPr>
          </a:p>
        </p:txBody>
      </p:sp>
      <p:sp>
        <p:nvSpPr>
          <p:cNvPr id="299" name="Google Shape;299;p14"/>
          <p:cNvSpPr/>
          <p:nvPr/>
        </p:nvSpPr>
        <p:spPr>
          <a:xfrm>
            <a:off x="990600" y="2257971"/>
            <a:ext cx="223685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số SP</a:t>
            </a:r>
            <a:endParaRPr b="0" i="0" sz="3200" u="none" cap="none" strike="noStrike">
              <a:solidFill>
                <a:schemeClr val="dk1"/>
              </a:solidFill>
              <a:latin typeface="Calibri"/>
              <a:ea typeface="Calibri"/>
              <a:cs typeface="Calibri"/>
              <a:sym typeface="Calibri"/>
            </a:endParaRPr>
          </a:p>
        </p:txBody>
      </p:sp>
      <p:sp>
        <p:nvSpPr>
          <p:cNvPr id="300" name="Google Shape;300;p14"/>
          <p:cNvSpPr/>
          <p:nvPr/>
        </p:nvSpPr>
        <p:spPr>
          <a:xfrm>
            <a:off x="3492500" y="1803350"/>
            <a:ext cx="25273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1" name="Google Shape;301;p14"/>
          <p:cNvCxnSpPr/>
          <p:nvPr/>
        </p:nvCxnSpPr>
        <p:spPr>
          <a:xfrm>
            <a:off x="3492500" y="1822400"/>
            <a:ext cx="2527300" cy="0"/>
          </a:xfrm>
          <a:prstGeom prst="straightConnector1">
            <a:avLst/>
          </a:prstGeom>
          <a:noFill/>
          <a:ln cap="flat" cmpd="sng" w="38100">
            <a:solidFill>
              <a:srgbClr val="F28C28"/>
            </a:solidFill>
            <a:prstDash val="solid"/>
            <a:round/>
            <a:headEnd len="sm" w="sm" type="none"/>
            <a:tailEnd len="sm" w="sm" type="none"/>
          </a:ln>
        </p:spPr>
      </p:cxnSp>
      <p:sp>
        <p:nvSpPr>
          <p:cNvPr id="302" name="Google Shape;302;p14"/>
          <p:cNvSpPr/>
          <p:nvPr/>
        </p:nvSpPr>
        <p:spPr>
          <a:xfrm>
            <a:off x="3670300" y="1993850"/>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Bug đã xử lý</a:t>
            </a:r>
            <a:endParaRPr b="0" i="0" sz="1200" u="none" cap="none" strike="noStrike">
              <a:solidFill>
                <a:schemeClr val="dk1"/>
              </a:solidFill>
              <a:latin typeface="Calibri"/>
              <a:ea typeface="Calibri"/>
              <a:cs typeface="Calibri"/>
              <a:sym typeface="Calibri"/>
            </a:endParaRPr>
          </a:p>
        </p:txBody>
      </p:sp>
      <p:sp>
        <p:nvSpPr>
          <p:cNvPr id="303" name="Google Shape;303;p14"/>
          <p:cNvSpPr/>
          <p:nvPr/>
        </p:nvSpPr>
        <p:spPr>
          <a:xfrm>
            <a:off x="3670300" y="2257971"/>
            <a:ext cx="223685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000" u="none" cap="none" strike="noStrike">
                <a:solidFill>
                  <a:srgbClr val="C17B10"/>
                </a:solidFill>
                <a:latin typeface="Be Vietnam Pro"/>
                <a:ea typeface="Be Vietnam Pro"/>
                <a:cs typeface="Be Vietnam Pro"/>
                <a:sym typeface="Be Vietnam Pro"/>
              </a:rPr>
              <a:t>Chờ thống kê</a:t>
            </a:r>
            <a:endParaRPr b="0" i="0" sz="3200" u="none" cap="none" strike="noStrike">
              <a:solidFill>
                <a:schemeClr val="dk1"/>
              </a:solidFill>
              <a:latin typeface="Calibri"/>
              <a:ea typeface="Calibri"/>
              <a:cs typeface="Calibri"/>
              <a:sym typeface="Calibri"/>
            </a:endParaRPr>
          </a:p>
        </p:txBody>
      </p:sp>
      <p:sp>
        <p:nvSpPr>
          <p:cNvPr id="304" name="Google Shape;304;p14"/>
          <p:cNvSpPr/>
          <p:nvPr/>
        </p:nvSpPr>
        <p:spPr>
          <a:xfrm>
            <a:off x="6172200" y="1803350"/>
            <a:ext cx="25273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14"/>
          <p:cNvCxnSpPr/>
          <p:nvPr/>
        </p:nvCxnSpPr>
        <p:spPr>
          <a:xfrm>
            <a:off x="6172200" y="1822400"/>
            <a:ext cx="2527300" cy="0"/>
          </a:xfrm>
          <a:prstGeom prst="straightConnector1">
            <a:avLst/>
          </a:prstGeom>
          <a:noFill/>
          <a:ln cap="flat" cmpd="sng" w="38100">
            <a:solidFill>
              <a:srgbClr val="F28C28"/>
            </a:solidFill>
            <a:prstDash val="solid"/>
            <a:round/>
            <a:headEnd len="sm" w="sm" type="none"/>
            <a:tailEnd len="sm" w="sm" type="none"/>
          </a:ln>
        </p:spPr>
      </p:cxnSp>
      <p:sp>
        <p:nvSpPr>
          <p:cNvPr id="306" name="Google Shape;306;p14"/>
          <p:cNvSpPr/>
          <p:nvPr/>
        </p:nvSpPr>
        <p:spPr>
          <a:xfrm>
            <a:off x="6350000" y="1993850"/>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Test case đạt</a:t>
            </a:r>
            <a:endParaRPr b="0" i="0" sz="1200" u="none" cap="none" strike="noStrike">
              <a:solidFill>
                <a:schemeClr val="dk1"/>
              </a:solidFill>
              <a:latin typeface="Calibri"/>
              <a:ea typeface="Calibri"/>
              <a:cs typeface="Calibri"/>
              <a:sym typeface="Calibri"/>
            </a:endParaRPr>
          </a:p>
        </p:txBody>
      </p:sp>
      <p:sp>
        <p:nvSpPr>
          <p:cNvPr id="307" name="Google Shape;307;p14"/>
          <p:cNvSpPr/>
          <p:nvPr/>
        </p:nvSpPr>
        <p:spPr>
          <a:xfrm>
            <a:off x="6350000" y="2257971"/>
            <a:ext cx="223685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100%*</a:t>
            </a:r>
            <a:endParaRPr b="0" i="0" sz="3200" u="none" cap="none" strike="noStrike">
              <a:solidFill>
                <a:schemeClr val="dk1"/>
              </a:solidFill>
              <a:latin typeface="Calibri"/>
              <a:ea typeface="Calibri"/>
              <a:cs typeface="Calibri"/>
              <a:sym typeface="Calibri"/>
            </a:endParaRPr>
          </a:p>
        </p:txBody>
      </p:sp>
      <p:sp>
        <p:nvSpPr>
          <p:cNvPr id="308" name="Google Shape;308;p14"/>
          <p:cNvSpPr/>
          <p:nvPr/>
        </p:nvSpPr>
        <p:spPr>
          <a:xfrm>
            <a:off x="8851900" y="1803350"/>
            <a:ext cx="25273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14"/>
          <p:cNvCxnSpPr/>
          <p:nvPr/>
        </p:nvCxnSpPr>
        <p:spPr>
          <a:xfrm>
            <a:off x="8851900" y="1822400"/>
            <a:ext cx="2527300" cy="0"/>
          </a:xfrm>
          <a:prstGeom prst="straightConnector1">
            <a:avLst/>
          </a:prstGeom>
          <a:noFill/>
          <a:ln cap="flat" cmpd="sng" w="38100">
            <a:solidFill>
              <a:srgbClr val="F28C28"/>
            </a:solidFill>
            <a:prstDash val="solid"/>
            <a:round/>
            <a:headEnd len="sm" w="sm" type="none"/>
            <a:tailEnd len="sm" w="sm" type="none"/>
          </a:ln>
        </p:spPr>
      </p:cxnSp>
      <p:sp>
        <p:nvSpPr>
          <p:cNvPr id="310" name="Google Shape;310;p14"/>
          <p:cNvSpPr/>
          <p:nvPr/>
        </p:nvSpPr>
        <p:spPr>
          <a:xfrm>
            <a:off x="9029700" y="1993850"/>
            <a:ext cx="22368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Người dùng / chơi thử</a:t>
            </a:r>
            <a:endParaRPr b="0" i="0" sz="1200" u="none" cap="none" strike="noStrike">
              <a:solidFill>
                <a:schemeClr val="dk1"/>
              </a:solidFill>
              <a:latin typeface="Calibri"/>
              <a:ea typeface="Calibri"/>
              <a:cs typeface="Calibri"/>
              <a:sym typeface="Calibri"/>
            </a:endParaRPr>
          </a:p>
        </p:txBody>
      </p:sp>
      <p:sp>
        <p:nvSpPr>
          <p:cNvPr id="311" name="Google Shape;311;p14"/>
          <p:cNvSpPr/>
          <p:nvPr/>
        </p:nvSpPr>
        <p:spPr>
          <a:xfrm>
            <a:off x="9029700" y="2257971"/>
            <a:ext cx="223685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000" u="none" cap="none" strike="noStrike">
                <a:solidFill>
                  <a:srgbClr val="C17B10"/>
                </a:solidFill>
                <a:latin typeface="Be Vietnam Pro"/>
                <a:ea typeface="Be Vietnam Pro"/>
                <a:cs typeface="Be Vietnam Pro"/>
                <a:sym typeface="Be Vietnam Pro"/>
              </a:rPr>
              <a:t>Chờ thống kê</a:t>
            </a:r>
            <a:endParaRPr b="0" i="0" sz="3200" u="none" cap="none" strike="noStrike">
              <a:solidFill>
                <a:schemeClr val="dk1"/>
              </a:solidFill>
              <a:latin typeface="Calibri"/>
              <a:ea typeface="Calibri"/>
              <a:cs typeface="Calibri"/>
              <a:sym typeface="Calibri"/>
            </a:endParaRPr>
          </a:p>
        </p:txBody>
      </p:sp>
      <p:sp>
        <p:nvSpPr>
          <p:cNvPr id="312" name="Google Shape;312;p14"/>
          <p:cNvSpPr/>
          <p:nvPr/>
        </p:nvSpPr>
        <p:spPr>
          <a:xfrm>
            <a:off x="812800" y="3111401"/>
            <a:ext cx="10566400" cy="1349772"/>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3" name="Google Shape;313;p14"/>
          <p:cNvCxnSpPr/>
          <p:nvPr/>
        </p:nvCxnSpPr>
        <p:spPr>
          <a:xfrm>
            <a:off x="11376025" y="3111401"/>
            <a:ext cx="0" cy="1349772"/>
          </a:xfrm>
          <a:prstGeom prst="straightConnector1">
            <a:avLst/>
          </a:prstGeom>
          <a:noFill/>
          <a:ln cap="flat" cmpd="sng" w="9525">
            <a:solidFill>
              <a:srgbClr val="DDE1DC"/>
            </a:solidFill>
            <a:prstDash val="solid"/>
            <a:round/>
            <a:headEnd len="sm" w="sm" type="none"/>
            <a:tailEnd len="sm" w="sm" type="none"/>
          </a:ln>
        </p:spPr>
      </p:cxnSp>
      <p:cxnSp>
        <p:nvCxnSpPr>
          <p:cNvPr id="314" name="Google Shape;314;p14"/>
          <p:cNvCxnSpPr/>
          <p:nvPr/>
        </p:nvCxnSpPr>
        <p:spPr>
          <a:xfrm>
            <a:off x="812800" y="445799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315" name="Google Shape;315;p14"/>
          <p:cNvGraphicFramePr/>
          <p:nvPr/>
        </p:nvGraphicFramePr>
        <p:xfrm>
          <a:off x="825500" y="3124101"/>
          <a:ext cx="10547325" cy="1645920"/>
        </p:xfrm>
        <a:graphic>
          <a:graphicData uri="http://schemas.openxmlformats.org/drawingml/2006/table">
            <a:tbl>
              <a:tblPr>
                <a:noFill/>
                <a:tableStyleId>{A582B03F-E1A5-4E7F-97B6-85D91BCEE78B}</a:tableStyleId>
              </a:tblPr>
              <a:tblGrid>
                <a:gridCol w="1898525"/>
                <a:gridCol w="2953250"/>
                <a:gridCol w="2953250"/>
                <a:gridCol w="2742300"/>
              </a:tblGrid>
              <a:tr h="384048">
                <a:tc>
                  <a:txBody>
                    <a:bodyPr/>
                    <a:lstStyle/>
                    <a:p>
                      <a:pPr>
                        <a:lnSpc>
                          <a:spcPct val="105000"/>
                        </a:lnSpc>
                        <a:spcBef>
                          <a:spcPts val="0"/>
                        </a:spcBef>
                        <a:spcAft>
                          <a:spcPts val="0"/>
                        </a:spcAft>
                      </a:pPr>
                      <a:r>
                        <a:rPr sz="1000" b="1">
                          <a:solidFill>
                            <a:srgbClr val="FFFFFF"/>
                          </a:solidFill>
                          <a:latin typeface="Be Vietnam Pro"/>
                        </a:rPr>
                        <a:t>Nhóm chỉ số</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Web — đo gì</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Nguồn đo</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Kết quả đã ghi nhận</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420624">
                <a:tc>
                  <a:txBody>
                    <a:bodyPr/>
                    <a:lstStyle/>
                    <a:p>
                      <a:pPr>
                        <a:lnSpc>
                          <a:spcPct val="105000"/>
                        </a:lnSpc>
                        <a:spcBef>
                          <a:spcPts val="0"/>
                        </a:spcBef>
                        <a:spcAft>
                          <a:spcPts val="0"/>
                        </a:spcAft>
                      </a:pPr>
                      <a:r>
                        <a:rPr sz="1100" b="0">
                          <a:solidFill>
                            <a:srgbClr val="142B3D"/>
                          </a:solidFill>
                          <a:latin typeface="Be Vietnam Pro"/>
                        </a:rPr>
                        <a:t>Chất lượng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Backend / trình duyệt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Log test / CI</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121/121 backend; 50/50 browser</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420624">
                <a:tc>
                  <a:txBody>
                    <a:bodyPr/>
                    <a:lstStyle/>
                    <a:p>
                      <a:pPr>
                        <a:lnSpc>
                          <a:spcPct val="105000"/>
                        </a:lnSpc>
                        <a:spcBef>
                          <a:spcPts val="0"/>
                        </a:spcBef>
                        <a:spcAft>
                          <a:spcPts val="0"/>
                        </a:spcAft>
                      </a:pPr>
                      <a:r>
                        <a:rPr sz="1100" b="0">
                          <a:solidFill>
                            <a:srgbClr val="142B3D"/>
                          </a:solidFill>
                          <a:latin typeface="Be Vietnam Pro"/>
                        </a:rPr>
                        <a:t>Hiệu năng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360 / phân bổ lead</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benchmark</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Chưa kết luận 1,5s / 5 phút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420624">
                <a:tc>
                  <a:txBody>
                    <a:bodyPr/>
                    <a:lstStyle/>
                    <a:p>
                      <a:pPr>
                        <a:lnSpc>
                          <a:spcPct val="105000"/>
                        </a:lnSpc>
                        <a:spcBef>
                          <a:spcPts val="0"/>
                        </a:spcBef>
                        <a:spcAft>
                          <a:spcPts val="0"/>
                        </a:spcAft>
                      </a:pPr>
                      <a:r>
                        <a:rPr sz="1100" b="0">
                          <a:solidFill>
                            <a:srgbClr val="142B3D"/>
                          </a:solidFill>
                          <a:latin typeface="Be Vietnam Pro"/>
                        </a:rPr>
                        <a:t>Hoàn thiện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Deploy / người test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link và danh sách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Có bản local; chưa đủ số liệu deploy</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316" name="Google Shape;316;p14"/>
          <p:cNvSpPr/>
          <p:nvPr/>
        </p:nvSpPr>
        <p:spPr>
          <a:xfrm>
            <a:off x="812800" y="6238280"/>
            <a:ext cx="4393530"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*Theo log từng bản đã kiểm thử; không phải lần chạy mới hôm nay.</a:t>
            </a:r>
            <a:endParaRPr b="0" i="0" sz="1200" u="none" cap="none" strike="noStrike">
              <a:solidFill>
                <a:schemeClr val="dk1"/>
              </a:solidFill>
              <a:latin typeface="Calibri"/>
              <a:ea typeface="Calibri"/>
              <a:cs typeface="Calibri"/>
              <a:sym typeface="Calibri"/>
            </a:endParaRPr>
          </a:p>
        </p:txBody>
      </p:sp>
      <p:sp>
        <p:nvSpPr>
          <p:cNvPr id="317" name="Google Shape;317;p14"/>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18" name="Google Shape;318;p14"/>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319" name="Google Shape;319;p14"/>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320" name="TextBox 319"/>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21" name="TextBox 320"/>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13</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324" name="Shape 324"/>
        <p:cNvGrpSpPr/>
        <p:nvPr/>
      </p:nvGrpSpPr>
      <p:grpSpPr>
        <a:xfrm>
          <a:off x="0" y="0"/>
          <a:ext cx="0" cy="0"/>
          <a:chOff x="0" y="0"/>
          <a:chExt cx="0" cy="0"/>
        </a:xfrm>
      </p:grpSpPr>
      <p:sp>
        <p:nvSpPr>
          <p:cNvPr id="325" name="Google Shape;325;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11 — ĐÓNG GÓP</a:t>
            </a:r>
            <a:endParaRPr b="0" i="0" sz="1200" u="none" cap="none" strike="noStrike">
              <a:solidFill>
                <a:schemeClr val="dk1"/>
              </a:solidFill>
              <a:latin typeface="Calibri"/>
              <a:ea typeface="Calibri"/>
              <a:cs typeface="Calibri"/>
              <a:sym typeface="Calibri"/>
            </a:endParaRPr>
          </a:p>
        </p:txBody>
      </p:sp>
      <p:sp>
        <p:nvSpPr>
          <p:cNvPr id="326" name="Google Shape;326;p15"/>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900" u="none" cap="none" strike="noStrike">
                <a:solidFill>
                  <a:srgbClr val="12263A"/>
                </a:solidFill>
                <a:latin typeface="Be Vietnam Pro"/>
                <a:ea typeface="Be Vietnam Pro"/>
                <a:cs typeface="Be Vietnam Pro"/>
                <a:sym typeface="Be Vietnam Pro"/>
              </a:rPr>
              <a:t>Tỉ lệ đóng góp của thành viên (1/2)</a:t>
            </a:r>
            <a:endParaRPr b="0" i="0" sz="3200" u="none" cap="none" strike="noStrike">
              <a:solidFill>
                <a:schemeClr val="dk1"/>
              </a:solidFill>
              <a:latin typeface="Calibri"/>
              <a:ea typeface="Calibri"/>
              <a:cs typeface="Calibri"/>
              <a:sym typeface="Calibri"/>
            </a:endParaRPr>
          </a:p>
        </p:txBody>
      </p:sp>
      <p:sp>
        <p:nvSpPr>
          <p:cNvPr id="327" name="Google Shape;327;p15"/>
          <p:cNvSpPr/>
          <p:nvPr/>
        </p:nvSpPr>
        <p:spPr>
          <a:xfrm>
            <a:off x="812800" y="1803350"/>
            <a:ext cx="10566400" cy="189577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 name="Google Shape;328;p15"/>
          <p:cNvCxnSpPr/>
          <p:nvPr/>
        </p:nvCxnSpPr>
        <p:spPr>
          <a:xfrm>
            <a:off x="11376025" y="1803350"/>
            <a:ext cx="0" cy="1895773"/>
          </a:xfrm>
          <a:prstGeom prst="straightConnector1">
            <a:avLst/>
          </a:prstGeom>
          <a:noFill/>
          <a:ln cap="flat" cmpd="sng" w="9525">
            <a:solidFill>
              <a:srgbClr val="DDE1DC"/>
            </a:solidFill>
            <a:prstDash val="solid"/>
            <a:round/>
            <a:headEnd len="sm" w="sm" type="none"/>
            <a:tailEnd len="sm" w="sm" type="none"/>
          </a:ln>
        </p:spPr>
      </p:cxnSp>
      <p:cxnSp>
        <p:nvCxnSpPr>
          <p:cNvPr id="329" name="Google Shape;329;p15"/>
          <p:cNvCxnSpPr/>
          <p:nvPr/>
        </p:nvCxnSpPr>
        <p:spPr>
          <a:xfrm>
            <a:off x="812800" y="369594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330" name="Google Shape;330;p15"/>
          <p:cNvGraphicFramePr/>
          <p:nvPr/>
        </p:nvGraphicFramePr>
        <p:xfrm>
          <a:off x="825500" y="1816050"/>
          <a:ext cx="10547350" cy="1938528"/>
        </p:xfrm>
        <a:graphic>
          <a:graphicData uri="http://schemas.openxmlformats.org/drawingml/2006/table">
            <a:tbl>
              <a:tblPr>
                <a:noFill/>
                <a:tableStyleId>{A582B03F-E1A5-4E7F-97B6-85D91BCEE78B}</a:tableStyleId>
              </a:tblPr>
              <a:tblGrid>
                <a:gridCol w="2531375"/>
                <a:gridCol w="1687575"/>
                <a:gridCol w="1687575"/>
                <a:gridCol w="1687575"/>
                <a:gridCol w="1371150"/>
                <a:gridCol w="1582100"/>
              </a:tblGrid>
              <a:tr h="475488">
                <a:tc>
                  <a:txBody>
                    <a:bodyPr/>
                    <a:lstStyle/>
                    <a:p>
                      <a:pPr>
                        <a:lnSpc>
                          <a:spcPct val="105000"/>
                        </a:lnSpc>
                        <a:spcBef>
                          <a:spcPts val="0"/>
                        </a:spcBef>
                        <a:spcAft>
                          <a:spcPts val="0"/>
                        </a:spcAft>
                      </a:pPr>
                      <a:r>
                        <a:rPr sz="1000" b="1">
                          <a:solidFill>
                            <a:srgbClr val="FFFFFF"/>
                          </a:solidFill>
                          <a:latin typeface="Be Vietnam Pro"/>
                        </a:rPr>
                        <a:t>Thành viên</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SP (40%)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 review (30%)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Đánh giá chéo (20%)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Mentor (10%)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Tổng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Triệu Quang Dũng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Lê Minh Danh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Đỗ Tuấn Dũng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Nguyễn Trần Việt 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Nguyễn Thùy Chang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331" name="Google Shape;331;p15"/>
          <p:cNvSpPr/>
          <p:nvPr/>
        </p:nvSpPr>
        <p:spPr>
          <a:xfrm>
            <a:off x="812800" y="3953123"/>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1" i="0" lang="en-US" sz="1200" u="none" cap="none" strike="noStrike">
                <a:solidFill>
                  <a:srgbClr val="5A6573"/>
                </a:solidFill>
                <a:latin typeface="Be Vietnam Pro"/>
                <a:ea typeface="Be Vietnam Pro"/>
                <a:cs typeface="Be Vietnam Pro"/>
                <a:sym typeface="Be Vietnam Pro"/>
              </a:rPr>
              <a:t>Tỉ lệ đóng góp cuối cùng</a:t>
            </a:r>
            <a:endParaRPr b="0" i="0" sz="1200" u="none" cap="none" strike="noStrike">
              <a:solidFill>
                <a:schemeClr val="dk1"/>
              </a:solidFill>
              <a:latin typeface="Calibri"/>
              <a:ea typeface="Calibri"/>
              <a:cs typeface="Calibri"/>
              <a:sym typeface="Calibri"/>
            </a:endParaRPr>
          </a:p>
        </p:txBody>
      </p:sp>
      <p:sp>
        <p:nvSpPr>
          <p:cNvPr id="332" name="Google Shape;332;p15"/>
          <p:cNvSpPr/>
          <p:nvPr/>
        </p:nvSpPr>
        <p:spPr>
          <a:xfrm>
            <a:off x="812800" y="4242643"/>
            <a:ext cx="2641600" cy="457200"/>
          </a:xfrm>
          <a:custGeom>
            <a:rect b="b" l="l" r="r" t="t"/>
            <a:pathLst>
              <a:path extrusionOk="0" h="457200" w="2641600">
                <a:moveTo>
                  <a:pt x="0" y="76200"/>
                </a:moveTo>
                <a:cubicBezTo>
                  <a:pt x="0" y="34116"/>
                  <a:pt x="34116" y="0"/>
                  <a:pt x="76200" y="0"/>
                </a:cubicBezTo>
                <a:lnTo>
                  <a:pt x="2641600" y="0"/>
                </a:lnTo>
                <a:lnTo>
                  <a:pt x="2641600" y="457200"/>
                </a:lnTo>
                <a:lnTo>
                  <a:pt x="76200" y="457200"/>
                </a:lnTo>
                <a:cubicBezTo>
                  <a:pt x="34116" y="457200"/>
                  <a:pt x="0" y="423084"/>
                  <a:pt x="0" y="381000"/>
                </a:cubicBezTo>
                <a:close/>
              </a:path>
            </a:pathLst>
          </a:cu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965200" y="4364583"/>
            <a:ext cx="10241280"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200"/>
              <a:buFont typeface="Be Vietnam Pro"/>
              <a:buNone/>
            </a:pPr>
            <a:pPr indent="0" lvl="0" marL="0" marR="0" rtl="0" algn="l">
              <a:lnSpc>
                <a:spcPct val="140000"/>
              </a:lnSpc>
              <a:spcBef>
                <a:spcPts val="0"/>
              </a:spcBef>
              <a:spcAft>
                <a:spcPts val="0"/>
              </a:spcAft>
              <a:buClr>
                <a:srgbClr val="F6F7F4"/>
              </a:buClr>
              <a:buSzPts val="1200"/>
              <a:buFont typeface="Be Vietnam Pro"/>
              <a:buNone/>
            </a:pPr>
            <a:r>
              <a:rPr b="1" i="0" lang="en-US" sz="1200" u="none" cap="none" strike="noStrike">
                <a:solidFill>
                  <a:srgbClr val="C17B10"/>
                </a:solidFill>
                <a:latin typeface="Be Vietnam Pro"/>
                <a:ea typeface="Be Vietnam Pro"/>
                <a:cs typeface="Be Vietnam Pro"/>
                <a:sym typeface="Be Vietnam Pro"/>
              </a:rPr>
              <a:t>CHƯA TÍNH — cần đủ dữ liệu, đánh giá chéo và mentor xác nhận</a:t>
            </a:r>
            <a:endParaRPr b="0" i="0" sz="1200" u="none" cap="none" strike="noStrike">
              <a:solidFill>
                <a:schemeClr val="dk1"/>
              </a:solidFill>
              <a:latin typeface="Calibri"/>
              <a:ea typeface="Calibri"/>
              <a:cs typeface="Calibri"/>
              <a:sym typeface="Calibri"/>
            </a:endParaRPr>
          </a:p>
        </p:txBody>
      </p:sp>
      <p:sp>
        <p:nvSpPr>
          <p:cNvPr id="334" name="Google Shape;334;p15"/>
          <p:cNvSpPr/>
          <p:nvPr/>
        </p:nvSpPr>
        <p:spPr>
          <a:xfrm>
            <a:off x="3454400" y="4242643"/>
            <a:ext cx="2641600" cy="457200"/>
          </a:xfrm>
          <a:prstGeom prst="rect">
            <a:avLst/>
          </a:pr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3606800" y="4364583"/>
            <a:ext cx="1778658"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200"/>
              <a:buFont typeface="Be Vietnam Pro"/>
              <a:buNone/>
            </a:pPr>
            <a:pPr indent="0" lvl="0" marL="0" marR="0" rtl="0" algn="l">
              <a:lnSpc>
                <a:spcPct val="140000"/>
              </a:lnSpc>
              <a:spcBef>
                <a:spcPts val="0"/>
              </a:spcBef>
              <a:spcAft>
                <a:spcPts val="0"/>
              </a:spcAft>
              <a:buClr>
                <a:srgbClr val="12263A"/>
              </a:buClr>
              <a:buSzPts val="1200"/>
              <a:buFont typeface="Be Vietnam Pro"/>
              <a:buNone/>
            </a:pPr>
            <a:r>
              <a:rPr b="1" i="0" lang="en-US" sz="1000" u="none" cap="none" strike="noStrike">
                <a:solidFill>
                  <a:srgbClr val="12263A"/>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36" name="Google Shape;336;p15"/>
          <p:cNvSpPr/>
          <p:nvPr/>
        </p:nvSpPr>
        <p:spPr>
          <a:xfrm>
            <a:off x="6096000" y="4242643"/>
            <a:ext cx="2641600" cy="457200"/>
          </a:xfrm>
          <a:prstGeom prst="rect">
            <a:avLst/>
          </a:pr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6248400" y="4364583"/>
            <a:ext cx="1780856"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200"/>
              <a:buFont typeface="Be Vietnam Pro"/>
              <a:buNone/>
            </a:pPr>
            <a:pPr indent="0" lvl="0" marL="0" marR="0" rtl="0" algn="l">
              <a:lnSpc>
                <a:spcPct val="140000"/>
              </a:lnSpc>
              <a:spcBef>
                <a:spcPts val="0"/>
              </a:spcBef>
              <a:spcAft>
                <a:spcPts val="0"/>
              </a:spcAft>
              <a:buClr>
                <a:srgbClr val="F6F7F4"/>
              </a:buClr>
              <a:buSzPts val="1200"/>
              <a:buFont typeface="Be Vietnam Pro"/>
              <a:buNone/>
            </a:pPr>
            <a:r>
              <a:rPr b="1" i="0" lang="en-US" sz="1000" u="none" cap="none" strike="noStrike">
                <a:solidFill>
                  <a:srgbClr val="F6F7F4"/>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38" name="Google Shape;338;p15"/>
          <p:cNvSpPr/>
          <p:nvPr/>
        </p:nvSpPr>
        <p:spPr>
          <a:xfrm>
            <a:off x="8737600" y="4242643"/>
            <a:ext cx="2641600" cy="457200"/>
          </a:xfrm>
          <a:custGeom>
            <a:rect b="b" l="l" r="r" t="t"/>
            <a:pathLst>
              <a:path extrusionOk="0" h="457200" w="2641600">
                <a:moveTo>
                  <a:pt x="2565400" y="0"/>
                </a:moveTo>
                <a:cubicBezTo>
                  <a:pt x="2585609" y="0"/>
                  <a:pt x="2604991" y="8028"/>
                  <a:pt x="2619282" y="22318"/>
                </a:cubicBezTo>
                <a:cubicBezTo>
                  <a:pt x="2633572" y="36609"/>
                  <a:pt x="2641600" y="55991"/>
                  <a:pt x="2641600" y="76200"/>
                </a:cubicBezTo>
                <a:lnTo>
                  <a:pt x="2641600" y="381000"/>
                </a:lnTo>
                <a:cubicBezTo>
                  <a:pt x="2641600" y="423084"/>
                  <a:pt x="2607484" y="457200"/>
                  <a:pt x="2565400" y="457200"/>
                </a:cubicBezTo>
                <a:lnTo>
                  <a:pt x="0" y="457200"/>
                </a:lnTo>
                <a:lnTo>
                  <a:pt x="0" y="0"/>
                </a:lnTo>
                <a:close/>
              </a:path>
            </a:pathLst>
          </a:cu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8890000" y="4364583"/>
            <a:ext cx="1787447"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200"/>
              <a:buFont typeface="Be Vietnam Pro"/>
              <a:buNone/>
            </a:pPr>
            <a:pPr indent="0" lvl="0" marL="0" marR="0" rtl="0" algn="l">
              <a:lnSpc>
                <a:spcPct val="140000"/>
              </a:lnSpc>
              <a:spcBef>
                <a:spcPts val="0"/>
              </a:spcBef>
              <a:spcAft>
                <a:spcPts val="0"/>
              </a:spcAft>
              <a:buClr>
                <a:srgbClr val="12263A"/>
              </a:buClr>
              <a:buSzPts val="1200"/>
              <a:buFont typeface="Be Vietnam Pro"/>
              <a:buNone/>
            </a:pPr>
            <a:r>
              <a:rPr b="1" i="0" lang="en-US" sz="1000" u="none" cap="none" strike="noStrike">
                <a:solidFill>
                  <a:srgbClr val="12263A"/>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40" name="Google Shape;340;p15"/>
          <p:cNvSpPr/>
          <p:nvPr/>
        </p:nvSpPr>
        <p:spPr>
          <a:xfrm>
            <a:off x="812800" y="4953843"/>
            <a:ext cx="10883392"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200"/>
              <a:buFont typeface="Be Vietnam Pro"/>
              <a:buNone/>
            </a:pPr>
            <a:pPr indent="0" lvl="0" marL="0" marR="0" rtl="0" algn="l">
              <a:lnSpc>
                <a:spcPct val="140000"/>
              </a:lnSpc>
              <a:spcBef>
                <a:spcPts val="0"/>
              </a:spcBef>
              <a:spcAft>
                <a:spcPts val="0"/>
              </a:spcAft>
              <a:buClr>
                <a:srgbClr val="3F4A57"/>
              </a:buClr>
              <a:buSzPts val="1200"/>
              <a:buFont typeface="Be Vietnam Pro"/>
              <a:buNone/>
            </a:pPr>
            <a:r>
              <a:rPr b="0" i="0" lang="en-US" sz="1200" u="none" cap="none" strike="noStrike">
                <a:solidFill>
                  <a:srgbClr val="3F4A57"/>
                </a:solidFill>
                <a:latin typeface="Be Vietnam Pro"/>
                <a:ea typeface="Be Vietnam Pro"/>
                <a:cs typeface="Be Vietnam Pro"/>
                <a:sym typeface="Be Vietnam Pro"/>
              </a:rPr>
              <a:t>Công thức mẫu: 40% SP + 30% PR/review + 20% đánh giá chéo + 10% mentor.</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200"/>
              <a:buFont typeface="Be Vietnam Pro"/>
              <a:buNone/>
            </a:pPr>
            <a:r>
              <a:rPr b="0" i="0" lang="en-US" sz="1200" u="none" cap="none" strike="noStrike">
                <a:solidFill>
                  <a:srgbClr val="3F4A57"/>
                </a:solidFill>
                <a:latin typeface="Be Vietnam Pro"/>
                <a:ea typeface="Be Vietnam Pro"/>
                <a:cs typeface="Be Vietnam Pro"/>
                <a:sym typeface="Be Vietnam Pro"/>
              </a:rPr>
              <a:t>Chưa có số liệu: không chia đều, không ước lượng. Tổng cuối cùng phải = 100%.</a:t>
            </a:r>
          </a:p>
        </p:txBody>
      </p:sp>
      <p:sp>
        <p:nvSpPr>
          <p:cNvPr id="341" name="Google Shape;341;p15"/>
          <p:cNvSpPr/>
          <p:nvPr/>
        </p:nvSpPr>
        <p:spPr>
          <a:xfrm>
            <a:off x="812800" y="6238280"/>
            <a:ext cx="419854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Nguồn: Jira · Git · phiếu đánh giá chéo · nhận xét mentor</a:t>
            </a:r>
            <a:endParaRPr b="0" i="0" sz="1200" u="none" cap="none" strike="noStrike">
              <a:solidFill>
                <a:schemeClr val="dk1"/>
              </a:solidFill>
              <a:latin typeface="Calibri"/>
              <a:ea typeface="Calibri"/>
              <a:cs typeface="Calibri"/>
              <a:sym typeface="Calibri"/>
            </a:endParaRPr>
          </a:p>
        </p:txBody>
      </p:sp>
      <p:sp>
        <p:nvSpPr>
          <p:cNvPr id="342" name="Google Shape;342;p15"/>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43" name="Google Shape;343;p15"/>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344" name="Google Shape;344;p15"/>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345" name="TextBox 344"/>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46" name="TextBox 345"/>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14</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349" name="Shape 349"/>
        <p:cNvGrpSpPr/>
        <p:nvPr/>
      </p:nvGrpSpPr>
      <p:grpSpPr>
        <a:xfrm>
          <a:off x="0" y="0"/>
          <a:ext cx="0" cy="0"/>
          <a:chOff x="0" y="0"/>
          <a:chExt cx="0" cy="0"/>
        </a:xfrm>
      </p:grpSpPr>
      <p:sp>
        <p:nvSpPr>
          <p:cNvPr id="350" name="Google Shape;350;p16"/>
          <p:cNvSpPr/>
          <p:nvPr/>
        </p:nvSpPr>
        <p:spPr>
          <a:xfrm>
            <a:off x="812800" y="238001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400"/>
              <a:buFont typeface="Be Vietnam Pro"/>
              <a:buNone/>
            </a:pPr>
            <a:r>
              <a:rPr b="1" i="0" lang="en-US" sz="1400" u="none" cap="none" strike="noStrike">
                <a:solidFill>
                  <a:srgbClr val="F28C28"/>
                </a:solidFill>
                <a:latin typeface="Be Vietnam Pro"/>
                <a:ea typeface="Be Vietnam Pro"/>
                <a:cs typeface="Be Vietnam Pro"/>
                <a:sym typeface="Be Vietnam Pro"/>
              </a:rPr>
              <a:t>PHẦN B</a:t>
            </a:r>
            <a:endParaRPr b="0" i="0" sz="1400" u="none" cap="none" strike="noStrike">
              <a:solidFill>
                <a:schemeClr val="dk1"/>
              </a:solidFill>
              <a:latin typeface="Calibri"/>
              <a:ea typeface="Calibri"/>
              <a:cs typeface="Calibri"/>
              <a:sym typeface="Calibri"/>
            </a:endParaRPr>
          </a:p>
        </p:txBody>
      </p:sp>
      <p:sp>
        <p:nvSpPr>
          <p:cNvPr id="351" name="Google Shape;351;p16"/>
          <p:cNvSpPr/>
          <p:nvPr/>
        </p:nvSpPr>
        <p:spPr>
          <a:xfrm>
            <a:off x="812800" y="2832100"/>
            <a:ext cx="10883392" cy="695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7F4"/>
              </a:buClr>
              <a:buSzPts val="4800"/>
              <a:buFont typeface="Be Vietnam Pro"/>
              <a:buNone/>
            </a:pPr>
            <a:r>
              <a:rPr b="1" i="0" lang="en-US" sz="4800" u="none" cap="none" strike="noStrike">
                <a:solidFill>
                  <a:srgbClr val="F6F7F4"/>
                </a:solidFill>
                <a:latin typeface="Be Vietnam Pro"/>
                <a:ea typeface="Be Vietnam Pro"/>
                <a:cs typeface="Be Vietnam Pro"/>
                <a:sym typeface="Be Vietnam Pro"/>
              </a:rPr>
              <a:t>Đóng góp cá nhân</a:t>
            </a:r>
            <a:endParaRPr b="0" i="0" sz="4800" u="none" cap="none" strike="noStrike">
              <a:solidFill>
                <a:schemeClr val="dk1"/>
              </a:solidFill>
              <a:latin typeface="Calibri"/>
              <a:ea typeface="Calibri"/>
              <a:cs typeface="Calibri"/>
              <a:sym typeface="Calibri"/>
            </a:endParaRPr>
          </a:p>
        </p:txBody>
      </p:sp>
      <p:sp>
        <p:nvSpPr>
          <p:cNvPr id="352" name="Google Shape;352;p16"/>
          <p:cNvSpPr/>
          <p:nvPr/>
        </p:nvSpPr>
        <p:spPr>
          <a:xfrm>
            <a:off x="812800" y="3705820"/>
            <a:ext cx="10883392"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D0DE"/>
              </a:buClr>
              <a:buSzPts val="1800"/>
              <a:buFont typeface="Be Vietnam Pro"/>
              <a:buNone/>
            </a:pPr>
            <a:r>
              <a:rPr b="0" i="0" lang="en-US" sz="1800" u="none" cap="none" strike="noStrike">
                <a:solidFill>
                  <a:srgbClr val="BFD0DE"/>
                </a:solidFill>
                <a:latin typeface="Be Vietnam Pro"/>
                <a:ea typeface="Be Vietnam Pro"/>
                <a:cs typeface="Be Vietnam Pro"/>
                <a:sym typeface="Be Vietnam Pro"/>
              </a:rPr>
              <a:t>Vai trò · Đóng góp tiêu biểu · Năng lực tăng lên</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812800" y="4229050"/>
            <a:ext cx="10883392"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BFD0DE"/>
              </a:buClr>
              <a:buSzPts val="1400"/>
              <a:buFont typeface="Be Vietnam Pro"/>
              <a:buNone/>
            </a:pPr>
            <a:pPr indent="0" lvl="0" marL="0" marR="0" rtl="0" algn="l">
              <a:lnSpc>
                <a:spcPct val="140000"/>
              </a:lnSpc>
              <a:spcBef>
                <a:spcPts val="0"/>
              </a:spcBef>
              <a:spcAft>
                <a:spcPts val="0"/>
              </a:spcAft>
              <a:buClr>
                <a:srgbClr val="BFD0DE"/>
              </a:buClr>
              <a:buSzPts val="1400"/>
              <a:buFont typeface="Be Vietnam Pro"/>
              <a:buNone/>
            </a:pPr>
            <a:r>
              <a:rPr b="0" i="0" lang="en-US" sz="1400" u="none" cap="none" strike="noStrike">
                <a:solidFill>
                  <a:srgbClr val="BFD0DE"/>
                </a:solidFill>
                <a:latin typeface="Be Vietnam Pro"/>
                <a:ea typeface="Be Vietnam Pro"/>
                <a:cs typeface="Be Vietnam Pro"/>
                <a:sym typeface="Be Vietnam Pro"/>
              </a:rPr>
              <a:t>Dũng → Backend → Frontend · 3 slide/người · cần nhóm chốt thứ tự và thời lượng</a:t>
            </a:r>
            <a:endParaRPr b="0" i="0" sz="14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54" name="Google Shape;354;p16"/>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355" name="Google Shape;355;p16"/>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356" name="TextBox 35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57" name="TextBox 35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16</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360" name="Shape 360"/>
        <p:cNvGrpSpPr/>
        <p:nvPr/>
      </p:nvGrpSpPr>
      <p:grpSpPr>
        <a:xfrm>
          <a:off x="0" y="0"/>
          <a:ext cx="0" cy="0"/>
          <a:chOff x="0" y="0"/>
          <a:chExt cx="0" cy="0"/>
        </a:xfrm>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Triệu Quang Dũng · Leader / Frontend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Tài khoản, phân quyền; tích hợp và kiểm thử.</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N1-6, N1-5, N1-8.</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N1-6, N1-5, N1-8, N1-47</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29</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17</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391" name="Shape 391"/>
        <p:cNvGrpSpPr/>
        <p:nvPr/>
      </p:nvGrpSpPr>
      <p:grpSpPr>
        <a:xfrm>
          <a:off x="0" y="0"/>
          <a:ext cx="0" cy="0"/>
          <a:chOff x="0" y="0"/>
          <a:chExt cx="0" cy="0"/>
        </a:xfrm>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TRIỆU QUANG DŨNG</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Đồng bộ luồng khôi phục mật khẩu và xử lý gửi mail</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3">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Tài khoản, phân quyền; tích hợp và kiểm thử.</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3">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N1-6, N1-5</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4">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5">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18</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420" name="Shape 420"/>
        <p:cNvGrpSpPr/>
        <p:nvPr/>
      </p:nvGrpSpPr>
      <p:grpSpPr>
        <a:xfrm>
          <a:off x="0" y="0"/>
          <a:ext cx="0" cy="0"/>
          <a:chOff x="0" y="0"/>
          <a:chExt cx="0" cy="0"/>
        </a:xfrm>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TRIỆU QUANG DŨNG</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React / UI / tích hợp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19</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441" name="Shape 441"/>
        <p:cNvGrpSpPr/>
        <p:nvPr/>
      </p:nvGrpSpPr>
      <p:grpSpPr>
        <a:xfrm>
          <a:off x="0" y="0"/>
          <a:ext cx="0" cy="0"/>
          <a:chOff x="0" y="0"/>
          <a:chExt cx="0" cy="0"/>
        </a:xfrm>
      </p:grpSpPr>
      <p:sp>
        <p:nvSpPr>
          <p:cNvPr id="442" name="Google Shape;442;p20"/>
          <p:cNvSpPr/>
          <p:nvPr/>
        </p:nvSpPr>
        <p:spPr>
          <a:xfrm>
            <a:off x="812800" y="238001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8C28"/>
              </a:buClr>
              <a:buSzPts val="1400"/>
              <a:buFont typeface="Be Vietnam Pro"/>
              <a:buNone/>
            </a:pPr>
            <a:r>
              <a:rPr b="1" i="0" lang="en-US" sz="1400" u="none" cap="none" strike="noStrike">
                <a:solidFill>
                  <a:srgbClr val="F28C28"/>
                </a:solidFill>
                <a:latin typeface="Be Vietnam Pro"/>
                <a:ea typeface="Be Vietnam Pro"/>
                <a:cs typeface="Be Vietnam Pro"/>
                <a:sym typeface="Be Vietnam Pro"/>
              </a:rPr>
              <a:t>PHẦN C</a:t>
            </a:r>
            <a:endParaRPr b="0" i="0" sz="1400" u="none" cap="none" strike="noStrike">
              <a:solidFill>
                <a:schemeClr val="dk1"/>
              </a:solidFill>
              <a:latin typeface="Calibri"/>
              <a:ea typeface="Calibri"/>
              <a:cs typeface="Calibri"/>
              <a:sym typeface="Calibri"/>
            </a:endParaRPr>
          </a:p>
        </p:txBody>
      </p:sp>
      <p:sp>
        <p:nvSpPr>
          <p:cNvPr id="443" name="Google Shape;443;p20"/>
          <p:cNvSpPr/>
          <p:nvPr/>
        </p:nvSpPr>
        <p:spPr>
          <a:xfrm>
            <a:off x="812800" y="2832100"/>
            <a:ext cx="10883392" cy="695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7F4"/>
              </a:buClr>
              <a:buSzPts val="4800"/>
              <a:buFont typeface="Be Vietnam Pro"/>
              <a:buNone/>
            </a:pPr>
            <a:r>
              <a:rPr b="1" i="0" lang="en-US" sz="4800" u="none" cap="none" strike="noStrike">
                <a:solidFill>
                  <a:srgbClr val="F6F7F4"/>
                </a:solidFill>
                <a:latin typeface="Be Vietnam Pro"/>
                <a:ea typeface="Be Vietnam Pro"/>
                <a:cs typeface="Be Vietnam Pro"/>
                <a:sym typeface="Be Vietnam Pro"/>
              </a:rPr>
              <a:t>Tổng kết</a:t>
            </a:r>
            <a:endParaRPr b="0" i="0" sz="4800" u="none" cap="none" strike="noStrike">
              <a:solidFill>
                <a:schemeClr val="dk1"/>
              </a:solidFill>
              <a:latin typeface="Calibri"/>
              <a:ea typeface="Calibri"/>
              <a:cs typeface="Calibri"/>
              <a:sym typeface="Calibri"/>
            </a:endParaRPr>
          </a:p>
        </p:txBody>
      </p:sp>
      <p:sp>
        <p:nvSpPr>
          <p:cNvPr id="444" name="Google Shape;444;p20"/>
          <p:cNvSpPr/>
          <p:nvPr/>
        </p:nvSpPr>
        <p:spPr>
          <a:xfrm>
            <a:off x="812800" y="3705820"/>
            <a:ext cx="10883392"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D0DE"/>
              </a:buClr>
              <a:buSzPts val="1800"/>
              <a:buFont typeface="Be Vietnam Pro"/>
              <a:buNone/>
            </a:pPr>
            <a:r>
              <a:rPr b="0" i="0" lang="en-US" sz="1800" u="none" cap="none" strike="noStrike">
                <a:solidFill>
                  <a:srgbClr val="BFD0DE"/>
                </a:solidFill>
                <a:latin typeface="Be Vietnam Pro"/>
                <a:ea typeface="Be Vietnam Pro"/>
                <a:cs typeface="Be Vietnam Pro"/>
                <a:sym typeface="Be Vietnam Pro"/>
              </a:rPr>
              <a:t>Giá trị đạt được · Bài học · Hướng phát triển · Demo</a:t>
            </a:r>
            <a:endParaRPr b="0" i="0" sz="1800" u="none" cap="none" strike="noStrike">
              <a:solidFill>
                <a:schemeClr val="dk1"/>
              </a:solidFill>
              <a:latin typeface="Calibri"/>
              <a:ea typeface="Calibri"/>
              <a:cs typeface="Calibri"/>
              <a:sym typeface="Calibri"/>
            </a:endParaRPr>
          </a:p>
        </p:txBody>
      </p:sp>
      <p:sp>
        <p:nvSpPr>
          <p:cNvPr id="445" name="Google Shape;445;p20"/>
          <p:cNvSpPr/>
          <p:nvPr/>
        </p:nvSpPr>
        <p:spPr>
          <a:xfrm>
            <a:off x="812800" y="4229050"/>
            <a:ext cx="10883392"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BFD0DE"/>
              </a:buClr>
              <a:buSzPts val="1400"/>
              <a:buFont typeface="Be Vietnam Pro"/>
              <a:buNone/>
            </a:pPr>
            <a:pPr indent="0" lvl="0" marL="0" marR="0" rtl="0" algn="l">
              <a:lnSpc>
                <a:spcPct val="140000"/>
              </a:lnSpc>
              <a:spcBef>
                <a:spcPts val="0"/>
              </a:spcBef>
              <a:spcAft>
                <a:spcPts val="0"/>
              </a:spcAft>
              <a:buClr>
                <a:srgbClr val="BFD0DE"/>
              </a:buClr>
              <a:buSzPts val="1400"/>
              <a:buFont typeface="Be Vietnam Pro"/>
              <a:buNone/>
            </a:pPr>
            <a:r>
              <a:rPr b="0" i="0" lang="en-US" sz="1400" u="none" cap="none" strike="noStrike">
                <a:solidFill>
                  <a:srgbClr val="BFD0DE"/>
                </a:solidFill>
                <a:latin typeface="Be Vietnam Pro"/>
                <a:ea typeface="Be Vietnam Pro"/>
                <a:cs typeface="Be Vietnam Pro"/>
                <a:sym typeface="Be Vietnam Pro"/>
              </a:rPr>
              <a:t>Người trình bày dự kiến: Triệu Quang Dũng · Khoảng 7 phút</a:t>
            </a:r>
            <a:endParaRPr b="0" i="0" sz="14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46" name="Google Shape;446;p20"/>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47" name="Google Shape;447;p20"/>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48" name="TextBox 447"/>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49" name="TextBox 448"/>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47</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452" name="Shape 452"/>
        <p:cNvGrpSpPr/>
        <p:nvPr/>
      </p:nvGrpSpPr>
      <p:grpSpPr>
        <a:xfrm>
          <a:off x="0" y="0"/>
          <a:ext cx="0" cy="0"/>
          <a:chOff x="0" y="0"/>
          <a:chExt cx="0" cy="0"/>
        </a:xfrm>
      </p:grpSpPr>
      <p:sp>
        <p:nvSpPr>
          <p:cNvPr id="453" name="Google Shape;453;p2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C · 01 — GIÁ TRỊ</a:t>
            </a:r>
            <a:endParaRPr b="0" i="0" sz="1200" u="none" cap="none" strike="noStrike">
              <a:solidFill>
                <a:schemeClr val="dk1"/>
              </a:solidFill>
              <a:latin typeface="Calibri"/>
              <a:ea typeface="Calibri"/>
              <a:cs typeface="Calibri"/>
              <a:sym typeface="Calibri"/>
            </a:endParaRPr>
          </a:p>
        </p:txBody>
      </p:sp>
      <p:sp>
        <p:nvSpPr>
          <p:cNvPr id="454" name="Google Shape;454;p21"/>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Giá trị đạt được</a:t>
            </a:r>
            <a:endParaRPr b="0" i="0" sz="3200" u="none" cap="none" strike="noStrike">
              <a:solidFill>
                <a:schemeClr val="dk1"/>
              </a:solidFill>
              <a:latin typeface="Calibri"/>
              <a:ea typeface="Calibri"/>
              <a:cs typeface="Calibri"/>
              <a:sym typeface="Calibri"/>
            </a:endParaRPr>
          </a:p>
        </p:txBody>
      </p:sp>
      <p:sp>
        <p:nvSpPr>
          <p:cNvPr id="455" name="Google Shape;455;p21"/>
          <p:cNvSpPr/>
          <p:nvPr/>
        </p:nvSpPr>
        <p:spPr>
          <a:xfrm>
            <a:off x="815975" y="1806525"/>
            <a:ext cx="3414167" cy="3224609"/>
          </a:xfrm>
          <a:prstGeom prst="roundRect">
            <a:avLst>
              <a:gd fmla="val 305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456" name="Google Shape;456;p21"/>
          <p:cNvPicPr preferRelativeResize="0"/>
          <p:nvPr/>
        </p:nvPicPr>
        <p:blipFill rotWithShape="1">
          <a:blip r:embed="rId3">
            <a:alphaModFix/>
          </a:blip>
          <a:srcRect b="0" l="0" r="0" t="0"/>
          <a:stretch/>
        </p:blipFill>
        <p:spPr>
          <a:xfrm>
            <a:off x="1022350" y="2012900"/>
            <a:ext cx="355600" cy="355600"/>
          </a:xfrm>
          <a:prstGeom prst="rect">
            <a:avLst/>
          </a:prstGeom>
          <a:noFill/>
          <a:ln>
            <a:noFill/>
          </a:ln>
        </p:spPr>
      </p:pic>
      <p:sp>
        <p:nvSpPr>
          <p:cNvPr id="457" name="Google Shape;457;p21"/>
          <p:cNvSpPr/>
          <p:nvPr/>
        </p:nvSpPr>
        <p:spPr>
          <a:xfrm>
            <a:off x="1022350" y="2444700"/>
            <a:ext cx="3091459" cy="5739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Cho sản phẩm / doanh nghiệp</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022350" y="3069481"/>
            <a:ext cx="3091459" cy="126985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Luồng tài khoản, khách hàng và lead có bản chạy/test.</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Cấu hình và dữ liệu được chuẩn hóa.</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Có tài liệu API và hướng dẫn kiểm thử.</a:t>
            </a:r>
          </a:p>
        </p:txBody>
      </p:sp>
      <p:sp>
        <p:nvSpPr>
          <p:cNvPr id="459" name="Google Shape;459;p21"/>
          <p:cNvSpPr/>
          <p:nvPr/>
        </p:nvSpPr>
        <p:spPr>
          <a:xfrm>
            <a:off x="4388892" y="1806525"/>
            <a:ext cx="3414216" cy="3224609"/>
          </a:xfrm>
          <a:prstGeom prst="roundRect">
            <a:avLst>
              <a:gd fmla="val 305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460" name="Google Shape;460;p21"/>
          <p:cNvPicPr preferRelativeResize="0"/>
          <p:nvPr/>
        </p:nvPicPr>
        <p:blipFill rotWithShape="1">
          <a:blip r:embed="rId4">
            <a:alphaModFix/>
          </a:blip>
          <a:srcRect b="0" l="0" r="0" t="0"/>
          <a:stretch/>
        </p:blipFill>
        <p:spPr>
          <a:xfrm>
            <a:off x="4595267" y="2012900"/>
            <a:ext cx="355600" cy="355600"/>
          </a:xfrm>
          <a:prstGeom prst="rect">
            <a:avLst/>
          </a:prstGeom>
          <a:noFill/>
          <a:ln>
            <a:noFill/>
          </a:ln>
        </p:spPr>
      </p:pic>
      <p:sp>
        <p:nvSpPr>
          <p:cNvPr id="461" name="Google Shape;461;p21"/>
          <p:cNvSpPr/>
          <p:nvPr/>
        </p:nvSpPr>
        <p:spPr>
          <a:xfrm>
            <a:off x="4595267" y="2444700"/>
            <a:ext cx="309151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Cho nhóm</a:t>
            </a:r>
            <a:endParaRPr b="0" i="0" sz="1800" u="none" cap="none" strike="noStrike">
              <a:solidFill>
                <a:schemeClr val="dk1"/>
              </a:solidFill>
              <a:latin typeface="Calibri"/>
              <a:ea typeface="Calibri"/>
              <a:cs typeface="Calibri"/>
              <a:sym typeface="Calibri"/>
            </a:endParaRPr>
          </a:p>
        </p:txBody>
      </p:sp>
      <p:sp>
        <p:nvSpPr>
          <p:cNvPr id="462" name="Google Shape;462;p21"/>
          <p:cNvSpPr/>
          <p:nvPr/>
        </p:nvSpPr>
        <p:spPr>
          <a:xfrm>
            <a:off x="4595267" y="2795191"/>
            <a:ext cx="3091510" cy="126985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Có backlog, phân công và repository chung.</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Nhận diện lỗi tích hợp, CI và mail.</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Cần nhóm xác nhận bài học quy trình.</a:t>
            </a:r>
          </a:p>
        </p:txBody>
      </p:sp>
      <p:sp>
        <p:nvSpPr>
          <p:cNvPr id="463" name="Google Shape;463;p21"/>
          <p:cNvSpPr/>
          <p:nvPr/>
        </p:nvSpPr>
        <p:spPr>
          <a:xfrm>
            <a:off x="7961858" y="1806525"/>
            <a:ext cx="3414167" cy="3224609"/>
          </a:xfrm>
          <a:prstGeom prst="roundRect">
            <a:avLst>
              <a:gd fmla="val 305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d="464" name="Google Shape;464;p21"/>
          <p:cNvPicPr preferRelativeResize="0"/>
          <p:nvPr/>
        </p:nvPicPr>
        <p:blipFill rotWithShape="1">
          <a:blip r:embed="rId5">
            <a:alphaModFix/>
          </a:blip>
          <a:srcRect b="0" l="0" r="0" t="0"/>
          <a:stretch/>
        </p:blipFill>
        <p:spPr>
          <a:xfrm>
            <a:off x="8168233" y="2012900"/>
            <a:ext cx="355600" cy="355600"/>
          </a:xfrm>
          <a:prstGeom prst="rect">
            <a:avLst/>
          </a:prstGeom>
          <a:noFill/>
          <a:ln>
            <a:noFill/>
          </a:ln>
        </p:spPr>
      </p:pic>
      <p:sp>
        <p:nvSpPr>
          <p:cNvPr id="465" name="Google Shape;465;p21"/>
          <p:cNvSpPr/>
          <p:nvPr/>
        </p:nvSpPr>
        <p:spPr>
          <a:xfrm>
            <a:off x="8168233" y="2444700"/>
            <a:ext cx="3091459"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Cho cá nhân</a:t>
            </a:r>
            <a:endParaRPr b="0" i="0" sz="1800" u="none" cap="none" strike="noStrike">
              <a:solidFill>
                <a:schemeClr val="dk1"/>
              </a:solidFill>
              <a:latin typeface="Calibri"/>
              <a:ea typeface="Calibri"/>
              <a:cs typeface="Calibri"/>
              <a:sym typeface="Calibri"/>
            </a:endParaRPr>
          </a:p>
        </p:txBody>
      </p:sp>
      <p:sp>
        <p:nvSpPr>
          <p:cNvPr id="466" name="Google Shape;466;p21"/>
          <p:cNvSpPr/>
          <p:nvPr/>
        </p:nvSpPr>
        <p:spPr>
          <a:xfrm>
            <a:off x="8168233" y="2795191"/>
            <a:ext cx="3091459" cy="1269851"/>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Có sản phẩm và ticket để trình bày.</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Có cơ sở đối chiếu năng lực.</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Chờ tự đánh giá và phản hồi mentor.</a:t>
            </a:r>
          </a:p>
        </p:txBody>
      </p:sp>
      <p:sp>
        <p:nvSpPr>
          <p:cNvPr id="467" name="Google Shape;467;p21"/>
          <p:cNvSpPr/>
          <p:nvPr/>
        </p:nvSpPr>
        <p:spPr>
          <a:xfrm>
            <a:off x="812800" y="5288310"/>
            <a:ext cx="10566400" cy="553690"/>
          </a:xfrm>
          <a:prstGeom prst="roundRect">
            <a:avLst>
              <a:gd fmla="val 18350" name="adj"/>
            </a:avLst>
          </a:prstGeom>
          <a:solidFill>
            <a:srgbClr val="122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1"/>
          <p:cNvSpPr/>
          <p:nvPr/>
        </p:nvSpPr>
        <p:spPr>
          <a:xfrm>
            <a:off x="1016000" y="5440710"/>
            <a:ext cx="10464800"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28C28"/>
              </a:buClr>
              <a:buSzPts val="1400"/>
              <a:buFont typeface="Be Vietnam Pro"/>
              <a:buNone/>
            </a:pPr>
            <a:pPr indent="0" lvl="0" marL="0" marR="0" rtl="0" algn="l">
              <a:lnSpc>
                <a:spcPct val="140000"/>
              </a:lnSpc>
              <a:spcBef>
                <a:spcPts val="0"/>
              </a:spcBef>
              <a:spcAft>
                <a:spcPts val="0"/>
              </a:spcAft>
              <a:buClr>
                <a:srgbClr val="F28C28"/>
              </a:buClr>
              <a:buSzPts val="1400"/>
              <a:buFont typeface="Be Vietnam Pro"/>
              <a:buNone/>
            </a:pPr>
            <a:r>
              <a:rPr b="1" i="0" lang="en-US" sz="1500" u="none" cap="none" strike="noStrike">
                <a:solidFill>
                  <a:srgbClr val="F28C28"/>
                </a:solidFill>
                <a:latin typeface="Be Vietnam Pro"/>
                <a:ea typeface="Be Vietnam Pro"/>
                <a:cs typeface="Be Vietnam Pro"/>
                <a:sym typeface="Be Vietnam Pro"/>
              </a:rPr>
              <a:t>Giá trị chính: dữ liệu khách hàng tập trung, đúng quyền và lead có người chịu trách nhiệm.</a:t>
            </a:r>
            <a:endParaRPr b="0" i="0" sz="1400" u="none" cap="none" strike="noStrike">
              <a:solidFill>
                <a:schemeClr val="dk1"/>
              </a:solidFill>
              <a:latin typeface="Calibri"/>
              <a:ea typeface="Calibri"/>
              <a:cs typeface="Calibri"/>
              <a:sym typeface="Calibri"/>
            </a:endParaRPr>
          </a:p>
        </p:txBody>
      </p:sp>
      <p:sp>
        <p:nvSpPr>
          <p:cNvPr id="469" name="Google Shape;469;p21"/>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70" name="Google Shape;470;p21"/>
          <p:cNvSpPr/>
          <p:nvPr/>
        </p:nvSpPr>
        <p:spPr>
          <a:xfrm>
            <a:off x="9988352" y="6238280"/>
            <a:ext cx="144164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C — Tổng kết</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71" name="Google Shape;471;p21"/>
          <p:cNvPicPr preferRelativeResize="0"/>
          <p:nvPr/>
        </p:nvPicPr>
        <p:blipFill rotWithShape="1">
          <a:blip r:embed="rId6">
            <a:alphaModFix/>
          </a:blip>
          <a:srcRect b="0" l="0" r="0" t="0"/>
          <a:stretch/>
        </p:blipFill>
        <p:spPr>
          <a:xfrm>
            <a:off x="4778375" y="203200"/>
            <a:ext cx="406400" cy="406400"/>
          </a:xfrm>
          <a:prstGeom prst="rect">
            <a:avLst/>
          </a:prstGeom>
          <a:noFill/>
          <a:ln>
            <a:noFill/>
          </a:ln>
        </p:spPr>
      </p:pic>
      <p:pic>
        <p:nvPicPr>
          <p:cNvPr descr="Logo CodeGym" id="472" name="Google Shape;472;p21"/>
          <p:cNvPicPr preferRelativeResize="0"/>
          <p:nvPr/>
        </p:nvPicPr>
        <p:blipFill rotWithShape="1">
          <a:blip r:embed="rId7">
            <a:alphaModFix/>
          </a:blip>
          <a:srcRect b="-50" l="0" r="0" t="-50"/>
          <a:stretch/>
        </p:blipFill>
        <p:spPr>
          <a:xfrm>
            <a:off x="5438775" y="203200"/>
            <a:ext cx="1974850" cy="406400"/>
          </a:xfrm>
          <a:prstGeom prst="rect">
            <a:avLst/>
          </a:prstGeom>
          <a:noFill/>
          <a:ln>
            <a:noFill/>
          </a:ln>
        </p:spPr>
      </p:pic>
      <p:sp>
        <p:nvSpPr>
          <p:cNvPr id="473" name="TextBox 472"/>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74" name="TextBox 473"/>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48</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477" name="Shape 477"/>
        <p:cNvGrpSpPr/>
        <p:nvPr/>
      </p:nvGrpSpPr>
      <p:grpSpPr>
        <a:xfrm>
          <a:off x="0" y="0"/>
          <a:ext cx="0" cy="0"/>
          <a:chOff x="0" y="0"/>
          <a:chExt cx="0" cy="0"/>
        </a:xfrm>
      </p:grpSpPr>
      <p:sp>
        <p:nvSpPr>
          <p:cNvPr id="478" name="Google Shape;478;p2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C · 02 — BÀI HỌC</a:t>
            </a:r>
            <a:endParaRPr b="0" i="0" sz="1200" u="none" cap="none" strike="noStrike">
              <a:solidFill>
                <a:schemeClr val="dk1"/>
              </a:solidFill>
              <a:latin typeface="Calibri"/>
              <a:ea typeface="Calibri"/>
              <a:cs typeface="Calibri"/>
              <a:sym typeface="Calibri"/>
            </a:endParaRPr>
          </a:p>
        </p:txBody>
      </p:sp>
      <p:sp>
        <p:nvSpPr>
          <p:cNvPr id="479" name="Google Shape;479;p22"/>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Bài học &amp; điểm cần cải thiện</a:t>
            </a:r>
            <a:endParaRPr b="0" i="0" sz="3200" u="none" cap="none" strike="noStrike">
              <a:solidFill>
                <a:schemeClr val="dk1"/>
              </a:solidFill>
              <a:latin typeface="Calibri"/>
              <a:ea typeface="Calibri"/>
              <a:cs typeface="Calibri"/>
              <a:sym typeface="Calibri"/>
            </a:endParaRPr>
          </a:p>
        </p:txBody>
      </p:sp>
      <p:sp>
        <p:nvSpPr>
          <p:cNvPr id="480" name="Google Shape;480;p22"/>
          <p:cNvSpPr/>
          <p:nvPr/>
        </p:nvSpPr>
        <p:spPr>
          <a:xfrm>
            <a:off x="815975" y="1806525"/>
            <a:ext cx="5200650" cy="2165152"/>
          </a:xfrm>
          <a:prstGeom prst="roundRect">
            <a:avLst>
              <a:gd fmla="val 4546"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1022350" y="2012900"/>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Kỹ thuật</a:t>
            </a:r>
            <a:endParaRPr b="0" i="0" sz="1800" u="none" cap="none" strike="noStrike">
              <a:solidFill>
                <a:schemeClr val="dk1"/>
              </a:solidFill>
              <a:latin typeface="Calibri"/>
              <a:ea typeface="Calibri"/>
              <a:cs typeface="Calibri"/>
              <a:sym typeface="Calibri"/>
            </a:endParaRPr>
          </a:p>
        </p:txBody>
      </p:sp>
      <p:sp>
        <p:nvSpPr>
          <p:cNvPr id="482" name="Google Shape;482;p22"/>
          <p:cNvSpPr/>
          <p:nvPr/>
        </p:nvSpPr>
        <p:spPr>
          <a:xfrm>
            <a:off x="1022350" y="2363391"/>
            <a:ext cx="49315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BÀI HỌC</a:t>
            </a:r>
            <a:endParaRPr b="0" i="0" sz="1200" u="none" cap="none" strike="noStrike">
              <a:solidFill>
                <a:schemeClr val="dk1"/>
              </a:solidFill>
              <a:latin typeface="Calibri"/>
              <a:ea typeface="Calibri"/>
              <a:cs typeface="Calibri"/>
              <a:sym typeface="Calibri"/>
            </a:endParaRPr>
          </a:p>
        </p:txBody>
      </p:sp>
      <p:sp>
        <p:nvSpPr>
          <p:cNvPr id="483" name="Google Shape;483;p22"/>
          <p:cNvSpPr/>
          <p:nvPr/>
        </p:nvSpPr>
        <p:spPr>
          <a:xfrm>
            <a:off x="1022350" y="2652911"/>
            <a:ext cx="4931537" cy="52318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Ẩn menu chưa đủ: API phải kiểm tra quyền.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Import cần kiểm tra lại lúc xác nhận.</a:t>
            </a:r>
          </a:p>
        </p:txBody>
      </p:sp>
      <p:sp>
        <p:nvSpPr>
          <p:cNvPr id="484" name="Google Shape;484;p22"/>
          <p:cNvSpPr/>
          <p:nvPr/>
        </p:nvSpPr>
        <p:spPr>
          <a:xfrm>
            <a:off x="1022350" y="3226891"/>
            <a:ext cx="49315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NẾU LÀM LẠI, NHÓM SẼ</a:t>
            </a:r>
            <a:endParaRPr b="0" i="0" sz="1200" u="none" cap="none" strike="noStrike">
              <a:solidFill>
                <a:schemeClr val="dk1"/>
              </a:solidFill>
              <a:latin typeface="Calibri"/>
              <a:ea typeface="Calibri"/>
              <a:cs typeface="Calibri"/>
              <a:sym typeface="Calibri"/>
            </a:endParaRPr>
          </a:p>
        </p:txBody>
      </p:sp>
      <p:sp>
        <p:nvSpPr>
          <p:cNvPr id="485" name="Google Shape;485;p22"/>
          <p:cNvSpPr/>
          <p:nvPr/>
        </p:nvSpPr>
        <p:spPr>
          <a:xfrm>
            <a:off x="1022350" y="3516412"/>
            <a:ext cx="4931537" cy="27429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150" u="none" cap="none" strike="noStrike">
                <a:solidFill>
                  <a:srgbClr val="3F4A57"/>
                </a:solidFill>
                <a:latin typeface="Be Vietnam Pro"/>
                <a:ea typeface="Be Vietnam Pro"/>
                <a:cs typeface="Be Vietnam Pro"/>
                <a:sym typeface="Be Vietnam Pro"/>
              </a:rPr>
              <a:t>Chốt AC và dữ liệu test sớm; kiểm tra lỗi âm tính và thao tác đồng thời.</a:t>
            </a:r>
            <a:endParaRPr b="0" i="0" sz="1400" u="none" cap="none" strike="noStrike">
              <a:solidFill>
                <a:schemeClr val="dk1"/>
              </a:solidFill>
              <a:latin typeface="Calibri"/>
              <a:ea typeface="Calibri"/>
              <a:cs typeface="Calibri"/>
              <a:sym typeface="Calibri"/>
            </a:endParaRPr>
          </a:p>
        </p:txBody>
      </p:sp>
      <p:sp>
        <p:nvSpPr>
          <p:cNvPr id="486" name="Google Shape;486;p22"/>
          <p:cNvSpPr/>
          <p:nvPr/>
        </p:nvSpPr>
        <p:spPr>
          <a:xfrm>
            <a:off x="6175375" y="1806525"/>
            <a:ext cx="5200650" cy="2165152"/>
          </a:xfrm>
          <a:prstGeom prst="roundRect">
            <a:avLst>
              <a:gd fmla="val 4546"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2"/>
          <p:cNvSpPr/>
          <p:nvPr/>
        </p:nvSpPr>
        <p:spPr>
          <a:xfrm>
            <a:off x="6381750" y="2012900"/>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Làm việc nhóm</a:t>
            </a:r>
            <a:endParaRPr b="0" i="0" sz="1800" u="none" cap="none" strike="noStrike">
              <a:solidFill>
                <a:schemeClr val="dk1"/>
              </a:solidFill>
              <a:latin typeface="Calibri"/>
              <a:ea typeface="Calibri"/>
              <a:cs typeface="Calibri"/>
              <a:sym typeface="Calibri"/>
            </a:endParaRPr>
          </a:p>
        </p:txBody>
      </p:sp>
      <p:sp>
        <p:nvSpPr>
          <p:cNvPr id="488" name="Google Shape;488;p22"/>
          <p:cNvSpPr/>
          <p:nvPr/>
        </p:nvSpPr>
        <p:spPr>
          <a:xfrm>
            <a:off x="6381750" y="2363391"/>
            <a:ext cx="49315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BÀI HỌC</a:t>
            </a:r>
            <a:endParaRPr b="0" i="0" sz="1200" u="none" cap="none" strike="noStrike">
              <a:solidFill>
                <a:schemeClr val="dk1"/>
              </a:solidFill>
              <a:latin typeface="Calibri"/>
              <a:ea typeface="Calibri"/>
              <a:cs typeface="Calibri"/>
              <a:sym typeface="Calibri"/>
            </a:endParaRPr>
          </a:p>
        </p:txBody>
      </p:sp>
      <p:sp>
        <p:nvSpPr>
          <p:cNvPr id="489" name="Google Shape;489;p22"/>
          <p:cNvSpPr/>
          <p:nvPr/>
        </p:nvSpPr>
        <p:spPr>
          <a:xfrm>
            <a:off x="6381750" y="2652911"/>
            <a:ext cx="4931537" cy="52318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Code chạy được không đồng nghĩa Jira đã Done.</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300" u="none" cap="none" strike="noStrike">
                <a:solidFill>
                  <a:srgbClr val="3F4A57"/>
                </a:solidFill>
                <a:latin typeface="Be Vietnam Pro"/>
                <a:ea typeface="Be Vietnam Pro"/>
                <a:cs typeface="Be Vietnam Pro"/>
                <a:sym typeface="Be Vietnam Pro"/>
              </a:rPr>
              <a:t>Nhánh độc lập khác nhánh feature từ develop.</a:t>
            </a:r>
          </a:p>
        </p:txBody>
      </p:sp>
      <p:sp>
        <p:nvSpPr>
          <p:cNvPr id="490" name="Google Shape;490;p22"/>
          <p:cNvSpPr/>
          <p:nvPr/>
        </p:nvSpPr>
        <p:spPr>
          <a:xfrm>
            <a:off x="6381750" y="3226891"/>
            <a:ext cx="493153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NẾU LÀM LẠI, NHÓM SẼ</a:t>
            </a:r>
            <a:endParaRPr b="0" i="0" sz="1200" u="none" cap="none" strike="noStrike">
              <a:solidFill>
                <a:schemeClr val="dk1"/>
              </a:solidFill>
              <a:latin typeface="Calibri"/>
              <a:ea typeface="Calibri"/>
              <a:cs typeface="Calibri"/>
              <a:sym typeface="Calibri"/>
            </a:endParaRPr>
          </a:p>
        </p:txBody>
      </p:sp>
      <p:sp>
        <p:nvSpPr>
          <p:cNvPr id="491" name="Google Shape;491;p22"/>
          <p:cNvSpPr/>
          <p:nvPr/>
        </p:nvSpPr>
        <p:spPr>
          <a:xfrm>
            <a:off x="6381750" y="3516412"/>
            <a:ext cx="4931537" cy="27429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200" u="none" cap="none" strike="noStrike">
                <a:solidFill>
                  <a:srgbClr val="3F4A57"/>
                </a:solidFill>
                <a:latin typeface="Be Vietnam Pro"/>
                <a:ea typeface="Be Vietnam Pro"/>
                <a:cs typeface="Be Vietnam Pro"/>
                <a:sym typeface="Be Vietnam Pro"/>
              </a:rPr>
              <a:t>Đồng bộ trạng thái, PR review và minh chứng ngay trong sprint.</a:t>
            </a:r>
            <a:endParaRPr b="0" i="0" sz="1400" u="none" cap="none" strike="noStrike">
              <a:solidFill>
                <a:schemeClr val="dk1"/>
              </a:solidFill>
              <a:latin typeface="Calibri"/>
              <a:ea typeface="Calibri"/>
              <a:cs typeface="Calibri"/>
              <a:sym typeface="Calibri"/>
            </a:endParaRPr>
          </a:p>
        </p:txBody>
      </p:sp>
      <p:sp>
        <p:nvSpPr>
          <p:cNvPr id="492" name="Google Shape;492;p22"/>
          <p:cNvSpPr/>
          <p:nvPr/>
        </p:nvSpPr>
        <p:spPr>
          <a:xfrm>
            <a:off x="812800" y="4228852"/>
            <a:ext cx="10566400" cy="1613148"/>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3" name="Google Shape;493;p22"/>
          <p:cNvCxnSpPr/>
          <p:nvPr/>
        </p:nvCxnSpPr>
        <p:spPr>
          <a:xfrm>
            <a:off x="812800" y="4247902"/>
            <a:ext cx="10566400" cy="0"/>
          </a:xfrm>
          <a:prstGeom prst="straightConnector1">
            <a:avLst/>
          </a:prstGeom>
          <a:noFill/>
          <a:ln cap="flat" cmpd="sng" w="38100">
            <a:solidFill>
              <a:srgbClr val="F28C28"/>
            </a:solidFill>
            <a:prstDash val="solid"/>
            <a:round/>
            <a:headEnd len="sm" w="sm" type="none"/>
            <a:tailEnd len="sm" w="sm" type="none"/>
          </a:ln>
        </p:spPr>
      </p:cxnSp>
      <p:sp>
        <p:nvSpPr>
          <p:cNvPr id="494" name="Google Shape;494;p22"/>
          <p:cNvSpPr/>
          <p:nvPr/>
        </p:nvSpPr>
        <p:spPr>
          <a:xfrm>
            <a:off x="1016000" y="4444752"/>
            <a:ext cx="10464800"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Khó khăn lớn nhất &amp; cách xử lý</a:t>
            </a:r>
            <a:endParaRPr b="0" i="0" sz="1800" u="none" cap="none" strike="noStrike">
              <a:solidFill>
                <a:schemeClr val="dk1"/>
              </a:solidFill>
              <a:latin typeface="Calibri"/>
              <a:ea typeface="Calibri"/>
              <a:cs typeface="Calibri"/>
              <a:sym typeface="Calibri"/>
            </a:endParaRPr>
          </a:p>
        </p:txBody>
      </p:sp>
      <p:sp>
        <p:nvSpPr>
          <p:cNvPr id="495" name="Google Shape;495;p22"/>
          <p:cNvSpPr/>
          <p:nvPr/>
        </p:nvSpPr>
        <p:spPr>
          <a:xfrm>
            <a:off x="1016000" y="4795242"/>
            <a:ext cx="10464800"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3F4A57"/>
                </a:solidFill>
                <a:latin typeface="Be Vietnam Pro"/>
                <a:ea typeface="Be Vietnam Pro"/>
                <a:cs typeface="Be Vietnam Pro"/>
                <a:sym typeface="Be Vietnam Pro"/>
              </a:rPr>
              <a:t>CI frontend lỗi đường dẫn / giới hạn login → sửa test harness, cô lập dữ liệu test → ghi nhận 50/50 case pass.</a:t>
            </a:r>
            <a:endParaRPr b="0" i="0" sz="1400" u="none" cap="none" strike="noStrike">
              <a:solidFill>
                <a:schemeClr val="dk1"/>
              </a:solidFill>
              <a:latin typeface="Calibri"/>
              <a:ea typeface="Calibri"/>
              <a:cs typeface="Calibri"/>
              <a:sym typeface="Calibri"/>
            </a:endParaRPr>
          </a:p>
        </p:txBody>
      </p:sp>
      <p:sp>
        <p:nvSpPr>
          <p:cNvPr id="496" name="Google Shape;496;p22"/>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97" name="Google Shape;497;p22"/>
          <p:cNvSpPr/>
          <p:nvPr/>
        </p:nvSpPr>
        <p:spPr>
          <a:xfrm>
            <a:off x="9988352" y="6238280"/>
            <a:ext cx="144164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C — Tổng kết</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98" name="Google Shape;498;p22"/>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99" name="Google Shape;499;p22"/>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500" name="TextBox 499"/>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501" name="TextBox 500"/>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49</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4"/>
        </a:solidFill>
      </p:bgPr>
    </p:bg>
    <p:spTree>
      <p:nvGrpSpPr>
        <p:cNvPr id="504" name="Shape 504"/>
        <p:cNvGrpSpPr/>
        <p:nvPr/>
      </p:nvGrpSpPr>
      <p:grpSpPr>
        <a:xfrm>
          <a:off x="0" y="0"/>
          <a:ext cx="0" cy="0"/>
          <a:chOff x="0" y="0"/>
          <a:chExt cx="0" cy="0"/>
        </a:xfrm>
      </p:grpSpPr>
      <p:sp>
        <p:nvSpPr>
          <p:cNvPr id="505" name="Google Shape;505;p2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C · 03 — HƯỚNG PHÁT TRIỂN</a:t>
            </a:r>
            <a:endParaRPr b="0" i="0" sz="1200" u="none" cap="none" strike="noStrike">
              <a:solidFill>
                <a:schemeClr val="dk1"/>
              </a:solidFill>
              <a:latin typeface="Calibri"/>
              <a:ea typeface="Calibri"/>
              <a:cs typeface="Calibri"/>
              <a:sym typeface="Calibri"/>
            </a:endParaRPr>
          </a:p>
        </p:txBody>
      </p:sp>
      <p:sp>
        <p:nvSpPr>
          <p:cNvPr id="506" name="Google Shape;506;p23"/>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Hướng phát triển tiếp theo</a:t>
            </a:r>
            <a:endParaRPr b="0" i="0" sz="3200" u="none" cap="none" strike="noStrike">
              <a:solidFill>
                <a:schemeClr val="dk1"/>
              </a:solidFill>
              <a:latin typeface="Calibri"/>
              <a:ea typeface="Calibri"/>
              <a:cs typeface="Calibri"/>
              <a:sym typeface="Calibri"/>
            </a:endParaRPr>
          </a:p>
        </p:txBody>
      </p:sp>
      <p:sp>
        <p:nvSpPr>
          <p:cNvPr id="507" name="Google Shape;507;p23"/>
          <p:cNvSpPr/>
          <p:nvPr/>
        </p:nvSpPr>
        <p:spPr>
          <a:xfrm>
            <a:off x="815975" y="1806525"/>
            <a:ext cx="51498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3"/>
          <p:cNvSpPr/>
          <p:nvPr/>
        </p:nvSpPr>
        <p:spPr>
          <a:xfrm>
            <a:off x="1022350" y="2012900"/>
            <a:ext cx="487921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Roadmap sản phẩm</a:t>
            </a:r>
            <a:endParaRPr b="0" i="0" sz="1800" u="none" cap="none" strike="noStrike">
              <a:solidFill>
                <a:schemeClr val="dk1"/>
              </a:solidFill>
              <a:latin typeface="Calibri"/>
              <a:ea typeface="Calibri"/>
              <a:cs typeface="Calibri"/>
              <a:sym typeface="Calibri"/>
            </a:endParaRPr>
          </a:p>
        </p:txBody>
      </p:sp>
      <p:sp>
        <p:nvSpPr>
          <p:cNvPr id="509" name="Google Shape;509;p23"/>
          <p:cNvSpPr/>
          <p:nvPr/>
        </p:nvSpPr>
        <p:spPr>
          <a:xfrm>
            <a:off x="1022350" y="2464991"/>
            <a:ext cx="132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NGẮN HẠN</a:t>
            </a:r>
            <a:endParaRPr b="0" i="0" sz="1200" u="none" cap="none" strike="noStrike">
              <a:solidFill>
                <a:schemeClr val="dk1"/>
              </a:solidFill>
              <a:latin typeface="Calibri"/>
              <a:ea typeface="Calibri"/>
              <a:cs typeface="Calibri"/>
              <a:sym typeface="Calibri"/>
            </a:endParaRPr>
          </a:p>
        </p:txBody>
      </p:sp>
      <p:sp>
        <p:nvSpPr>
          <p:cNvPr id="510" name="Google Shape;510;p23"/>
          <p:cNvSpPr/>
          <p:nvPr/>
        </p:nvSpPr>
        <p:spPr>
          <a:xfrm>
            <a:off x="2444750" y="2439591"/>
            <a:ext cx="341414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000" u="none" cap="none" strike="noStrike">
                <a:solidFill>
                  <a:srgbClr val="3F4A57"/>
                </a:solidFill>
                <a:latin typeface="Be Vietnam Pro"/>
                <a:ea typeface="Be Vietnam Pro"/>
                <a:cs typeface="Be Vietnam Pro"/>
                <a:sym typeface="Be Vietnam Pro"/>
              </a:rPr>
              <a:t>Chốt AC, sửa gợi ý lead sau gộp, bổ sung minh chứng.</a:t>
            </a:r>
            <a:endParaRPr b="0" i="0" sz="1400" u="none" cap="none" strike="noStrike">
              <a:solidFill>
                <a:schemeClr val="dk1"/>
              </a:solidFill>
              <a:latin typeface="Calibri"/>
              <a:ea typeface="Calibri"/>
              <a:cs typeface="Calibri"/>
              <a:sym typeface="Calibri"/>
            </a:endParaRPr>
          </a:p>
        </p:txBody>
      </p:sp>
      <p:sp>
        <p:nvSpPr>
          <p:cNvPr id="511" name="Google Shape;511;p23"/>
          <p:cNvSpPr/>
          <p:nvPr/>
        </p:nvSpPr>
        <p:spPr>
          <a:xfrm>
            <a:off x="1022350" y="2866281"/>
            <a:ext cx="132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1–3 THÁNG</a:t>
            </a:r>
            <a:endParaRPr b="0" i="0" sz="1200" u="none" cap="none" strike="noStrike">
              <a:solidFill>
                <a:schemeClr val="dk1"/>
              </a:solidFill>
              <a:latin typeface="Calibri"/>
              <a:ea typeface="Calibri"/>
              <a:cs typeface="Calibri"/>
              <a:sym typeface="Calibri"/>
            </a:endParaRPr>
          </a:p>
        </p:txBody>
      </p:sp>
      <p:sp>
        <p:nvSpPr>
          <p:cNvPr id="512" name="Google Shape;512;p23"/>
          <p:cNvSpPr/>
          <p:nvPr/>
        </p:nvSpPr>
        <p:spPr>
          <a:xfrm>
            <a:off x="2444750" y="2840881"/>
            <a:ext cx="341414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900" u="none" cap="none" strike="noStrike">
                <a:solidFill>
                  <a:srgbClr val="3F4A57"/>
                </a:solidFill>
                <a:latin typeface="Be Vietnam Pro"/>
                <a:ea typeface="Be Vietnam Pro"/>
                <a:cs typeface="Be Vietnam Pro"/>
                <a:sym typeface="Be Vietnam Pro"/>
              </a:rPr>
              <a:t>Đo hiệu năng 360/phân bổ; triển khai môi trường demo ổn định.</a:t>
            </a:r>
            <a:endParaRPr b="0" i="0" sz="1400" u="none" cap="none" strike="noStrike">
              <a:solidFill>
                <a:schemeClr val="dk1"/>
              </a:solidFill>
              <a:latin typeface="Calibri"/>
              <a:ea typeface="Calibri"/>
              <a:cs typeface="Calibri"/>
              <a:sym typeface="Calibri"/>
            </a:endParaRPr>
          </a:p>
        </p:txBody>
      </p:sp>
      <p:sp>
        <p:nvSpPr>
          <p:cNvPr id="513" name="Google Shape;513;p23"/>
          <p:cNvSpPr/>
          <p:nvPr/>
        </p:nvSpPr>
        <p:spPr>
          <a:xfrm>
            <a:off x="1022350" y="3267571"/>
            <a:ext cx="1320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DÀI HẠN</a:t>
            </a:r>
            <a:endParaRPr b="0" i="0" sz="1200" u="none" cap="none" strike="noStrike">
              <a:solidFill>
                <a:schemeClr val="dk1"/>
              </a:solidFill>
              <a:latin typeface="Calibri"/>
              <a:ea typeface="Calibri"/>
              <a:cs typeface="Calibri"/>
              <a:sym typeface="Calibri"/>
            </a:endParaRPr>
          </a:p>
        </p:txBody>
      </p:sp>
      <p:sp>
        <p:nvSpPr>
          <p:cNvPr id="514" name="Google Shape;514;p23"/>
          <p:cNvSpPr/>
          <p:nvPr/>
        </p:nvSpPr>
        <p:spPr>
          <a:xfrm>
            <a:off x="2444750" y="3242171"/>
            <a:ext cx="3414141"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900" u="none" cap="none" strike="noStrike">
                <a:solidFill>
                  <a:srgbClr val="3F4A57"/>
                </a:solidFill>
                <a:latin typeface="Be Vietnam Pro"/>
                <a:ea typeface="Be Vietnam Pro"/>
                <a:cs typeface="Be Vietnam Pro"/>
                <a:sym typeface="Be Vietnam Pro"/>
              </a:rPr>
              <a:t>Hoàn thiện luồng cơ hội, báo giá, hợp đồng và báo cáo theo backlog.</a:t>
            </a:r>
            <a:endParaRPr b="0" i="0" sz="1400" u="none" cap="none" strike="noStrike">
              <a:solidFill>
                <a:schemeClr val="dk1"/>
              </a:solidFill>
              <a:latin typeface="Calibri"/>
              <a:ea typeface="Calibri"/>
              <a:cs typeface="Calibri"/>
              <a:sym typeface="Calibri"/>
            </a:endParaRPr>
          </a:p>
        </p:txBody>
      </p:sp>
      <p:sp>
        <p:nvSpPr>
          <p:cNvPr id="515" name="Google Shape;515;p23"/>
          <p:cNvSpPr/>
          <p:nvPr/>
        </p:nvSpPr>
        <p:spPr>
          <a:xfrm>
            <a:off x="6226175" y="1806525"/>
            <a:ext cx="51498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6432550" y="2012900"/>
            <a:ext cx="487921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Định hướng nghề nghiệp</a:t>
            </a:r>
            <a:endParaRPr b="0" i="0" sz="1800" u="none" cap="none" strike="noStrike">
              <a:solidFill>
                <a:schemeClr val="dk1"/>
              </a:solidFill>
              <a:latin typeface="Calibri"/>
              <a:ea typeface="Calibri"/>
              <a:cs typeface="Calibri"/>
              <a:sym typeface="Calibri"/>
            </a:endParaRPr>
          </a:p>
        </p:txBody>
      </p:sp>
      <p:sp>
        <p:nvSpPr>
          <p:cNvPr id="517" name="Google Shape;517;p23"/>
          <p:cNvSpPr/>
          <p:nvPr/>
        </p:nvSpPr>
        <p:spPr>
          <a:xfrm>
            <a:off x="6432550" y="2363391"/>
            <a:ext cx="4879213" cy="256032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C17B10"/>
                </a:solidFill>
                <a:latin typeface="Be Vietnam Pro"/>
                <a:ea typeface="Be Vietnam Pro"/>
                <a:cs typeface="Be Vietnam Pro"/>
                <a:sym typeface="Be Vietnam Pro"/>
              </a:rPr>
              <a:t>Cần mỗi thành viên cung cấp:</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C17B10"/>
                </a:solidFill>
                <a:latin typeface="Be Vietnam Pro"/>
                <a:ea typeface="Be Vietnam Pro"/>
                <a:cs typeface="Be Vietnam Pro"/>
                <a:sym typeface="Be Vietnam Pro"/>
              </a:rPr>
              <a:t>• Vị trí nghề nghiệp mong muốn.</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C17B10"/>
                </a:solidFill>
                <a:latin typeface="Be Vietnam Pro"/>
                <a:ea typeface="Be Vietnam Pro"/>
                <a:cs typeface="Be Vietnam Pro"/>
                <a:sym typeface="Be Vietnam Pro"/>
              </a:rPr>
              <a:t>• Kế hoạch phát triển 6–12 tháng.</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C17B10"/>
                </a:solidFill>
                <a:latin typeface="Be Vietnam Pro"/>
                <a:ea typeface="Be Vietnam Pro"/>
                <a:cs typeface="Be Vietnam Pro"/>
                <a:sym typeface="Be Vietnam Pro"/>
              </a:rPr>
              <a:t>• Kỹ năng và mốc học tập cụ thể.</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C17B10"/>
                </a:solidFill>
                <a:latin typeface="Be Vietnam Pro"/>
                <a:ea typeface="Be Vietnam Pro"/>
                <a:cs typeface="Be Vietnam Pro"/>
                <a:sym typeface="Be Vietnam Pro"/>
              </a:rPr>
              <a:t>Không tự gán định hướng theo vai trò hiện tại.</a:t>
            </a:r>
          </a:p>
        </p:txBody>
      </p:sp>
      <p:sp>
        <p:nvSpPr>
          <p:cNvPr id="518" name="Google Shape;518;p23"/>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519" name="Google Shape;519;p23"/>
          <p:cNvSpPr/>
          <p:nvPr/>
        </p:nvSpPr>
        <p:spPr>
          <a:xfrm>
            <a:off x="9988352" y="6238280"/>
            <a:ext cx="144164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C — Tổng kết</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520" name="Google Shape;520;p23"/>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521" name="Google Shape;521;p23"/>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522" name="TextBox 521"/>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523" name="TextBox 522"/>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50</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8C28"/>
        </a:solidFill>
      </p:bgPr>
    </p:bg>
    <p:spTree>
      <p:nvGrpSpPr>
        <p:cNvPr id="526" name="Shape 526"/>
        <p:cNvGrpSpPr/>
        <p:nvPr/>
      </p:nvGrpSpPr>
      <p:grpSpPr>
        <a:xfrm>
          <a:off x="0" y="0"/>
          <a:ext cx="0" cy="0"/>
          <a:chOff x="0" y="0"/>
          <a:chExt cx="0" cy="0"/>
        </a:xfrm>
      </p:grpSpPr>
      <p:sp>
        <p:nvSpPr>
          <p:cNvPr id="527" name="Google Shape;527;p24"/>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2263A"/>
              </a:buClr>
              <a:buSzPts val="1400"/>
              <a:buFont typeface="Be Vietnam Pro"/>
              <a:buNone/>
            </a:pPr>
            <a:r>
              <a:rPr b="1" i="0" lang="en-US" sz="1400" u="none" cap="none" strike="noStrike">
                <a:solidFill>
                  <a:srgbClr val="12263A"/>
                </a:solidFill>
                <a:latin typeface="Be Vietnam Pro"/>
                <a:ea typeface="Be Vietnam Pro"/>
                <a:cs typeface="Be Vietnam Pro"/>
                <a:sym typeface="Be Vietnam Pro"/>
              </a:rPr>
              <a:t>PHẦN C · KẾT THÚC</a:t>
            </a:r>
            <a:endParaRPr b="0" i="0" sz="1400" u="none" cap="none" strike="noStrike">
              <a:solidFill>
                <a:schemeClr val="dk1"/>
              </a:solidFill>
              <a:latin typeface="Calibri"/>
              <a:ea typeface="Calibri"/>
              <a:cs typeface="Calibri"/>
              <a:sym typeface="Calibri"/>
            </a:endParaRPr>
          </a:p>
        </p:txBody>
      </p:sp>
      <p:sp>
        <p:nvSpPr>
          <p:cNvPr id="528" name="Google Shape;528;p24"/>
          <p:cNvSpPr/>
          <p:nvPr/>
        </p:nvSpPr>
        <p:spPr>
          <a:xfrm>
            <a:off x="812800" y="1214090"/>
            <a:ext cx="10883392" cy="695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4800"/>
              <a:buFont typeface="Be Vietnam Pro"/>
              <a:buNone/>
            </a:pPr>
            <a:r>
              <a:rPr b="1" i="0" lang="en-US" sz="4800" u="none" cap="none" strike="noStrike">
                <a:solidFill>
                  <a:srgbClr val="12263A"/>
                </a:solidFill>
                <a:latin typeface="Be Vietnam Pro"/>
                <a:ea typeface="Be Vietnam Pro"/>
                <a:cs typeface="Be Vietnam Pro"/>
                <a:sym typeface="Be Vietnam Pro"/>
              </a:rPr>
              <a:t>Demo trực tiếp &amp; Hỏi đáp</a:t>
            </a:r>
            <a:endParaRPr b="0" i="0" sz="4800" u="none" cap="none" strike="noStrike">
              <a:solidFill>
                <a:schemeClr val="dk1"/>
              </a:solidFill>
              <a:latin typeface="Calibri"/>
              <a:ea typeface="Calibri"/>
              <a:cs typeface="Calibri"/>
              <a:sym typeface="Calibri"/>
            </a:endParaRPr>
          </a:p>
        </p:txBody>
      </p:sp>
      <p:sp>
        <p:nvSpPr>
          <p:cNvPr id="529" name="Google Shape;529;p24"/>
          <p:cNvSpPr/>
          <p:nvPr/>
        </p:nvSpPr>
        <p:spPr>
          <a:xfrm>
            <a:off x="812800" y="2037011"/>
            <a:ext cx="10883392" cy="345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40000"/>
              </a:lnSpc>
              <a:spcBef>
                <a:spcPts val="0"/>
              </a:spcBef>
              <a:spcAft>
                <a:spcPts val="0"/>
              </a:spcAft>
              <a:buClr>
                <a:srgbClr val="12263A"/>
              </a:buClr>
              <a:buSzPts val="1800"/>
              <a:buFont typeface="Be Vietnam Pro"/>
              <a:buNone/>
            </a:pPr>
            <a:r>
              <a:rPr b="0" i="0" lang="en-US" sz="1700" u="none" cap="none" strike="noStrike">
                <a:solidFill>
                  <a:srgbClr val="12263A"/>
                </a:solidFill>
                <a:latin typeface="Be Vietnam Pro"/>
                <a:ea typeface="Be Vietnam Pro"/>
                <a:cs typeface="Be Vietnam Pro"/>
                <a:sym typeface="Be Vietnam Pro"/>
              </a:rPr>
              <a:t>Cảm ơn mentor Triệu Quang Dũng, CodeGym và hội đồng đã lắng nghe.</a:t>
            </a:r>
            <a:endParaRPr b="0" i="0" sz="1800" u="none" cap="none" strike="noStrike">
              <a:solidFill>
                <a:schemeClr val="dk1"/>
              </a:solidFill>
              <a:latin typeface="Calibri"/>
              <a:ea typeface="Calibri"/>
              <a:cs typeface="Calibri"/>
              <a:sym typeface="Calibri"/>
            </a:endParaRPr>
          </a:p>
        </p:txBody>
      </p:sp>
      <p:sp>
        <p:nvSpPr>
          <p:cNvPr id="530" name="Google Shape;530;p24"/>
          <p:cNvSpPr/>
          <p:nvPr/>
        </p:nvSpPr>
        <p:spPr>
          <a:xfrm>
            <a:off x="812800" y="5532189"/>
            <a:ext cx="34184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2263A"/>
              </a:buClr>
              <a:buSzPts val="1200"/>
              <a:buFont typeface="Be Vietnam Pro"/>
              <a:buNone/>
            </a:pPr>
            <a:r>
              <a:rPr b="1" i="0" lang="en-US" sz="1200" u="none" cap="none" strike="noStrike">
                <a:solidFill>
                  <a:srgbClr val="12263A"/>
                </a:solidFill>
                <a:latin typeface="Be Vietnam Pro"/>
                <a:ea typeface="Be Vietnam Pro"/>
                <a:cs typeface="Be Vietnam Pro"/>
                <a:sym typeface="Be Vietnam Pro"/>
              </a:rPr>
              <a:t>SẢN PHẨM</a:t>
            </a:r>
            <a:endParaRPr b="0" i="0" sz="1200" u="none" cap="none" strike="noStrike">
              <a:solidFill>
                <a:schemeClr val="dk1"/>
              </a:solidFill>
              <a:latin typeface="Calibri"/>
              <a:ea typeface="Calibri"/>
              <a:cs typeface="Calibri"/>
              <a:sym typeface="Calibri"/>
            </a:endParaRPr>
          </a:p>
        </p:txBody>
      </p:sp>
      <p:sp>
        <p:nvSpPr>
          <p:cNvPr id="531" name="Google Shape;531;p24"/>
          <p:cNvSpPr/>
          <p:nvPr/>
        </p:nvSpPr>
        <p:spPr>
          <a:xfrm>
            <a:off x="812800" y="5796310"/>
            <a:ext cx="3418484"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rPr>
              <a:t>Cần URL deploy / video demo</a:t>
            </a:r>
            <a:endParaRPr b="0" i="0" sz="1400" u="none" cap="none" strike="noStrike">
              <a:solidFill>
                <a:schemeClr val="dk1"/>
              </a:solidFill>
              <a:latin typeface="Calibri"/>
              <a:ea typeface="Calibri"/>
              <a:cs typeface="Calibri"/>
              <a:sym typeface="Calibri"/>
            </a:endParaRPr>
          </a:p>
        </p:txBody>
      </p:sp>
      <p:sp>
        <p:nvSpPr>
          <p:cNvPr id="532" name="Google Shape;532;p24"/>
          <p:cNvSpPr/>
          <p:nvPr/>
        </p:nvSpPr>
        <p:spPr>
          <a:xfrm>
            <a:off x="4436517" y="5532189"/>
            <a:ext cx="34184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2263A"/>
              </a:buClr>
              <a:buSzPts val="1200"/>
              <a:buFont typeface="Be Vietnam Pro"/>
              <a:buNone/>
            </a:pPr>
            <a:r>
              <a:rPr b="1" i="0" lang="en-US" sz="1200" u="none" cap="none" strike="noStrike">
                <a:solidFill>
                  <a:srgbClr val="12263A"/>
                </a:solidFill>
                <a:latin typeface="Be Vietnam Pro"/>
                <a:ea typeface="Be Vietnam Pro"/>
                <a:cs typeface="Be Vietnam Pro"/>
                <a:sym typeface="Be Vietnam Pro"/>
              </a:rPr>
              <a:t>MÃ NGUỒN</a:t>
            </a:r>
            <a:endParaRPr b="0" i="0" sz="1200" u="none" cap="none" strike="noStrike">
              <a:solidFill>
                <a:schemeClr val="dk1"/>
              </a:solidFill>
              <a:latin typeface="Calibri"/>
              <a:ea typeface="Calibri"/>
              <a:cs typeface="Calibri"/>
              <a:sym typeface="Calibri"/>
            </a:endParaRPr>
          </a:p>
        </p:txBody>
      </p:sp>
      <p:sp>
        <p:nvSpPr>
          <p:cNvPr id="533" name="Google Shape;533;p24"/>
          <p:cNvSpPr/>
          <p:nvPr/>
        </p:nvSpPr>
        <p:spPr>
          <a:xfrm>
            <a:off x="4436517" y="5796310"/>
            <a:ext cx="3418484"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200" u="none" cap="none" strike="noStrike">
                <a:solidFill>
                  <a:srgbClr val="12263A"/>
                </a:solidFill>
                <a:latin typeface="Be Vietnam Pro"/>
                <a:ea typeface="Be Vietnam Pro"/>
                <a:cs typeface="Be Vietnam Pro"/>
                <a:sym typeface="Be Vietnam Pro"/>
              </a:rPr>
              <a:t>github.com/QuangDung1708/TTCS_N1</a:t>
            </a:r>
            <a:endParaRPr b="0" i="0" sz="1400" u="none" cap="none" strike="noStrike">
              <a:solidFill>
                <a:schemeClr val="dk1"/>
              </a:solidFill>
              <a:latin typeface="Calibri"/>
              <a:ea typeface="Calibri"/>
              <a:cs typeface="Calibri"/>
              <a:sym typeface="Calibri"/>
            </a:endParaRPr>
          </a:p>
        </p:txBody>
      </p:sp>
      <p:sp>
        <p:nvSpPr>
          <p:cNvPr id="534" name="Google Shape;534;p24"/>
          <p:cNvSpPr/>
          <p:nvPr/>
        </p:nvSpPr>
        <p:spPr>
          <a:xfrm>
            <a:off x="8060234" y="5532189"/>
            <a:ext cx="34185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2263A"/>
              </a:buClr>
              <a:buSzPts val="1200"/>
              <a:buFont typeface="Be Vietnam Pro"/>
              <a:buNone/>
            </a:pPr>
            <a:r>
              <a:rPr b="1" i="0" lang="en-US" sz="1200" u="none" cap="none" strike="noStrike">
                <a:solidFill>
                  <a:srgbClr val="12263A"/>
                </a:solidFill>
                <a:latin typeface="Be Vietnam Pro"/>
                <a:ea typeface="Be Vietnam Pro"/>
                <a:cs typeface="Be Vietnam Pro"/>
                <a:sym typeface="Be Vietnam Pro"/>
              </a:rPr>
              <a:t>JIRA</a:t>
            </a:r>
            <a:endParaRPr b="0" i="0" sz="1200" u="none" cap="none" strike="noStrike">
              <a:solidFill>
                <a:schemeClr val="dk1"/>
              </a:solidFill>
              <a:latin typeface="Calibri"/>
              <a:ea typeface="Calibri"/>
              <a:cs typeface="Calibri"/>
              <a:sym typeface="Calibri"/>
            </a:endParaRPr>
          </a:p>
        </p:txBody>
      </p:sp>
      <p:sp>
        <p:nvSpPr>
          <p:cNvPr id="535" name="Google Shape;535;p24"/>
          <p:cNvSpPr/>
          <p:nvPr/>
        </p:nvSpPr>
        <p:spPr>
          <a:xfrm>
            <a:off x="8060234" y="5796310"/>
            <a:ext cx="3418535"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400"/>
              <a:buFont typeface="Be Vietnam Pro"/>
              <a:buNone/>
            </a:pPr>
            <a:pPr indent="0" lvl="0" marL="0" marR="0" rtl="0" algn="l">
              <a:lnSpc>
                <a:spcPct val="140000"/>
              </a:lnSpc>
              <a:spcBef>
                <a:spcPts val="0"/>
              </a:spcBef>
              <a:spcAft>
                <a:spcPts val="0"/>
              </a:spcAft>
              <a:buClr>
                <a:srgbClr val="12263A"/>
              </a:buClr>
              <a:buSzPts val="1400"/>
              <a:buFont typeface="Be Vietnam Pro"/>
              <a:buNone/>
            </a:pPr>
            <a:r>
              <a:rPr b="0" i="0" lang="en-US" sz="1300" u="none" cap="none" strike="noStrike">
                <a:solidFill>
                  <a:srgbClr val="12263A"/>
                </a:solidFill>
                <a:latin typeface="Be Vietnam Pro"/>
                <a:ea typeface="Be Vietnam Pro"/>
                <a:cs typeface="Be Vietnam Pro"/>
                <a:sym typeface="Be Vietnam Pro"/>
                <a:hlinkClick r:id="rId5"/>
              </a:rPr>
              <a:t>N1 / Board 3 — Backlog</a:t>
            </a:r>
            <a:endParaRPr b="0" i="0" sz="14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536" name="Google Shape;536;p24"/>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537" name="Google Shape;537;p24"/>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538" name="TextBox 537"/>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539" name="TextBox 538"/>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182" name="Google Shape;182;p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05 — MINH CHỨNG GIT</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Hoạt động phát triển trên Git (2/2)</a:t>
            </a:r>
            <a:endParaRPr b="0" i="0" sz="3200" u="none" cap="none" strike="noStrike">
              <a:solidFill>
                <a:schemeClr val="dk1"/>
              </a:solidFill>
              <a:latin typeface="Calibri"/>
              <a:ea typeface="Calibri"/>
              <a:cs typeface="Calibri"/>
              <a:sym typeface="Calibri"/>
            </a:endParaRPr>
          </a:p>
        </p:txBody>
      </p:sp>
      <p:sp>
        <p:nvSpPr>
          <p:cNvPr id="184" name="Google Shape;184;p9"/>
          <p:cNvSpPr/>
          <p:nvPr/>
        </p:nvSpPr>
        <p:spPr>
          <a:xfrm>
            <a:off x="812800" y="1803350"/>
            <a:ext cx="63500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 name="Google Shape;185;p9"/>
          <p:cNvCxnSpPr/>
          <p:nvPr/>
        </p:nvCxnSpPr>
        <p:spPr>
          <a:xfrm>
            <a:off x="71596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186" name="Google Shape;186;p9"/>
          <p:cNvCxnSpPr/>
          <p:nvPr/>
        </p:nvCxnSpPr>
        <p:spPr>
          <a:xfrm>
            <a:off x="812800" y="3815308"/>
            <a:ext cx="6350000" cy="0"/>
          </a:xfrm>
          <a:prstGeom prst="straightConnector1">
            <a:avLst/>
          </a:prstGeom>
          <a:noFill/>
          <a:ln cap="flat" cmpd="sng" w="9525">
            <a:solidFill>
              <a:srgbClr val="DDE1DC"/>
            </a:solidFill>
            <a:prstDash val="solid"/>
            <a:round/>
            <a:headEnd len="sm" w="sm" type="none"/>
            <a:tailEnd len="sm" w="sm" type="none"/>
          </a:ln>
        </p:spPr>
      </p:cxnSp>
      <p:graphicFrame>
        <p:nvGraphicFramePr>
          <p:cNvPr id="187" name="Google Shape;187;p9"/>
          <p:cNvGraphicFramePr/>
          <p:nvPr/>
        </p:nvGraphicFramePr>
        <p:xfrm>
          <a:off x="825500" y="1816050"/>
          <a:ext cx="6330950" cy="1920240"/>
        </p:xfrm>
        <a:graphic>
          <a:graphicData uri="http://schemas.openxmlformats.org/drawingml/2006/table">
            <a:tbl>
              <a:tblPr>
                <a:noFill/>
                <a:tableStyleId>{A582B03F-E1A5-4E7F-97B6-85D91BCEE78B}</a:tableStyleId>
              </a:tblPr>
              <a:tblGrid>
                <a:gridCol w="2025900"/>
                <a:gridCol w="1012950"/>
                <a:gridCol w="1139575"/>
                <a:gridCol w="1139575"/>
                <a:gridCol w="1012950"/>
              </a:tblGrid>
              <a:tr h="329184">
                <a:tc>
                  <a:txBody>
                    <a:bodyPr/>
                    <a:lstStyle/>
                    <a:p>
                      <a:pPr>
                        <a:lnSpc>
                          <a:spcPct val="105000"/>
                        </a:lnSpc>
                        <a:spcBef>
                          <a:spcPts val="0"/>
                        </a:spcBef>
                        <a:spcAft>
                          <a:spcPts val="0"/>
                        </a:spcAft>
                      </a:pPr>
                      <a:r>
                        <a:rPr sz="1000" b="1">
                          <a:solidFill>
                            <a:srgbClr val="FFFFFF"/>
                          </a:solidFill>
                          <a:latin typeface="Be Vietnam Pro"/>
                        </a:rPr>
                        <a:t>Thành viên</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Commit</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merge</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review</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 dòng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65176">
                <a:tc>
                  <a:txBody>
                    <a:bodyPr/>
                    <a:lstStyle/>
                    <a:p>
                      <a:pPr>
                        <a:lnSpc>
                          <a:spcPct val="105000"/>
                        </a:lnSpc>
                        <a:spcBef>
                          <a:spcPts val="0"/>
                        </a:spcBef>
                        <a:spcAft>
                          <a:spcPts val="0"/>
                        </a:spcAft>
                      </a:pPr>
                      <a:r>
                        <a:rPr sz="1100" b="0">
                          <a:solidFill>
                            <a:srgbClr val="142B3D"/>
                          </a:solidFill>
                          <a:latin typeface="Be Vietnam Pro"/>
                        </a:rPr>
                        <a:t>Phạm Xuân Bình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Hứa Huệ An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Hoàng Lan 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Châu Thùy Dung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65176">
                <a:tc>
                  <a:txBody>
                    <a:bodyPr/>
                    <a:lstStyle/>
                    <a:p>
                      <a:pPr>
                        <a:lnSpc>
                          <a:spcPct val="105000"/>
                        </a:lnSpc>
                        <a:spcBef>
                          <a:spcPts val="0"/>
                        </a:spcBef>
                        <a:spcAft>
                          <a:spcPts val="0"/>
                        </a:spcAft>
                      </a:pPr>
                      <a:r>
                        <a:rPr sz="1100" b="0">
                          <a:solidFill>
                            <a:srgbClr val="142B3D"/>
                          </a:solidFill>
                          <a:latin typeface="Be Vietnam Pro"/>
                        </a:rPr>
                        <a:t>Nguyễn Ngọc Anh</a:t>
                      </a:r>
                    </a:p>
                  </a:txBody>
                  <a:tcPr marT="27432" marB="27432" marR="53350" marL="53350">
                    <a:lnL cap="flat" cmpd="sng" w="12700">
                      <a:solidFill>
                        <a:srgbClr val="CACAC8"/>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BDBFBB"/>
                      </a:solidFill>
                      <a:prstDash val="solid"/>
                      <a:round/>
                      <a:headEnd len="sm" w="sm" type="none"/>
                      <a:tailEnd len="sm" w="sm" type="none"/>
                    </a:lnL>
                    <a:lnR cap="flat" cmpd="sng" w="12700">
                      <a:solidFill>
                        <a:srgbClr val="BDBFBB"/>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BDBFBB"/>
                      </a:solidFill>
                      <a:prstDash val="solid"/>
                      <a:round/>
                      <a:headEnd len="sm" w="sm" type="none"/>
                      <a:tailEnd len="sm" w="sm" type="none"/>
                    </a:lnB>
                    <a:solidFill>
                      <a:srgbClr val="EDEFEA"/>
                    </a:solidFill>
                  </a:tcPr>
                </a:tc>
              </a:tr>
              <a:tr h="265176">
                <a:tc>
                  <a:txBody>
                    <a:bodyPr/>
                    <a:lstStyle/>
                    <a:p>
                      <a:pPr>
                        <a:lnSpc>
                          <a:spcPct val="105000"/>
                        </a:lnSpc>
                        <a:spcBef>
                          <a:spcPts val="0"/>
                        </a:spcBef>
                        <a:spcAft>
                          <a:spcPts val="0"/>
                        </a:spcAft>
                      </a:pPr>
                      <a:r>
                        <a:rPr sz="1100" b="0">
                          <a:solidFill>
                            <a:srgbClr val="142B3D"/>
                          </a:solidFill>
                          <a:latin typeface="Be Vietnam Pro"/>
                        </a:rPr>
                        <a:t>Tổng nhóm con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188" name="Google Shape;188;p9"/>
          <p:cNvSpPr/>
          <p:nvPr/>
        </p:nvSpPr>
        <p:spPr>
          <a:xfrm>
            <a:off x="815975" y="3974058"/>
            <a:ext cx="6343650" cy="1428601"/>
          </a:xfrm>
          <a:prstGeom prst="roundRect">
            <a:avLst>
              <a:gd fmla="val 689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1022350" y="4155033"/>
            <a:ext cx="610882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Cách lấy số liệu</a:t>
            </a:r>
            <a:endParaRPr b="0" i="0" sz="1800" u="none" cap="none" strike="noStrike">
              <a:solidFill>
                <a:schemeClr val="dk1"/>
              </a:solidFill>
              <a:latin typeface="Calibri"/>
              <a:ea typeface="Calibri"/>
              <a:cs typeface="Calibri"/>
              <a:sym typeface="Calibri"/>
            </a:endParaRPr>
          </a:p>
        </p:txBody>
      </p:sp>
      <p:sp>
        <p:nvSpPr>
          <p:cNvPr id="190" name="Google Shape;190;p9"/>
          <p:cNvSpPr/>
          <p:nvPr/>
        </p:nvSpPr>
        <p:spPr>
          <a:xfrm>
            <a:off x="1022350" y="4505523"/>
            <a:ext cx="6108827"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JetBrains Mono"/>
              <a:buNone/>
            </a:pPr>
            <a:pPr indent="0" lvl="0" marL="0" marR="0" rtl="0" algn="l">
              <a:lnSpc>
                <a:spcPct val="140000"/>
              </a:lnSpc>
              <a:spcBef>
                <a:spcPts val="0"/>
              </a:spcBef>
              <a:spcAft>
                <a:spcPts val="0"/>
              </a:spcAft>
              <a:buClr>
                <a:srgbClr val="2556C4"/>
              </a:buClr>
              <a:buSzPts val="1200"/>
              <a:buFont typeface="JetBrains Mono"/>
              <a:buNone/>
            </a:pPr>
            <a:r>
              <a:rPr b="0" i="0" lang="en-US" sz="1200" u="none" cap="none" strike="noStrike">
                <a:solidFill>
                  <a:srgbClr val="2556C4"/>
                </a:solidFill>
                <a:latin typeface="Be Vietnam Pro"/>
                <a:ea typeface="JetBrains Mono"/>
                <a:cs typeface="JetBrains Mono"/>
                <a:sym typeface="JetBrains Mono"/>
              </a:rPr>
              <a:t>git shortlog -sn --no-merges</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2556C4"/>
              </a:buClr>
              <a:buSzPts val="1200"/>
              <a:buFont typeface="JetBrains Mono"/>
              <a:buNone/>
            </a:pPr>
            <a:r>
              <a:rPr b="0" i="0" lang="en-US" sz="1200" u="none" cap="none" strike="noStrike">
                <a:solidFill>
                  <a:srgbClr val="2556C4"/>
                </a:solidFill>
                <a:latin typeface="Be Vietnam Pro"/>
                <a:ea typeface="JetBrains Mono"/>
                <a:cs typeface="JetBrains Mono"/>
                <a:sym typeface="JetBrains Mono"/>
              </a:rPr>
              <a:t>git log --author="tên" --numstat</a:t>
            </a:r>
          </a:p>
        </p:txBody>
      </p:sp>
      <p:sp>
        <p:nvSpPr>
          <p:cNvPr id="191" name="Google Shape;191;p9"/>
          <p:cNvSpPr/>
          <p:nvPr/>
        </p:nvSpPr>
        <p:spPr>
          <a:xfrm>
            <a:off x="1022350" y="5008364"/>
            <a:ext cx="610882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Hoặc GitHub / GitLab › Insights › Contributors</a:t>
            </a:r>
            <a:endParaRPr b="0" i="0" sz="1200" u="none" cap="none" strike="noStrike">
              <a:solidFill>
                <a:schemeClr val="dk1"/>
              </a:solidFill>
              <a:latin typeface="Calibri"/>
              <a:ea typeface="Calibri"/>
              <a:cs typeface="Calibri"/>
              <a:sym typeface="Calibri"/>
            </a:endParaRPr>
          </a:p>
        </p:txBody>
      </p:sp>
      <p:sp>
        <p:nvSpPr>
          <p:cNvPr id="192" name="Google Shape;192;p9"/>
          <p:cNvSpPr/>
          <p:nvPr/>
        </p:nvSpPr>
        <p:spPr>
          <a:xfrm>
            <a:off x="7423150" y="1809700"/>
            <a:ext cx="3949700" cy="4025950"/>
          </a:xfrm>
          <a:prstGeom prst="roundRect">
            <a:avLst>
              <a:gd fmla="val 2412"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93" name="Google Shape;193;p9"/>
          <p:cNvPicPr preferRelativeResize="0"/>
          <p:nvPr/>
        </p:nvPicPr>
        <p:blipFill rotWithShape="1">
          <a:blip r:embed="rId2">
            <a:alphaModFix/>
          </a:blip>
          <a:srcRect b="0" l="0" r="0" t="0"/>
          <a:stretch/>
        </p:blipFill>
        <p:spPr>
          <a:xfrm>
            <a:off x="9194800" y="3187700"/>
            <a:ext cx="406400" cy="406400"/>
          </a:xfrm>
          <a:prstGeom prst="rect">
            <a:avLst/>
          </a:prstGeom>
          <a:noFill/>
          <a:ln>
            <a:noFill/>
          </a:ln>
        </p:spPr>
      </p:pic>
      <p:sp>
        <p:nvSpPr>
          <p:cNvPr id="194" name="Google Shape;194;p9"/>
          <p:cNvSpPr/>
          <p:nvPr/>
        </p:nvSpPr>
        <p:spPr>
          <a:xfrm>
            <a:off x="7579741" y="3670300"/>
            <a:ext cx="3636518" cy="52318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300" u="none" cap="none" strike="noStrike">
                <a:solidFill>
                  <a:srgbClr val="C17B10"/>
                </a:solidFill>
                <a:latin typeface="Be Vietnam Pro"/>
                <a:ea typeface="Be Vietnam Pro"/>
                <a:cs typeface="Be Vietnam Pro"/>
                <a:sym typeface="Be Vietnam Pro"/>
              </a:rPr>
              <a:t>CẦN ẢNH CONTRIBUTORS / COMMIT GRAPH</a:t>
            </a:r>
            <a:endParaRPr b="0" i="0" sz="1400" u="none" cap="none" strike="noStrike">
              <a:solidFill>
                <a:schemeClr val="dk1"/>
              </a:solidFill>
              <a:latin typeface="Calibri"/>
              <a:ea typeface="Calibri"/>
              <a:cs typeface="Calibri"/>
              <a:sym typeface="Calibri"/>
            </a:endParaRPr>
          </a:p>
        </p:txBody>
      </p:sp>
      <p:sp>
        <p:nvSpPr>
          <p:cNvPr id="195" name="Google Shape;195;p9"/>
          <p:cNvSpPr/>
          <p:nvPr/>
        </p:nvSpPr>
        <p:spPr>
          <a:xfrm>
            <a:off x="7799359" y="4244280"/>
            <a:ext cx="3197231" cy="23872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5A6573"/>
              </a:buClr>
              <a:buSzPts val="1200"/>
              <a:buFont typeface="Be Vietnam Pro"/>
              <a:buNone/>
            </a:pPr>
            <a:pPr indent="0" lvl="0" marL="0" marR="0" rtl="0" algn="ctr">
              <a:lnSpc>
                <a:spcPct val="140000"/>
              </a:lnSpc>
              <a:spcBef>
                <a:spcPts val="0"/>
              </a:spcBef>
              <a:spcAft>
                <a:spcPts val="0"/>
              </a:spcAft>
              <a:buClr>
                <a:srgbClr val="5A6573"/>
              </a:buClr>
              <a:buSzPts val="1200"/>
              <a:buFont typeface="Be Vietnam Pro"/>
              <a:buNone/>
            </a:pPr>
            <a:r>
              <a:rPr b="0" i="0" lang="en-US" sz="1000" u="none" cap="none" strike="noStrike">
                <a:solidFill>
                  <a:srgbClr val="C17B10"/>
                </a:solidFill>
                <a:latin typeface="Be Vietnam Pro"/>
                <a:ea typeface="Be Vietnam Pro"/>
                <a:cs typeface="Be Vietnam Pro"/>
                <a:sym typeface="Be Vietnam Pro"/>
              </a:rPr>
              <a:t>Đúng repository, nhánh và kỳ thống kê</a:t>
            </a:r>
            <a:endParaRPr b="0" i="0" sz="1200" u="none" cap="none" strike="noStrike">
              <a:solidFill>
                <a:schemeClr val="dk1"/>
              </a:solidFill>
              <a:latin typeface="Calibri"/>
              <a:ea typeface="Calibri"/>
              <a:cs typeface="Calibri"/>
              <a:sym typeface="Calibri"/>
            </a:endParaRPr>
          </a:p>
        </p:txBody>
      </p:sp>
      <p:sp>
        <p:nvSpPr>
          <p:cNvPr id="196" name="Google Shape;196;p9"/>
          <p:cNvSpPr/>
          <p:nvPr/>
        </p:nvSpPr>
        <p:spPr>
          <a:xfrm>
            <a:off x="812800" y="6238280"/>
            <a:ext cx="421519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Git: QuangDung1708/TTCS_N1 · đến 21/10 · chờ thống kê</a:t>
            </a:r>
            <a:endParaRPr b="0" i="0" sz="1200" u="none" cap="none" strike="noStrike">
              <a:solidFill>
                <a:schemeClr val="dk1"/>
              </a:solidFill>
              <a:latin typeface="Calibri"/>
              <a:ea typeface="Calibri"/>
              <a:cs typeface="Calibri"/>
              <a:sym typeface="Calibri"/>
            </a:endParaRPr>
          </a:p>
        </p:txBody>
      </p:sp>
      <p:sp>
        <p:nvSpPr>
          <p:cNvPr id="197" name="Google Shape;197;p9"/>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198" name="Google Shape;198;p9"/>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199" name="Google Shape;199;p9"/>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200" name="TextBox 199"/>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201" name="TextBox 200"/>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25" name="Google Shape;325;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A · 11 — ĐÓNG GÓP</a:t>
            </a:r>
            <a:endParaRPr b="0" i="0" sz="1200" u="none" cap="none" strike="noStrike">
              <a:solidFill>
                <a:schemeClr val="dk1"/>
              </a:solidFill>
              <a:latin typeface="Calibri"/>
              <a:ea typeface="Calibri"/>
              <a:cs typeface="Calibri"/>
              <a:sym typeface="Calibri"/>
            </a:endParaRPr>
          </a:p>
        </p:txBody>
      </p:sp>
      <p:sp>
        <p:nvSpPr>
          <p:cNvPr id="326" name="Google Shape;326;p15"/>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900" u="none" cap="none" strike="noStrike">
                <a:solidFill>
                  <a:srgbClr val="12263A"/>
                </a:solidFill>
                <a:latin typeface="Be Vietnam Pro"/>
                <a:ea typeface="Be Vietnam Pro"/>
                <a:cs typeface="Be Vietnam Pro"/>
                <a:sym typeface="Be Vietnam Pro"/>
              </a:rPr>
              <a:t>Tỉ lệ đóng góp của thành viên (2/2)</a:t>
            </a:r>
            <a:endParaRPr b="0" i="0" sz="3200" u="none" cap="none" strike="noStrike">
              <a:solidFill>
                <a:schemeClr val="dk1"/>
              </a:solidFill>
              <a:latin typeface="Calibri"/>
              <a:ea typeface="Calibri"/>
              <a:cs typeface="Calibri"/>
              <a:sym typeface="Calibri"/>
            </a:endParaRPr>
          </a:p>
        </p:txBody>
      </p:sp>
      <p:sp>
        <p:nvSpPr>
          <p:cNvPr id="327" name="Google Shape;327;p15"/>
          <p:cNvSpPr/>
          <p:nvPr/>
        </p:nvSpPr>
        <p:spPr>
          <a:xfrm>
            <a:off x="812800" y="1803350"/>
            <a:ext cx="10566400" cy="189577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 name="Google Shape;328;p15"/>
          <p:cNvCxnSpPr/>
          <p:nvPr/>
        </p:nvCxnSpPr>
        <p:spPr>
          <a:xfrm>
            <a:off x="11376025" y="1803350"/>
            <a:ext cx="0" cy="1895773"/>
          </a:xfrm>
          <a:prstGeom prst="straightConnector1">
            <a:avLst/>
          </a:prstGeom>
          <a:noFill/>
          <a:ln cap="flat" cmpd="sng" w="9525">
            <a:solidFill>
              <a:srgbClr val="DDE1DC"/>
            </a:solidFill>
            <a:prstDash val="solid"/>
            <a:round/>
            <a:headEnd len="sm" w="sm" type="none"/>
            <a:tailEnd len="sm" w="sm" type="none"/>
          </a:ln>
        </p:spPr>
      </p:cxnSp>
      <p:cxnSp>
        <p:nvCxnSpPr>
          <p:cNvPr id="329" name="Google Shape;329;p15"/>
          <p:cNvCxnSpPr/>
          <p:nvPr/>
        </p:nvCxnSpPr>
        <p:spPr>
          <a:xfrm>
            <a:off x="812800" y="369594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330" name="Google Shape;330;p15"/>
          <p:cNvGraphicFramePr/>
          <p:nvPr/>
        </p:nvGraphicFramePr>
        <p:xfrm>
          <a:off x="825500" y="1816050"/>
          <a:ext cx="10547350" cy="1938528"/>
        </p:xfrm>
        <a:graphic>
          <a:graphicData uri="http://schemas.openxmlformats.org/drawingml/2006/table">
            <a:tbl>
              <a:tblPr>
                <a:noFill/>
                <a:tableStyleId>{A582B03F-E1A5-4E7F-97B6-85D91BCEE78B}</a:tableStyleId>
              </a:tblPr>
              <a:tblGrid>
                <a:gridCol w="2531375"/>
                <a:gridCol w="1687575"/>
                <a:gridCol w="1687575"/>
                <a:gridCol w="1687575"/>
                <a:gridCol w="1371150"/>
                <a:gridCol w="1582100"/>
              </a:tblGrid>
              <a:tr h="475488">
                <a:tc>
                  <a:txBody>
                    <a:bodyPr/>
                    <a:lstStyle/>
                    <a:p>
                      <a:pPr>
                        <a:lnSpc>
                          <a:spcPct val="105000"/>
                        </a:lnSpc>
                        <a:spcBef>
                          <a:spcPts val="0"/>
                        </a:spcBef>
                        <a:spcAft>
                          <a:spcPts val="0"/>
                        </a:spcAft>
                      </a:pPr>
                      <a:r>
                        <a:rPr sz="1000" b="1">
                          <a:solidFill>
                            <a:srgbClr val="FFFFFF"/>
                          </a:solidFill>
                          <a:latin typeface="Be Vietnam Pro"/>
                        </a:rPr>
                        <a:t>Thành viên</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SP (40%)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PR + review (30%)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Đánh giá chéo (20%)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Mentor (10%)</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Tổng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Phạm Xuân Bình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Hứa Huệ An</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Hoàng Lan 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Châu Thùy Dung</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Nguyễn Ngọc Anh</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331" name="Google Shape;331;p15"/>
          <p:cNvSpPr/>
          <p:nvPr/>
        </p:nvSpPr>
        <p:spPr>
          <a:xfrm>
            <a:off x="812800" y="3953123"/>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1" i="0" lang="en-US" sz="1200" u="none" cap="none" strike="noStrike">
                <a:solidFill>
                  <a:srgbClr val="5A6573"/>
                </a:solidFill>
                <a:latin typeface="Be Vietnam Pro"/>
                <a:ea typeface="Be Vietnam Pro"/>
                <a:cs typeface="Be Vietnam Pro"/>
                <a:sym typeface="Be Vietnam Pro"/>
              </a:rPr>
              <a:t>Tỉ lệ đóng góp cuối cùng</a:t>
            </a:r>
            <a:endParaRPr b="0" i="0" sz="1200" u="none" cap="none" strike="noStrike">
              <a:solidFill>
                <a:schemeClr val="dk1"/>
              </a:solidFill>
              <a:latin typeface="Calibri"/>
              <a:ea typeface="Calibri"/>
              <a:cs typeface="Calibri"/>
              <a:sym typeface="Calibri"/>
            </a:endParaRPr>
          </a:p>
        </p:txBody>
      </p:sp>
      <p:sp>
        <p:nvSpPr>
          <p:cNvPr id="332" name="Google Shape;332;p15"/>
          <p:cNvSpPr/>
          <p:nvPr/>
        </p:nvSpPr>
        <p:spPr>
          <a:xfrm>
            <a:off x="812800" y="4242643"/>
            <a:ext cx="2641600" cy="457200"/>
          </a:xfrm>
          <a:custGeom>
            <a:rect b="b" l="l" r="r" t="t"/>
            <a:pathLst>
              <a:path extrusionOk="0" h="457200" w="2641600">
                <a:moveTo>
                  <a:pt x="0" y="76200"/>
                </a:moveTo>
                <a:cubicBezTo>
                  <a:pt x="0" y="34116"/>
                  <a:pt x="34116" y="0"/>
                  <a:pt x="76200" y="0"/>
                </a:cubicBezTo>
                <a:lnTo>
                  <a:pt x="2641600" y="0"/>
                </a:lnTo>
                <a:lnTo>
                  <a:pt x="2641600" y="457200"/>
                </a:lnTo>
                <a:lnTo>
                  <a:pt x="76200" y="457200"/>
                </a:lnTo>
                <a:cubicBezTo>
                  <a:pt x="34116" y="457200"/>
                  <a:pt x="0" y="423084"/>
                  <a:pt x="0" y="381000"/>
                </a:cubicBezTo>
                <a:close/>
              </a:path>
            </a:pathLst>
          </a:cu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965200" y="4364583"/>
            <a:ext cx="10241280"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200"/>
              <a:buFont typeface="Be Vietnam Pro"/>
              <a:buNone/>
            </a:pPr>
            <a:pPr indent="0" lvl="0" marL="0" marR="0" rtl="0" algn="l">
              <a:lnSpc>
                <a:spcPct val="140000"/>
              </a:lnSpc>
              <a:spcBef>
                <a:spcPts val="0"/>
              </a:spcBef>
              <a:spcAft>
                <a:spcPts val="0"/>
              </a:spcAft>
              <a:buClr>
                <a:srgbClr val="F6F7F4"/>
              </a:buClr>
              <a:buSzPts val="1200"/>
              <a:buFont typeface="Be Vietnam Pro"/>
              <a:buNone/>
            </a:pPr>
            <a:r>
              <a:rPr b="1" i="0" lang="en-US" sz="1200" u="none" cap="none" strike="noStrike">
                <a:solidFill>
                  <a:srgbClr val="C17B10"/>
                </a:solidFill>
                <a:latin typeface="Be Vietnam Pro"/>
                <a:ea typeface="Be Vietnam Pro"/>
                <a:cs typeface="Be Vietnam Pro"/>
                <a:sym typeface="Be Vietnam Pro"/>
              </a:rPr>
              <a:t>CHƯA TÍNH — cần đủ dữ liệu, đánh giá chéo và mentor xác nhận</a:t>
            </a:r>
            <a:endParaRPr b="0" i="0" sz="1200" u="none" cap="none" strike="noStrike">
              <a:solidFill>
                <a:schemeClr val="dk1"/>
              </a:solidFill>
              <a:latin typeface="Calibri"/>
              <a:ea typeface="Calibri"/>
              <a:cs typeface="Calibri"/>
              <a:sym typeface="Calibri"/>
            </a:endParaRPr>
          </a:p>
        </p:txBody>
      </p:sp>
      <p:sp>
        <p:nvSpPr>
          <p:cNvPr id="334" name="Google Shape;334;p15"/>
          <p:cNvSpPr/>
          <p:nvPr/>
        </p:nvSpPr>
        <p:spPr>
          <a:xfrm>
            <a:off x="3454400" y="4242643"/>
            <a:ext cx="2641600" cy="457200"/>
          </a:xfrm>
          <a:prstGeom prst="rect">
            <a:avLst/>
          </a:pr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3606800" y="4364583"/>
            <a:ext cx="1778658"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200"/>
              <a:buFont typeface="Be Vietnam Pro"/>
              <a:buNone/>
            </a:pPr>
            <a:pPr indent="0" lvl="0" marL="0" marR="0" rtl="0" algn="l">
              <a:lnSpc>
                <a:spcPct val="140000"/>
              </a:lnSpc>
              <a:spcBef>
                <a:spcPts val="0"/>
              </a:spcBef>
              <a:spcAft>
                <a:spcPts val="0"/>
              </a:spcAft>
              <a:buClr>
                <a:srgbClr val="12263A"/>
              </a:buClr>
              <a:buSzPts val="1200"/>
              <a:buFont typeface="Be Vietnam Pro"/>
              <a:buNone/>
            </a:pPr>
            <a:r>
              <a:rPr b="1" i="0" lang="en-US" sz="1000" u="none" cap="none" strike="noStrike">
                <a:solidFill>
                  <a:srgbClr val="12263A"/>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36" name="Google Shape;336;p15"/>
          <p:cNvSpPr/>
          <p:nvPr/>
        </p:nvSpPr>
        <p:spPr>
          <a:xfrm>
            <a:off x="6096000" y="4242643"/>
            <a:ext cx="2641600" cy="457200"/>
          </a:xfrm>
          <a:prstGeom prst="rect">
            <a:avLst/>
          </a:pr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6248400" y="4364583"/>
            <a:ext cx="1780856"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F6F7F4"/>
              </a:buClr>
              <a:buSzPts val="1200"/>
              <a:buFont typeface="Be Vietnam Pro"/>
              <a:buNone/>
            </a:pPr>
            <a:pPr indent="0" lvl="0" marL="0" marR="0" rtl="0" algn="l">
              <a:lnSpc>
                <a:spcPct val="140000"/>
              </a:lnSpc>
              <a:spcBef>
                <a:spcPts val="0"/>
              </a:spcBef>
              <a:spcAft>
                <a:spcPts val="0"/>
              </a:spcAft>
              <a:buClr>
                <a:srgbClr val="F6F7F4"/>
              </a:buClr>
              <a:buSzPts val="1200"/>
              <a:buFont typeface="Be Vietnam Pro"/>
              <a:buNone/>
            </a:pPr>
            <a:r>
              <a:rPr b="1" i="0" lang="en-US" sz="1000" u="none" cap="none" strike="noStrike">
                <a:solidFill>
                  <a:srgbClr val="F6F7F4"/>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38" name="Google Shape;338;p15"/>
          <p:cNvSpPr/>
          <p:nvPr/>
        </p:nvSpPr>
        <p:spPr>
          <a:xfrm>
            <a:off x="8737600" y="4242643"/>
            <a:ext cx="2641600" cy="457200"/>
          </a:xfrm>
          <a:custGeom>
            <a:rect b="b" l="l" r="r" t="t"/>
            <a:pathLst>
              <a:path extrusionOk="0" h="457200" w="2641600">
                <a:moveTo>
                  <a:pt x="2565400" y="0"/>
                </a:moveTo>
                <a:cubicBezTo>
                  <a:pt x="2585609" y="0"/>
                  <a:pt x="2604991" y="8028"/>
                  <a:pt x="2619282" y="22318"/>
                </a:cubicBezTo>
                <a:cubicBezTo>
                  <a:pt x="2633572" y="36609"/>
                  <a:pt x="2641600" y="55991"/>
                  <a:pt x="2641600" y="76200"/>
                </a:cubicBezTo>
                <a:lnTo>
                  <a:pt x="2641600" y="381000"/>
                </a:lnTo>
                <a:cubicBezTo>
                  <a:pt x="2641600" y="423084"/>
                  <a:pt x="2607484" y="457200"/>
                  <a:pt x="2565400" y="457200"/>
                </a:cubicBezTo>
                <a:lnTo>
                  <a:pt x="0" y="457200"/>
                </a:lnTo>
                <a:lnTo>
                  <a:pt x="0" y="0"/>
                </a:lnTo>
                <a:close/>
              </a:path>
            </a:pathLst>
          </a:custGeom>
          <a:solidFill>
            <a:srgbClr val="E7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8890000" y="4364583"/>
            <a:ext cx="1787447"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200"/>
              <a:buFont typeface="Be Vietnam Pro"/>
              <a:buNone/>
            </a:pPr>
            <a:pPr indent="0" lvl="0" marL="0" marR="0" rtl="0" algn="l">
              <a:lnSpc>
                <a:spcPct val="140000"/>
              </a:lnSpc>
              <a:spcBef>
                <a:spcPts val="0"/>
              </a:spcBef>
              <a:spcAft>
                <a:spcPts val="0"/>
              </a:spcAft>
              <a:buClr>
                <a:srgbClr val="12263A"/>
              </a:buClr>
              <a:buSzPts val="1200"/>
              <a:buFont typeface="Be Vietnam Pro"/>
              <a:buNone/>
            </a:pPr>
            <a:r>
              <a:rPr b="1" i="0" lang="en-US" sz="1000" u="none" cap="none" strike="noStrike">
                <a:solidFill>
                  <a:srgbClr val="12263A"/>
                </a:solidFill>
                <a:latin typeface="Be Vietnam Pro"/>
                <a:ea typeface="Be Vietnam Pro"/>
                <a:cs typeface="Be Vietnam Pro"/>
                <a:sym typeface="Be Vietnam Pro"/>
              </a:rPr>
              <a:t/>
            </a:r>
            <a:endParaRPr b="0" i="0" sz="1200" u="none" cap="none" strike="noStrike">
              <a:solidFill>
                <a:schemeClr val="dk1"/>
              </a:solidFill>
              <a:latin typeface="Calibri"/>
              <a:ea typeface="Calibri"/>
              <a:cs typeface="Calibri"/>
              <a:sym typeface="Calibri"/>
            </a:endParaRPr>
          </a:p>
        </p:txBody>
      </p:sp>
      <p:sp>
        <p:nvSpPr>
          <p:cNvPr id="340" name="Google Shape;340;p15"/>
          <p:cNvSpPr/>
          <p:nvPr/>
        </p:nvSpPr>
        <p:spPr>
          <a:xfrm>
            <a:off x="812800" y="4953843"/>
            <a:ext cx="10883392"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200"/>
              <a:buFont typeface="Be Vietnam Pro"/>
              <a:buNone/>
            </a:pPr>
            <a:pPr indent="0" lvl="0" marL="0" marR="0" rtl="0" algn="l">
              <a:lnSpc>
                <a:spcPct val="140000"/>
              </a:lnSpc>
              <a:spcBef>
                <a:spcPts val="0"/>
              </a:spcBef>
              <a:spcAft>
                <a:spcPts val="0"/>
              </a:spcAft>
              <a:buClr>
                <a:srgbClr val="3F4A57"/>
              </a:buClr>
              <a:buSzPts val="1200"/>
              <a:buFont typeface="Be Vietnam Pro"/>
              <a:buNone/>
            </a:pPr>
            <a:r>
              <a:rPr b="0" i="0" lang="en-US" sz="1200" u="none" cap="none" strike="noStrike">
                <a:solidFill>
                  <a:srgbClr val="3F4A57"/>
                </a:solidFill>
                <a:latin typeface="Be Vietnam Pro"/>
                <a:ea typeface="Be Vietnam Pro"/>
                <a:cs typeface="Be Vietnam Pro"/>
                <a:sym typeface="Be Vietnam Pro"/>
              </a:rPr>
              <a:t>Công thức mẫu: 40% SP + 30% PR/review + 20% đánh giá chéo + 10% mentor.</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200"/>
              <a:buFont typeface="Be Vietnam Pro"/>
              <a:buNone/>
            </a:pPr>
            <a:r>
              <a:rPr b="0" i="0" lang="en-US" sz="1200" u="none" cap="none" strike="noStrike">
                <a:solidFill>
                  <a:srgbClr val="3F4A57"/>
                </a:solidFill>
                <a:latin typeface="Be Vietnam Pro"/>
                <a:ea typeface="Be Vietnam Pro"/>
                <a:cs typeface="Be Vietnam Pro"/>
                <a:sym typeface="Be Vietnam Pro"/>
              </a:rPr>
              <a:t>Chưa có số liệu: không chia đều, không ước lượng. Tổng cuối cùng phải = 100%.</a:t>
            </a:r>
          </a:p>
        </p:txBody>
      </p:sp>
      <p:sp>
        <p:nvSpPr>
          <p:cNvPr id="341" name="Google Shape;341;p15"/>
          <p:cNvSpPr/>
          <p:nvPr/>
        </p:nvSpPr>
        <p:spPr>
          <a:xfrm>
            <a:off x="812800" y="6238280"/>
            <a:ext cx="419854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Nguồn: Jira · Git · phiếu đánh giá chéo · nhận xét mentor</a:t>
            </a:r>
            <a:endParaRPr b="0" i="0" sz="1200" u="none" cap="none" strike="noStrike">
              <a:solidFill>
                <a:schemeClr val="dk1"/>
              </a:solidFill>
              <a:latin typeface="Calibri"/>
              <a:ea typeface="Calibri"/>
              <a:cs typeface="Calibri"/>
              <a:sym typeface="Calibri"/>
            </a:endParaRPr>
          </a:p>
        </p:txBody>
      </p:sp>
      <p:sp>
        <p:nvSpPr>
          <p:cNvPr id="342" name="Google Shape;342;p15"/>
          <p:cNvSpPr/>
          <p:nvPr/>
        </p:nvSpPr>
        <p:spPr>
          <a:xfrm>
            <a:off x="9627344" y="6238280"/>
            <a:ext cx="18044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A — Kết quả nhóm</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43" name="Google Shape;343;p15"/>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44" name="Google Shape;344;p15"/>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45" name="TextBox 344"/>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46" name="TextBox 345"/>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Lê Minh Danh · Backend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API khách hàng, phát hiện và gộp trùng.</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N1-196, N1-197, N1-206.</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N1-196, N1-197, N1-206, N1-207</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12</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LÊ MINH DANH</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Gộp khách hàng và bảo toàn dữ liệu liên quan</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API khách hàng, phát hiện và gộp trùng.</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N1-196, N1-197</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LÊ MINH DANH</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Node.js / API / dữ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Đỗ Tuấn Dũng · Backend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API người liên hệ, chuyển công ty và lịch sử.</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N1-199, N1-200.</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N1-199, N1-200</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11</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ĐỖ TUẤN DŨNG</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Chuyển người liên hệ mà không mất lịch sử</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API người liên hệ, chuyển công ty và lịch sử.</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N1-199, N1-200</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ĐỖ TUẤN DŨNG</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Node.js / API / dữ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Nguyễn Trần Việt Anh · Backend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API hồ sơ 360, truy vấn và công ty mẹ/con.</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N1-203, N1-204, N1-209.</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N1-203, N1-204, N1-209</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13</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NGUYỄN TRẦN VIỆT ANH</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Truy vấn tổng hợp hồ sơ khách hàng 360</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API hồ sơ 360, truy vấn và công ty mẹ/con.</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N1-203, N1-204</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NGUYỄN TRẦN VIỆT ANH</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Node.js / API / dữ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Nguyễn Thùy Chang · Backend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Đọc Excel, kiểm tra dữ liệu và API bộ lọc.</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N1-211, N1-214.</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N1-211, N1-214</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10</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NGUYỄN THÙY CHANG</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Xem trước và kiểm tra dữ liệu nhập Excel</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Đọc Excel, kiểm tra dữ liệu và API bộ lọc.</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N1-211, N1-214</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NGUYỄN THÙY CHANG</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Node.js / API / dữ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Phạm Xuân Bình · Backend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API chăm sóc định kỳ và đánh dấu liên hệ.</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N1-219, N1-220.</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N1-219, N1-220</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11</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PHẠM XUÂN BÌNH</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Danh sách khách hàng cần chăm sóc định kỳ</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API chăm sóc định kỳ và đánh dấu liên hệ.</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N1-219, N1-220</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PHẠM XUÂN BÌNH</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Node.js / API / dữ liệu</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Hứa Huệ An · Frontend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Giao diện khách hàng và so sánh/gộp trùng.</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N1-198, N1-208.</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Chưa Done trong export: N1-230.</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N1-198, N1-208, N1-230</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11</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HỨA HUỆ AN</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Giao diện so sánh và gộp khách hàng</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Giao diện khách hàng và so sánh/gộp trùng.</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N1-198, N1-208</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HỨA HUỆ AN</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React / UI / tích hợp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Hoàng Lan Anh · Frontend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Giao diện liên hệ, chuyển công ty và chăm sóc.</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N1-201, N1-202, N1-221.</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N1-201, N1-202, N1-221</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12</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HOÀNG LAN ANH</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Giao diện chuyển liên hệ có lịch sử</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Giao diện liên hệ, chuyển công ty và chăm sóc.</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N1-201, N1-202</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39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HOÀNG LAN ANH</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React / UI / tích hợp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Châu Thùy Dung · Frontend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Giao diện hồ sơ 360; báo cáo nhập Excel được giao.</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N1-205.</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Chưa Done trong export: N1-224.</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N1-205, N1-224</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10</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CHÂU THÙY DUNG</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Giao diện khách hàng 360 và dữ liệu liên quan</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00" u="none" cap="none" strike="noStrike">
                <a:solidFill>
                  <a:srgbClr val="3F4A57"/>
                </a:solidFill>
                <a:latin typeface="Be Vietnam Pro"/>
                <a:ea typeface="Be Vietnam Pro"/>
                <a:cs typeface="Be Vietnam Pro"/>
                <a:sym typeface="Be Vietnam Pro"/>
              </a:rPr>
              <a:t>Giao diện hồ sơ 360; báo cáo nhập Excel được giao.</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N1-205</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CHÂU THÙY DUNG</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React / UI / tích hợp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61" name="Google Shape;361;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56C4"/>
              </a:buClr>
              <a:buSzPts val="1200"/>
              <a:buFont typeface="Be Vietnam Pro"/>
              <a:buNone/>
            </a:pPr>
            <a:r>
              <a:rPr b="1" i="0" lang="en-US" sz="1200" u="none" cap="none" strike="noStrike">
                <a:solidFill>
                  <a:srgbClr val="2556C4"/>
                </a:solidFill>
                <a:latin typeface="Be Vietnam Pro"/>
                <a:ea typeface="Be Vietnam Pro"/>
                <a:cs typeface="Be Vietnam Pro"/>
                <a:sym typeface="Be Vietnam Pro"/>
              </a:rPr>
              <a:t>B · 01 — VAI TRÒ &amp; PHẠM VI PHỤ TRÁCH</a:t>
            </a:r>
            <a:endParaRPr b="0" i="0" sz="1200" u="none" cap="none" strike="noStrike">
              <a:solidFill>
                <a:schemeClr val="dk1"/>
              </a:solidFill>
              <a:latin typeface="Calibri"/>
              <a:ea typeface="Calibri"/>
              <a:cs typeface="Calibri"/>
              <a:sym typeface="Calibri"/>
            </a:endParaRPr>
          </a:p>
        </p:txBody>
      </p:sp>
      <p:sp>
        <p:nvSpPr>
          <p:cNvPr id="362" name="Google Shape;362;p17"/>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Nguyễn Ngọc Anh · Frontend</a:t>
            </a:r>
            <a:endParaRPr b="0" i="0" sz="3200" u="none" cap="none" strike="noStrike">
              <a:solidFill>
                <a:schemeClr val="dk1"/>
              </a:solidFill>
              <a:latin typeface="Calibri"/>
              <a:ea typeface="Calibri"/>
              <a:cs typeface="Calibri"/>
              <a:sym typeface="Calibri"/>
            </a:endParaRPr>
          </a:p>
        </p:txBody>
      </p:sp>
      <p:sp>
        <p:nvSpPr>
          <p:cNvPr id="363" name="Google Shape;363;p17"/>
          <p:cNvSpPr/>
          <p:nvPr/>
        </p:nvSpPr>
        <p:spPr>
          <a:xfrm>
            <a:off x="815975" y="1806525"/>
            <a:ext cx="5861050" cy="4032300"/>
          </a:xfrm>
          <a:prstGeom prst="roundRect">
            <a:avLst>
              <a:gd fmla="val 2441"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1022350" y="2012900"/>
            <a:ext cx="5611749" cy="2996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12000"/>
              </a:lnSpc>
              <a:spcBef>
                <a:spcPts val="0"/>
              </a:spcBef>
              <a:spcAft>
                <a:spcPts val="200"/>
              </a:spcAft>
              <a:buClr>
                <a:srgbClr val="12263A"/>
              </a:buClr>
              <a:buSzPts val="1800"/>
              <a:buFont typeface="Be Vietnam Pro"/>
              <a:buNone/>
            </a:pPr>
            <a:pPr indent="0" lvl="0" marL="0" marR="0" rtl="0" algn="l">
              <a:lnSpc>
                <a:spcPct val="120000"/>
              </a:lnSpc>
              <a:spcBef>
                <a:spcPts val="0"/>
              </a:spcBef>
              <a:spcAft>
                <a:spcPts val="0"/>
              </a:spcAft>
              <a:buClr>
                <a:srgbClr val="12263A"/>
              </a:buClr>
              <a:buSzPts val="1800"/>
              <a:buFont typeface="Be Vietnam Pro"/>
              <a:buNone/>
            </a:pPr>
            <a:r>
              <a:rPr b="1" i="0" lang="en-US" sz="1600" u="none" cap="none" strike="noStrike">
                <a:solidFill>
                  <a:srgbClr val="12263A"/>
                </a:solidFill>
                <a:latin typeface="Be Vietnam Pro"/>
                <a:ea typeface="Be Vietnam Pro"/>
                <a:cs typeface="Be Vietnam Pro"/>
                <a:sym typeface="Be Vietnam Pro"/>
              </a:rPr>
              <a:t>Phạm vi được giao theo Jira · cần xác nhận</a:t>
            </a:r>
            <a:endParaRPr b="0" i="0" sz="1800" u="none" cap="none" strike="noStrike">
              <a:solidFill>
                <a:schemeClr val="dk1"/>
              </a:solidFill>
              <a:latin typeface="Calibri"/>
              <a:ea typeface="Calibri"/>
              <a:cs typeface="Calibri"/>
              <a:sym typeface="Calibri"/>
            </a:endParaRPr>
          </a:p>
        </p:txBody>
      </p:sp>
      <p:sp>
        <p:nvSpPr>
          <p:cNvPr id="365" name="Google Shape;365;p17"/>
          <p:cNvSpPr/>
          <p:nvPr/>
        </p:nvSpPr>
        <p:spPr>
          <a:xfrm>
            <a:off x="1022350" y="2363391"/>
            <a:ext cx="5611749" cy="2286000"/>
          </a:xfrm>
          <a:prstGeom prst="rect">
            <a:avLst/>
          </a:prstGeom>
          <a:noFill/>
          <a:ln>
            <a:noFill/>
          </a:ln>
        </p:spPr>
        <p:txBody>
          <a:bodyPr anchorCtr="0" anchor="t" bIns="0" lIns="0" spcFirstLastPara="1" rIns="0" wrap="square" tIns="0">
            <a:noAutofit/>
          </a:bodyPr>
          <a:lstStyle/>
          <a:p>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12000"/>
              </a:lnSpc>
              <a:spcBef>
                <a:spcPts val="0"/>
              </a:spcBef>
              <a:spcAft>
                <a:spcPts val="200"/>
              </a:spcAft>
              <a:buClr>
                <a:srgbClr val="3F4A57"/>
              </a:buClr>
              <a:buSzPts val="1400"/>
              <a:buFont typeface="Be Vietnam Pro"/>
              <a:buChar char="•"/>
            </a:pPr>
            <a:pPr indent="-169418" lvl="0" marL="213360" marR="0" rtl="0" algn="l">
              <a:lnSpc>
                <a:spcPct val="140000"/>
              </a:lnSpc>
              <a:spcBef>
                <a:spcPts val="0"/>
              </a:spcBef>
              <a:spcAft>
                <a:spcPts val="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Kiểm tra dòng Excel và giao diện bộ lọc.</a:t>
            </a:r>
            <a:endParaRPr b="0" i="0" sz="1400" u="none" cap="none" strike="noStrike">
              <a:solidFill>
                <a:schemeClr val="dk1"/>
              </a:solidFill>
              <a:latin typeface="Calibri"/>
              <a:ea typeface="Calibri"/>
              <a:cs typeface="Calibri"/>
              <a:sym typeface="Calibri"/>
            </a:endParaRP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Issue Done tiêu biểu: N1-212, N1-215.</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Chưa Done trong export: N1-229.</a:t>
            </a:r>
          </a:p>
          <a:p>
            <a:pPr indent="-169418" lvl="0" marL="213360" marR="0" rtl="0" algn="l">
              <a:lnSpc>
                <a:spcPct val="112000"/>
              </a:lnSpc>
              <a:spcBef>
                <a:spcPts val="0"/>
              </a:spcBef>
              <a:spcAft>
                <a:spcPts val="200"/>
              </a:spcAft>
              <a:buClr>
                <a:srgbClr val="3F4A57"/>
              </a:buClr>
              <a:buSzPts val="1400"/>
              <a:buFont typeface="Be Vietnam Pro"/>
              <a:buChar char="•"/>
            </a:pPr>
            <a:r>
              <a:rPr b="0" i="0" lang="en-US" sz="1400" u="none" cap="none" strike="noStrike">
                <a:solidFill>
                  <a:srgbClr val="3F4A57"/>
                </a:solidFill>
                <a:latin typeface="Be Vietnam Pro"/>
                <a:ea typeface="Be Vietnam Pro"/>
                <a:cs typeface="Be Vietnam Pro"/>
                <a:sym typeface="Be Vietnam Pro"/>
              </a:rPr>
              <a:t>Cần người phụ trách xác nhận phần trực tiếp làm / hỗ trợ.</a:t>
            </a:r>
          </a:p>
        </p:txBody>
      </p:sp>
      <p:sp>
        <p:nvSpPr>
          <p:cNvPr id="366" name="Google Shape;366;p17"/>
          <p:cNvSpPr/>
          <p:nvPr/>
        </p:nvSpPr>
        <p:spPr>
          <a:xfrm>
            <a:off x="1022350" y="5419130"/>
            <a:ext cx="561174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000" u="none" cap="none" strike="noStrike">
                <a:solidFill>
                  <a:srgbClr val="5A6573"/>
                </a:solidFill>
                <a:latin typeface="Be Vietnam Pro"/>
                <a:ea typeface="Be Vietnam Pro"/>
                <a:cs typeface="Be Vietnam Pro"/>
                <a:sym typeface="Be Vietnam Pro"/>
              </a:rPr>
              <a:t>Ticket: N1-212, N1-215, N1-229</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6937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7118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Issue Done*</a:t>
            </a:r>
            <a:endParaRPr b="0" i="0" sz="1200" u="none" cap="none" strike="noStrike">
              <a:solidFill>
                <a:schemeClr val="dk1"/>
              </a:solidFill>
              <a:latin typeface="Calibri"/>
              <a:ea typeface="Calibri"/>
              <a:cs typeface="Calibri"/>
              <a:sym typeface="Calibri"/>
            </a:endParaRPr>
          </a:p>
        </p:txBody>
      </p:sp>
      <p:sp>
        <p:nvSpPr>
          <p:cNvPr id="369" name="Google Shape;369;p17"/>
          <p:cNvSpPr/>
          <p:nvPr/>
        </p:nvSpPr>
        <p:spPr>
          <a:xfrm>
            <a:off x="7118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3000" u="none" cap="none" strike="noStrike">
                <a:solidFill>
                  <a:srgbClr val="12263A"/>
                </a:solidFill>
                <a:latin typeface="Be Vietnam Pro"/>
                <a:ea typeface="Be Vietnam Pro"/>
                <a:cs typeface="Be Vietnam Pro"/>
                <a:sym typeface="Be Vietnam Pro"/>
              </a:rPr>
              <a:t>10</a:t>
            </a:r>
            <a:endParaRPr b="0" i="0" sz="3200" u="none" cap="none" strike="noStrike">
              <a:solidFill>
                <a:schemeClr val="dk1"/>
              </a:solidFill>
              <a:latin typeface="Calibri"/>
              <a:ea typeface="Calibri"/>
              <a:cs typeface="Calibri"/>
              <a:sym typeface="Calibri"/>
            </a:endParaRPr>
          </a:p>
        </p:txBody>
      </p:sp>
      <p:sp>
        <p:nvSpPr>
          <p:cNvPr id="370" name="Google Shape;370;p17"/>
          <p:cNvSpPr/>
          <p:nvPr/>
        </p:nvSpPr>
        <p:spPr>
          <a:xfrm>
            <a:off x="9223375" y="1806525"/>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9404350" y="1962100"/>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Story point</a:t>
            </a:r>
            <a:endParaRPr b="0" i="0" sz="1200" u="none" cap="none" strike="noStrike">
              <a:solidFill>
                <a:schemeClr val="dk1"/>
              </a:solidFill>
              <a:latin typeface="Calibri"/>
              <a:ea typeface="Calibri"/>
              <a:cs typeface="Calibri"/>
              <a:sym typeface="Calibri"/>
            </a:endParaRPr>
          </a:p>
        </p:txBody>
      </p:sp>
      <p:sp>
        <p:nvSpPr>
          <p:cNvPr id="372" name="Google Shape;372;p17"/>
          <p:cNvSpPr/>
          <p:nvPr/>
        </p:nvSpPr>
        <p:spPr>
          <a:xfrm>
            <a:off x="9404350" y="222622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SP</a:t>
            </a:r>
            <a:endParaRPr b="0" i="0" sz="3200" u="none" cap="none" strike="noStrike">
              <a:solidFill>
                <a:schemeClr val="dk1"/>
              </a:solidFill>
              <a:latin typeface="Calibri"/>
              <a:ea typeface="Calibri"/>
              <a:cs typeface="Calibri"/>
              <a:sym typeface="Calibri"/>
            </a:endParaRPr>
          </a:p>
        </p:txBody>
      </p:sp>
      <p:sp>
        <p:nvSpPr>
          <p:cNvPr id="373" name="Google Shape;373;p17"/>
          <p:cNvSpPr/>
          <p:nvPr/>
        </p:nvSpPr>
        <p:spPr>
          <a:xfrm>
            <a:off x="6937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118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Commit</a:t>
            </a:r>
            <a:endParaRPr b="0" i="0" sz="1200" u="none" cap="none" strike="noStrike">
              <a:solidFill>
                <a:schemeClr val="dk1"/>
              </a:solidFill>
              <a:latin typeface="Calibri"/>
              <a:ea typeface="Calibri"/>
              <a:cs typeface="Calibri"/>
              <a:sym typeface="Calibri"/>
            </a:endParaRPr>
          </a:p>
        </p:txBody>
      </p:sp>
      <p:sp>
        <p:nvSpPr>
          <p:cNvPr id="375" name="Google Shape;375;p17"/>
          <p:cNvSpPr/>
          <p:nvPr/>
        </p:nvSpPr>
        <p:spPr>
          <a:xfrm>
            <a:off x="7118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Git</a:t>
            </a:r>
            <a:endParaRPr b="0" i="0" sz="3200" u="none" cap="none" strike="noStrike">
              <a:solidFill>
                <a:schemeClr val="dk1"/>
              </a:solidFill>
              <a:latin typeface="Calibri"/>
              <a:ea typeface="Calibri"/>
              <a:cs typeface="Calibri"/>
              <a:sym typeface="Calibri"/>
            </a:endParaRPr>
          </a:p>
        </p:txBody>
      </p:sp>
      <p:sp>
        <p:nvSpPr>
          <p:cNvPr id="376" name="Google Shape;376;p17"/>
          <p:cNvSpPr/>
          <p:nvPr/>
        </p:nvSpPr>
        <p:spPr>
          <a:xfrm>
            <a:off x="9223375" y="2962176"/>
            <a:ext cx="2152650" cy="1022300"/>
          </a:xfrm>
          <a:prstGeom prst="roundRect">
            <a:avLst>
              <a:gd fmla="val 9628"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9404350" y="3117751"/>
            <a:ext cx="184442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PR đã merge</a:t>
            </a:r>
            <a:endParaRPr b="0" i="0" sz="1200" u="none" cap="none" strike="noStrike">
              <a:solidFill>
                <a:schemeClr val="dk1"/>
              </a:solidFill>
              <a:latin typeface="Calibri"/>
              <a:ea typeface="Calibri"/>
              <a:cs typeface="Calibri"/>
              <a:sym typeface="Calibri"/>
            </a:endParaRPr>
          </a:p>
        </p:txBody>
      </p:sp>
      <p:sp>
        <p:nvSpPr>
          <p:cNvPr id="378" name="Google Shape;378;p17"/>
          <p:cNvSpPr/>
          <p:nvPr/>
        </p:nvSpPr>
        <p:spPr>
          <a:xfrm>
            <a:off x="9404350" y="3381871"/>
            <a:ext cx="1844421"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PR</a:t>
            </a:r>
            <a:endParaRPr b="0" i="0" sz="3200" u="none" cap="none" strike="noStrike">
              <a:solidFill>
                <a:schemeClr val="dk1"/>
              </a:solidFill>
              <a:latin typeface="Calibri"/>
              <a:ea typeface="Calibri"/>
              <a:cs typeface="Calibri"/>
              <a:sym typeface="Calibri"/>
            </a:endParaRPr>
          </a:p>
        </p:txBody>
      </p:sp>
      <p:sp>
        <p:nvSpPr>
          <p:cNvPr id="379" name="Google Shape;379;p17"/>
          <p:cNvSpPr/>
          <p:nvPr/>
        </p:nvSpPr>
        <p:spPr>
          <a:xfrm>
            <a:off x="6934200" y="4114651"/>
            <a:ext cx="4445000" cy="1054050"/>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17"/>
          <p:cNvCxnSpPr/>
          <p:nvPr/>
        </p:nvCxnSpPr>
        <p:spPr>
          <a:xfrm>
            <a:off x="6934200" y="4133701"/>
            <a:ext cx="4445000" cy="0"/>
          </a:xfrm>
          <a:prstGeom prst="straightConnector1">
            <a:avLst/>
          </a:prstGeom>
          <a:noFill/>
          <a:ln cap="flat" cmpd="sng" w="38100">
            <a:solidFill>
              <a:srgbClr val="F28C28"/>
            </a:solidFill>
            <a:prstDash val="solid"/>
            <a:round/>
            <a:headEnd len="sm" w="sm" type="none"/>
            <a:tailEnd len="sm" w="sm" type="none"/>
          </a:ln>
        </p:spPr>
      </p:cxnSp>
      <p:sp>
        <p:nvSpPr>
          <p:cNvPr id="381" name="Google Shape;381;p17"/>
          <p:cNvSpPr/>
          <p:nvPr/>
        </p:nvSpPr>
        <p:spPr>
          <a:xfrm>
            <a:off x="7112000" y="4305151"/>
            <a:ext cx="421208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Tỉ lệ đóng góp trong nhóm</a:t>
            </a:r>
            <a:endParaRPr b="0" i="0" sz="1200" u="none" cap="none" strike="noStrike">
              <a:solidFill>
                <a:schemeClr val="dk1"/>
              </a:solidFill>
              <a:latin typeface="Calibri"/>
              <a:ea typeface="Calibri"/>
              <a:cs typeface="Calibri"/>
              <a:sym typeface="Calibri"/>
            </a:endParaRPr>
          </a:p>
        </p:txBody>
      </p:sp>
      <p:sp>
        <p:nvSpPr>
          <p:cNvPr id="382" name="Google Shape;382;p17"/>
          <p:cNvSpPr/>
          <p:nvPr/>
        </p:nvSpPr>
        <p:spPr>
          <a:xfrm>
            <a:off x="7112000" y="4569271"/>
            <a:ext cx="421208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2000"/>
              </a:lnSpc>
              <a:spcBef>
                <a:spcPts val="0"/>
              </a:spcBef>
              <a:spcAft>
                <a:spcPts val="200"/>
              </a:spcAft>
              <a:buClr>
                <a:srgbClr val="2556C4"/>
              </a:buClr>
              <a:buSzPts val="3200"/>
              <a:buFont typeface="Be Vietnam Pro"/>
              <a:buNone/>
            </a:pPr>
            <a:pPr indent="0" lvl="0" marL="0" marR="0" rtl="0" algn="l">
              <a:lnSpc>
                <a:spcPct val="110000"/>
              </a:lnSpc>
              <a:spcBef>
                <a:spcPts val="0"/>
              </a:spcBef>
              <a:spcAft>
                <a:spcPts val="0"/>
              </a:spcAft>
              <a:buClr>
                <a:srgbClr val="2556C4"/>
              </a:buClr>
              <a:buSzPts val="3200"/>
              <a:buFont typeface="Be Vietnam Pro"/>
              <a:buNone/>
            </a:pPr>
            <a:r>
              <a:rPr b="1" i="0" lang="en-US" sz="2200" u="none" cap="none" strike="noStrike">
                <a:solidFill>
                  <a:srgbClr val="C17B10"/>
                </a:solidFill>
                <a:latin typeface="Be Vietnam Pro"/>
                <a:ea typeface="Be Vietnam Pro"/>
                <a:cs typeface="Be Vietnam Pro"/>
                <a:sym typeface="Be Vietnam Pro"/>
              </a:rPr>
              <a:t>Chờ xác nhận</a:t>
            </a:r>
            <a:endParaRPr b="0" i="0" sz="3200" u="none" cap="none" strike="noStrike">
              <a:solidFill>
                <a:schemeClr val="dk1"/>
              </a:solidFill>
              <a:latin typeface="Calibri"/>
              <a:ea typeface="Calibri"/>
              <a:cs typeface="Calibri"/>
              <a:sym typeface="Calibri"/>
            </a:endParaRPr>
          </a:p>
        </p:txBody>
      </p:sp>
      <p:sp>
        <p:nvSpPr>
          <p:cNvPr id="383" name="Google Shape;383;p17"/>
          <p:cNvSpPr/>
          <p:nvPr/>
        </p:nvSpPr>
        <p:spPr>
          <a:xfrm>
            <a:off x="812800" y="6238280"/>
            <a:ext cx="7955279"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*Non-Epic theo assignee trong export 18/10; không phải % đóng góp.</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385" name="Google Shape;385;p17"/>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386" name="Google Shape;386;p17"/>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387" name="TextBox 38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388" name="TextBox 38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392" name="Google Shape;392;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02 — ĐÓNG GÓP TIÊU BIỂU · NGUYỄN NGỌC ANH</a:t>
            </a:r>
            <a:endParaRPr b="0" i="0" sz="1200" u="none" cap="none" strike="noStrike">
              <a:solidFill>
                <a:schemeClr val="dk1"/>
              </a:solidFill>
              <a:latin typeface="Calibri"/>
              <a:ea typeface="Calibri"/>
              <a:cs typeface="Calibri"/>
              <a:sym typeface="Calibri"/>
            </a:endParaRPr>
          </a:p>
        </p:txBody>
      </p:sp>
      <p:sp>
        <p:nvSpPr>
          <p:cNvPr id="393" name="Google Shape;393;p18"/>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2000"/>
              </a:lnSpc>
              <a:spcBef>
                <a:spcPts val="0"/>
              </a:spcBef>
              <a:spcAft>
                <a:spcPts val="200"/>
              </a:spcAft>
              <a:buClr>
                <a:srgbClr val="12263A"/>
              </a:buClr>
              <a:buSzPts val="3200"/>
              <a:buFont typeface="Be Vietnam Pro"/>
              <a:buNone/>
            </a:pPr>
            <a:pPr indent="0" lvl="0" marL="0" marR="0" rtl="0" algn="l">
              <a:lnSpc>
                <a:spcPct val="110000"/>
              </a:lnSpc>
              <a:spcBef>
                <a:spcPts val="0"/>
              </a:spcBef>
              <a:spcAft>
                <a:spcPts val="0"/>
              </a:spcAft>
              <a:buClr>
                <a:srgbClr val="12263A"/>
              </a:buClr>
              <a:buSzPts val="3200"/>
              <a:buFont typeface="Be Vietnam Pro"/>
              <a:buNone/>
            </a:pPr>
            <a:r>
              <a:rPr b="1" i="0" lang="en-US" sz="2700" u="none" cap="none" strike="noStrike">
                <a:solidFill>
                  <a:srgbClr val="12263A"/>
                </a:solidFill>
                <a:latin typeface="Be Vietnam Pro"/>
                <a:ea typeface="Be Vietnam Pro"/>
                <a:cs typeface="Be Vietnam Pro"/>
                <a:sym typeface="Be Vietnam Pro"/>
              </a:rPr>
              <a:t>Hiển thị lỗi từng dòng khi nhập Excel</a:t>
            </a:r>
            <a:endParaRPr b="0" i="0" sz="3200" u="none" cap="none" strike="noStrike">
              <a:solidFill>
                <a:schemeClr val="dk1"/>
              </a:solidFill>
              <a:latin typeface="Calibri"/>
              <a:ea typeface="Calibri"/>
              <a:cs typeface="Calibri"/>
              <a:sym typeface="Calibri"/>
            </a:endParaRPr>
          </a:p>
        </p:txBody>
      </p:sp>
      <p:sp>
        <p:nvSpPr>
          <p:cNvPr id="394" name="Google Shape;394;p18"/>
          <p:cNvSpPr/>
          <p:nvPr/>
        </p:nvSpPr>
        <p:spPr>
          <a:xfrm>
            <a:off x="815975" y="1806525"/>
            <a:ext cx="3177084"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1022350" y="2012900"/>
            <a:ext cx="284726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Vấn đề</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1022350" y="2363391"/>
            <a:ext cx="2847264"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Cần cá nhân mô tả hiện trạng và số đo trước khi sửa.</a:t>
            </a:r>
            <a:endParaRPr b="0" i="0" sz="1400" u="none" cap="none" strike="noStrike">
              <a:solidFill>
                <a:schemeClr val="dk1"/>
              </a:solidFill>
              <a:latin typeface="Calibri"/>
              <a:ea typeface="Calibri"/>
              <a:cs typeface="Calibri"/>
              <a:sym typeface="Calibri"/>
            </a:endParaRPr>
          </a:p>
        </p:txBody>
      </p:sp>
      <p:sp>
        <p:nvSpPr>
          <p:cNvPr id="397" name="Google Shape;397;p18"/>
          <p:cNvSpPr/>
          <p:nvPr/>
        </p:nvSpPr>
        <p:spPr>
          <a:xfrm>
            <a:off x="1022350" y="2937371"/>
            <a:ext cx="2847264"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Chờ ảnh/log trước với kịch bản cụ thể.</a:t>
            </a:r>
            <a:endParaRPr b="0" i="0" sz="1200" u="none" cap="none" strike="noStrike">
              <a:solidFill>
                <a:schemeClr val="dk1"/>
              </a:solidFill>
              <a:latin typeface="Calibri"/>
              <a:ea typeface="Calibri"/>
              <a:cs typeface="Calibri"/>
              <a:sym typeface="Calibri"/>
            </a:endParaRPr>
          </a:p>
        </p:txBody>
      </p:sp>
      <p:pic>
        <p:nvPicPr>
          <p:cNvPr descr="arrow-right" id="398" name="Google Shape;398;p18"/>
          <p:cNvPicPr preferRelativeResize="0"/>
          <p:nvPr/>
        </p:nvPicPr>
        <p:blipFill rotWithShape="1">
          <a:blip r:embed="rId2">
            <a:alphaModFix/>
          </a:blip>
          <a:srcRect b="0" l="0" r="0" t="0"/>
          <a:stretch/>
        </p:blipFill>
        <p:spPr>
          <a:xfrm>
            <a:off x="4097834" y="2599531"/>
            <a:ext cx="304800" cy="177800"/>
          </a:xfrm>
          <a:prstGeom prst="rect">
            <a:avLst/>
          </a:prstGeom>
          <a:noFill/>
          <a:ln>
            <a:noFill/>
          </a:ln>
        </p:spPr>
      </p:pic>
      <p:sp>
        <p:nvSpPr>
          <p:cNvPr id="399" name="Google Shape;399;p18"/>
          <p:cNvSpPr/>
          <p:nvPr/>
        </p:nvSpPr>
        <p:spPr>
          <a:xfrm>
            <a:off x="4507409"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713784"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Giải pháp</a:t>
            </a:r>
            <a:endParaRPr b="0" i="0" sz="1800" u="none" cap="none" strike="noStrike">
              <a:solidFill>
                <a:schemeClr val="dk1"/>
              </a:solidFill>
              <a:latin typeface="Calibri"/>
              <a:ea typeface="Calibri"/>
              <a:cs typeface="Calibri"/>
              <a:sym typeface="Calibri"/>
            </a:endParaRPr>
          </a:p>
        </p:txBody>
      </p:sp>
      <p:sp>
        <p:nvSpPr>
          <p:cNvPr id="401" name="Google Shape;401;p18"/>
          <p:cNvSpPr/>
          <p:nvPr/>
        </p:nvSpPr>
        <p:spPr>
          <a:xfrm>
            <a:off x="4713784"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Dự thảo theo phạm vi Jira:</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200"/>
              </a:spcAft>
              <a:buClr>
                <a:srgbClr val="3F4A57"/>
              </a:buClr>
              <a:buSzPts val="1400"/>
              <a:buFont typeface="Be Vietnam Pro"/>
              <a:buNone/>
            </a:pPr>
            <a:r>
              <a:rPr b="0" i="0" lang="en-US" sz="1150" u="none" cap="none" strike="noStrike">
                <a:solidFill>
                  <a:srgbClr val="3F4A57"/>
                </a:solidFill>
                <a:latin typeface="Be Vietnam Pro"/>
                <a:ea typeface="Be Vietnam Pro"/>
                <a:cs typeface="Be Vietnam Pro"/>
                <a:sym typeface="Be Vietnam Pro"/>
              </a:rPr>
              <a:t>Kiểm tra dòng Excel và giao diện bộ lọc.</a:t>
            </a:r>
          </a:p>
        </p:txBody>
      </p:sp>
      <p:sp>
        <p:nvSpPr>
          <p:cNvPr id="402" name="Google Shape;402;p18"/>
          <p:cNvSpPr/>
          <p:nvPr/>
        </p:nvSpPr>
        <p:spPr>
          <a:xfrm>
            <a:off x="4713784" y="2937371"/>
            <a:ext cx="2847315" cy="452041"/>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Cần mô tả phần trực tiếp làm và PR tương ứng.</a:t>
            </a:r>
            <a:endParaRPr b="0" i="0" sz="1200" u="none" cap="none" strike="noStrike">
              <a:solidFill>
                <a:schemeClr val="dk1"/>
              </a:solidFill>
              <a:latin typeface="Calibri"/>
              <a:ea typeface="Calibri"/>
              <a:cs typeface="Calibri"/>
              <a:sym typeface="Calibri"/>
            </a:endParaRPr>
          </a:p>
        </p:txBody>
      </p:sp>
      <p:pic>
        <p:nvPicPr>
          <p:cNvPr descr="arrow-right" id="403" name="Google Shape;403;p18"/>
          <p:cNvPicPr preferRelativeResize="0"/>
          <p:nvPr/>
        </p:nvPicPr>
        <p:blipFill rotWithShape="1">
          <a:blip r:embed="rId2">
            <a:alphaModFix/>
          </a:blip>
          <a:srcRect b="0" l="0" r="0" t="0"/>
          <a:stretch/>
        </p:blipFill>
        <p:spPr>
          <a:xfrm>
            <a:off x="7789317" y="2599531"/>
            <a:ext cx="304800" cy="177800"/>
          </a:xfrm>
          <a:prstGeom prst="rect">
            <a:avLst/>
          </a:prstGeom>
          <a:noFill/>
          <a:ln>
            <a:noFill/>
          </a:ln>
        </p:spPr>
      </p:pic>
      <p:sp>
        <p:nvSpPr>
          <p:cNvPr id="404" name="Google Shape;404;p18"/>
          <p:cNvSpPr/>
          <p:nvPr/>
        </p:nvSpPr>
        <p:spPr>
          <a:xfrm>
            <a:off x="8198892" y="1806525"/>
            <a:ext cx="3177133" cy="1763861"/>
          </a:xfrm>
          <a:prstGeom prst="roundRect">
            <a:avLst>
              <a:gd fmla="val 5580"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405267" y="2012900"/>
            <a:ext cx="284731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Kết quả đo được</a:t>
            </a:r>
            <a:endParaRPr b="0" i="0" sz="1800" u="none" cap="none" strike="noStrike">
              <a:solidFill>
                <a:schemeClr val="dk1"/>
              </a:solidFill>
              <a:latin typeface="Calibri"/>
              <a:ea typeface="Calibri"/>
              <a:cs typeface="Calibri"/>
              <a:sym typeface="Calibri"/>
            </a:endParaRPr>
          </a:p>
        </p:txBody>
      </p:sp>
      <p:sp>
        <p:nvSpPr>
          <p:cNvPr id="406" name="Google Shape;406;p18"/>
          <p:cNvSpPr/>
          <p:nvPr/>
        </p:nvSpPr>
        <p:spPr>
          <a:xfrm>
            <a:off x="8405267" y="2363391"/>
            <a:ext cx="2847315" cy="5231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300" u="none" cap="none" strike="noStrike">
                <a:solidFill>
                  <a:srgbClr val="C17B10"/>
                </a:solidFill>
                <a:latin typeface="Be Vietnam Pro"/>
                <a:ea typeface="Be Vietnam Pro"/>
                <a:cs typeface="Be Vietnam Pro"/>
                <a:sym typeface="Be Vietnam Pro"/>
              </a:rPr>
              <a:t>Chưa đủ số đo trước–sau để kết luận mức cải thiện.</a:t>
            </a:r>
            <a:endParaRPr b="0" i="0" sz="1400" u="none" cap="none" strike="noStrike">
              <a:solidFill>
                <a:schemeClr val="dk1"/>
              </a:solidFill>
              <a:latin typeface="Calibri"/>
              <a:ea typeface="Calibri"/>
              <a:cs typeface="Calibri"/>
              <a:sym typeface="Calibri"/>
            </a:endParaRPr>
          </a:p>
        </p:txBody>
      </p:sp>
      <p:sp>
        <p:nvSpPr>
          <p:cNvPr id="407" name="Google Shape;407;p18"/>
          <p:cNvSpPr/>
          <p:nvPr/>
        </p:nvSpPr>
        <p:spPr>
          <a:xfrm>
            <a:off x="8405267" y="2937371"/>
            <a:ext cx="284731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1" lang="en-US" sz="1100" u="none" cap="none" strike="noStrike">
                <a:solidFill>
                  <a:srgbClr val="C17B10"/>
                </a:solidFill>
                <a:latin typeface="Be Vietnam Pro"/>
                <a:ea typeface="Be Vietnam Pro"/>
                <a:cs typeface="Be Vietnam Pro"/>
                <a:sym typeface="Be Vietnam Pro"/>
              </a:rPr>
              <a:t>Không tự đặt % cải thiện hoặc tốc độ.</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8191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2405640" y="4710311"/>
            <a:ext cx="2021270"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200" u="none" cap="none" strike="noStrike">
                <a:solidFill>
                  <a:srgbClr val="C17B10"/>
                </a:solidFill>
                <a:latin typeface="Be Vietnam Pro"/>
                <a:ea typeface="Be Vietnam Pro"/>
                <a:cs typeface="Be Vietnam Pro"/>
                <a:sym typeface="Be Vietnam Pro"/>
              </a:rPr>
              <a:t>CẦN ẢNH / SỐ ĐO TRƯỚC</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178550" y="3833912"/>
            <a:ext cx="5194300" cy="2001738"/>
          </a:xfrm>
          <a:prstGeom prst="roundRect">
            <a:avLst>
              <a:gd fmla="val 4758" name="adj"/>
            </a:avLst>
          </a:prstGeom>
          <a:solidFill>
            <a:srgbClr val="EDEFEA"/>
          </a:solidFill>
          <a:ln cap="flat" cmpd="sng" w="12700">
            <a:solidFill>
              <a:srgbClr val="A9B2B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7911257" y="4710311"/>
            <a:ext cx="1728887" cy="27429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12000"/>
              </a:lnSpc>
              <a:spcBef>
                <a:spcPts val="0"/>
              </a:spcBef>
              <a:spcAft>
                <a:spcPts val="200"/>
              </a:spcAft>
              <a:buClr>
                <a:srgbClr val="3F4A57"/>
              </a:buClr>
              <a:buSzPts val="1400"/>
              <a:buFont typeface="Be Vietnam Pro"/>
              <a:buNone/>
            </a:pPr>
            <a:pPr indent="0" lvl="0" marL="0" marR="0" rtl="0" algn="ctr">
              <a:lnSpc>
                <a:spcPct val="140000"/>
              </a:lnSpc>
              <a:spcBef>
                <a:spcPts val="0"/>
              </a:spcBef>
              <a:spcAft>
                <a:spcPts val="0"/>
              </a:spcAft>
              <a:buClr>
                <a:srgbClr val="3F4A57"/>
              </a:buClr>
              <a:buSzPts val="1400"/>
              <a:buFont typeface="Be Vietnam Pro"/>
              <a:buNone/>
            </a:pPr>
            <a:r>
              <a:rPr b="1" i="0" lang="en-US" sz="1150" u="none" cap="none" strike="noStrike">
                <a:solidFill>
                  <a:srgbClr val="C17B10"/>
                </a:solidFill>
                <a:latin typeface="Be Vietnam Pro"/>
                <a:ea typeface="Be Vietnam Pro"/>
                <a:cs typeface="Be Vietnam Pro"/>
                <a:sym typeface="Be Vietnam Pro"/>
              </a:rPr>
              <a:t>CẦN ẢNH / SỐ ĐO SAU</a:t>
            </a:r>
            <a:endParaRPr b="0" i="0" sz="1400" u="none" cap="none" strike="noStrike">
              <a:solidFill>
                <a:schemeClr val="dk1"/>
              </a:solidFill>
              <a:latin typeface="Calibri"/>
              <a:ea typeface="Calibri"/>
              <a:cs typeface="Calibri"/>
              <a:sym typeface="Calibri"/>
            </a:endParaRPr>
          </a:p>
        </p:txBody>
      </p:sp>
      <p:sp>
        <p:nvSpPr>
          <p:cNvPr id="412" name="Google Shape;412;p18"/>
          <p:cNvSpPr/>
          <p:nvPr/>
        </p:nvSpPr>
        <p:spPr>
          <a:xfrm>
            <a:off x="812800" y="6238280"/>
            <a:ext cx="3074495"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900" u="none" cap="none" strike="noStrike">
                <a:solidFill>
                  <a:srgbClr val="5A6573"/>
                </a:solidFill>
                <a:latin typeface="Be Vietnam Pro"/>
                <a:ea typeface="Be Vietnam Pro"/>
                <a:cs typeface="Be Vietnam Pro"/>
                <a:sym typeface="Be Vietnam Pro"/>
              </a:rPr>
              <a:t>Cần PR thật · Ticket tham chiếu: N1-212, N1-215</a:t>
            </a:r>
            <a:endParaRPr b="0" i="0" sz="1200" u="none" cap="none" strike="noStrike">
              <a:solidFill>
                <a:schemeClr val="dk1"/>
              </a:solidFill>
              <a:latin typeface="Calibri"/>
              <a:ea typeface="Calibri"/>
              <a:cs typeface="Calibri"/>
              <a:sym typeface="Calibri"/>
            </a:endParaRPr>
          </a:p>
        </p:txBody>
      </p:sp>
      <p:sp>
        <p:nvSpPr>
          <p:cNvPr id="413" name="Google Shape;413;p18"/>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14" name="Google Shape;414;p18"/>
          <p:cNvPicPr preferRelativeResize="0"/>
          <p:nvPr/>
        </p:nvPicPr>
        <p:blipFill rotWithShape="1">
          <a:blip r:embed="rId3">
            <a:alphaModFix/>
          </a:blip>
          <a:srcRect b="0" l="0" r="0" t="0"/>
          <a:stretch/>
        </p:blipFill>
        <p:spPr>
          <a:xfrm>
            <a:off x="4778375" y="203200"/>
            <a:ext cx="406400" cy="406400"/>
          </a:xfrm>
          <a:prstGeom prst="rect">
            <a:avLst/>
          </a:prstGeom>
          <a:noFill/>
          <a:ln>
            <a:noFill/>
          </a:ln>
        </p:spPr>
      </p:pic>
      <p:pic>
        <p:nvPicPr>
          <p:cNvPr descr="Logo CodeGym" id="415" name="Google Shape;415;p18"/>
          <p:cNvPicPr preferRelativeResize="0"/>
          <p:nvPr/>
        </p:nvPicPr>
        <p:blipFill rotWithShape="1">
          <a:blip r:embed="rId4">
            <a:alphaModFix/>
          </a:blip>
          <a:srcRect b="-50" l="0" r="0" t="-50"/>
          <a:stretch/>
        </p:blipFill>
        <p:spPr>
          <a:xfrm>
            <a:off x="5438775" y="203200"/>
            <a:ext cx="1974850" cy="406400"/>
          </a:xfrm>
          <a:prstGeom prst="rect">
            <a:avLst/>
          </a:prstGeom>
          <a:noFill/>
          <a:ln>
            <a:noFill/>
          </a:ln>
        </p:spPr>
      </p:pic>
      <p:sp>
        <p:nvSpPr>
          <p:cNvPr id="416" name="TextBox 415"/>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17" name="TextBox 416"/>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7F4"/>
        </a:solidFill>
      </p:bgPr>
    </p:bg>
    <p:spTree>
      <p:nvGrpSpPr>
        <p:cNvPr id="1" name=""/>
        <p:cNvGrpSpPr/>
        <p:nvPr/>
      </p:nvGrpSpPr>
      <p:grpSpPr/>
      <p:sp>
        <p:nvSpPr>
          <p:cNvPr id="421" name="Google Shape;421;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12000"/>
              </a:lnSpc>
              <a:spcBef>
                <a:spcPts val="0"/>
              </a:spcBef>
              <a:spcAft>
                <a:spcPts val="200"/>
              </a:spcAft>
              <a:buClr>
                <a:srgbClr val="2556C4"/>
              </a:buClr>
              <a:buSzPts val="1200"/>
              <a:buFont typeface="Be Vietnam Pro"/>
              <a:buNone/>
            </a:pPr>
            <a:pPr indent="0" lvl="0" marL="0" marR="0" rtl="0" algn="l">
              <a:lnSpc>
                <a:spcPct val="140000"/>
              </a:lnSpc>
              <a:spcBef>
                <a:spcPts val="0"/>
              </a:spcBef>
              <a:spcAft>
                <a:spcPts val="0"/>
              </a:spcAft>
              <a:buClr>
                <a:srgbClr val="2556C4"/>
              </a:buClr>
              <a:buSzPts val="1200"/>
              <a:buFont typeface="Be Vietnam Pro"/>
              <a:buNone/>
            </a:pPr>
            <a:r>
              <a:rPr b="1" i="0" lang="en-US" sz="1100" u="none" cap="none" strike="noStrike">
                <a:solidFill>
                  <a:srgbClr val="2556C4"/>
                </a:solidFill>
                <a:latin typeface="Be Vietnam Pro"/>
                <a:ea typeface="Be Vietnam Pro"/>
                <a:cs typeface="Be Vietnam Pro"/>
                <a:sym typeface="Be Vietnam Pro"/>
              </a:rPr>
              <a:t>B · 03 — NĂNG LỰC TĂNG LÊN · NGUYỄN NGỌC ANH</a:t>
            </a:r>
            <a:endParaRPr b="0" i="0" sz="1200" u="none" cap="none" strike="noStrike">
              <a:solidFill>
                <a:schemeClr val="dk1"/>
              </a:solidFill>
              <a:latin typeface="Calibri"/>
              <a:ea typeface="Calibri"/>
              <a:cs typeface="Calibri"/>
              <a:sym typeface="Calibri"/>
            </a:endParaRPr>
          </a:p>
        </p:txBody>
      </p:sp>
      <p:sp>
        <p:nvSpPr>
          <p:cNvPr id="422" name="Google Shape;422;p19"/>
          <p:cNvSpPr/>
          <p:nvPr/>
        </p:nvSpPr>
        <p:spPr>
          <a:xfrm>
            <a:off x="812800" y="1102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2263A"/>
              </a:buClr>
              <a:buSzPts val="3200"/>
              <a:buFont typeface="Be Vietnam Pro"/>
              <a:buNone/>
            </a:pPr>
            <a:r>
              <a:rPr b="1" i="0" lang="en-US" sz="3200" u="none" cap="none" strike="noStrike">
                <a:solidFill>
                  <a:srgbClr val="12263A"/>
                </a:solidFill>
                <a:latin typeface="Be Vietnam Pro"/>
                <a:ea typeface="Be Vietnam Pro"/>
                <a:cs typeface="Be Vietnam Pro"/>
                <a:sym typeface="Be Vietnam Pro"/>
              </a:rPr>
              <a:t>Năng lực trước và sau kỳ thực tập</a:t>
            </a:r>
            <a:endParaRPr b="0" i="0" sz="3200" u="none" cap="none" strike="noStrike">
              <a:solidFill>
                <a:schemeClr val="dk1"/>
              </a:solidFill>
              <a:latin typeface="Calibri"/>
              <a:ea typeface="Calibri"/>
              <a:cs typeface="Calibri"/>
              <a:sym typeface="Calibri"/>
            </a:endParaRPr>
          </a:p>
        </p:txBody>
      </p:sp>
      <p:sp>
        <p:nvSpPr>
          <p:cNvPr id="423" name="Google Shape;423;p19"/>
          <p:cNvSpPr/>
          <p:nvPr/>
        </p:nvSpPr>
        <p:spPr>
          <a:xfrm>
            <a:off x="812800" y="1803350"/>
            <a:ext cx="10566400" cy="2015133"/>
          </a:xfrm>
          <a:prstGeom prst="rect">
            <a:avLst/>
          </a:prstGeom>
          <a:solidFill>
            <a:srgbClr val="FD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19"/>
          <p:cNvCxnSpPr/>
          <p:nvPr/>
        </p:nvCxnSpPr>
        <p:spPr>
          <a:xfrm>
            <a:off x="11376025" y="1803350"/>
            <a:ext cx="0" cy="2015133"/>
          </a:xfrm>
          <a:prstGeom prst="straightConnector1">
            <a:avLst/>
          </a:prstGeom>
          <a:noFill/>
          <a:ln cap="flat" cmpd="sng" w="9525">
            <a:solidFill>
              <a:srgbClr val="DDE1DC"/>
            </a:solidFill>
            <a:prstDash val="solid"/>
            <a:round/>
            <a:headEnd len="sm" w="sm" type="none"/>
            <a:tailEnd len="sm" w="sm" type="none"/>
          </a:ln>
        </p:spPr>
      </p:cxnSp>
      <p:cxnSp>
        <p:nvCxnSpPr>
          <p:cNvPr id="425" name="Google Shape;425;p19"/>
          <p:cNvCxnSpPr/>
          <p:nvPr/>
        </p:nvCxnSpPr>
        <p:spPr>
          <a:xfrm>
            <a:off x="812800" y="3815308"/>
            <a:ext cx="10566400" cy="0"/>
          </a:xfrm>
          <a:prstGeom prst="straightConnector1">
            <a:avLst/>
          </a:prstGeom>
          <a:noFill/>
          <a:ln cap="flat" cmpd="sng" w="9525">
            <a:solidFill>
              <a:srgbClr val="DDE1DC"/>
            </a:solidFill>
            <a:prstDash val="solid"/>
            <a:round/>
            <a:headEnd len="sm" w="sm" type="none"/>
            <a:tailEnd len="sm" w="sm" type="none"/>
          </a:ln>
        </p:spPr>
      </p:cxnSp>
      <p:graphicFrame>
        <p:nvGraphicFramePr>
          <p:cNvPr id="426" name="Google Shape;426;p19"/>
          <p:cNvGraphicFramePr/>
          <p:nvPr/>
        </p:nvGraphicFramePr>
        <p:xfrm>
          <a:off x="825500" y="1816050"/>
          <a:ext cx="10547350" cy="1874520"/>
        </p:xfrm>
        <a:graphic>
          <a:graphicData uri="http://schemas.openxmlformats.org/drawingml/2006/table">
            <a:tbl>
              <a:tblPr>
                <a:noFill/>
                <a:tableStyleId>{A582B03F-E1A5-4E7F-97B6-85D91BCEE78B}</a:tableStyleId>
              </a:tblPr>
              <a:tblGrid>
                <a:gridCol w="4008000"/>
                <a:gridCol w="1476625"/>
                <a:gridCol w="1476625"/>
                <a:gridCol w="3586100"/>
              </a:tblGrid>
              <a:tr h="411480">
                <a:tc>
                  <a:txBody>
                    <a:bodyPr/>
                    <a:lstStyle/>
                    <a:p>
                      <a:pPr>
                        <a:lnSpc>
                          <a:spcPct val="105000"/>
                        </a:lnSpc>
                        <a:spcBef>
                          <a:spcPts val="0"/>
                        </a:spcBef>
                        <a:spcAft>
                          <a:spcPts val="0"/>
                        </a:spcAft>
                      </a:pPr>
                      <a:r>
                        <a:rPr sz="1000" b="1">
                          <a:solidFill>
                            <a:srgbClr val="FFFFFF"/>
                          </a:solidFill>
                          <a:latin typeface="Be Vietnam Pro"/>
                        </a:rPr>
                        <a:t>Năng lực</a:t>
                      </a:r>
                    </a:p>
                  </a:txBody>
                  <a:tcPr marT="27432" marB="27432" marR="53350" marL="53350">
                    <a:lnL cap="flat" cmpd="sng" w="12700">
                      <a:solidFill>
                        <a:srgbClr val="CACAC8"/>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Trước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Sau (1–5)</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c>
                  <a:txBody>
                    <a:bodyPr/>
                    <a:lstStyle/>
                    <a:p>
                      <a:pPr>
                        <a:lnSpc>
                          <a:spcPct val="105000"/>
                        </a:lnSpc>
                        <a:spcBef>
                          <a:spcPts val="0"/>
                        </a:spcBef>
                        <a:spcAft>
                          <a:spcPts val="0"/>
                        </a:spcAft>
                      </a:pPr>
                      <a:r>
                        <a:rPr sz="1000" b="1">
                          <a:solidFill>
                            <a:srgbClr val="FFFFFF"/>
                          </a:solidFill>
                          <a:latin typeface="Be Vietnam Pro"/>
                        </a:rPr>
                        <a:t>Minh chứng</a:t>
                      </a:r>
                    </a:p>
                  </a:txBody>
                  <a:tcPr marT="27432" marB="27432" marR="53350" marL="53350">
                    <a:lnL cap="flat" cmpd="sng" w="12700">
                      <a:solidFill>
                        <a:srgbClr val="122231"/>
                      </a:solidFill>
                      <a:prstDash val="solid"/>
                      <a:round/>
                      <a:headEnd len="sm" w="sm" type="none"/>
                      <a:tailEnd len="sm" w="sm" type="none"/>
                    </a:lnL>
                    <a:lnR cap="flat" cmpd="sng" w="12700">
                      <a:solidFill>
                        <a:srgbClr val="122231"/>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122231"/>
                      </a:solidFill>
                      <a:prstDash val="solid"/>
                      <a:round/>
                      <a:headEnd len="sm" w="sm" type="none"/>
                      <a:tailEnd len="sm" w="sm" type="none"/>
                    </a:lnB>
                    <a:solidFill>
                      <a:srgbClr val="12263A"/>
                    </a:solidFill>
                  </a:tcPr>
                </a:tc>
              </a:tr>
              <a:tr h="292608">
                <a:tc>
                  <a:txBody>
                    <a:bodyPr/>
                    <a:lstStyle/>
                    <a:p>
                      <a:pPr>
                        <a:lnSpc>
                          <a:spcPct val="105000"/>
                        </a:lnSpc>
                        <a:spcBef>
                          <a:spcPts val="0"/>
                        </a:spcBef>
                        <a:spcAft>
                          <a:spcPts val="0"/>
                        </a:spcAft>
                      </a:pPr>
                      <a:r>
                        <a:rPr sz="1100" b="0">
                          <a:solidFill>
                            <a:srgbClr val="142B3D"/>
                          </a:solidFill>
                          <a:latin typeface="Be Vietnam Pro"/>
                        </a:rPr>
                        <a:t>React / UI / tích hợp</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122231"/>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Xác thực / nghiệp vụ / kiểm thử</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Git và Jira</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Giao tiếp và làm việc nhóm</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r h="292608">
                <a:tc>
                  <a:txBody>
                    <a:bodyPr/>
                    <a:lstStyle/>
                    <a:p>
                      <a:pPr>
                        <a:lnSpc>
                          <a:spcPct val="105000"/>
                        </a:lnSpc>
                        <a:spcBef>
                          <a:spcPts val="0"/>
                        </a:spcBef>
                        <a:spcAft>
                          <a:spcPts val="0"/>
                        </a:spcAft>
                      </a:pPr>
                      <a:r>
                        <a:rPr sz="1100" b="0">
                          <a:solidFill>
                            <a:srgbClr val="142B3D"/>
                          </a:solidFill>
                          <a:latin typeface="Be Vietnam Pro"/>
                        </a:rPr>
                        <a:t>Tài liệu / demo / bàn giao</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Tự đánh giá</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c>
                  <a:txBody>
                    <a:bodyPr/>
                    <a:lstStyle/>
                    <a:p>
                      <a:pPr>
                        <a:lnSpc>
                          <a:spcPct val="105000"/>
                        </a:lnSpc>
                        <a:spcBef>
                          <a:spcPts val="0"/>
                        </a:spcBef>
                        <a:spcAft>
                          <a:spcPts val="0"/>
                        </a:spcAft>
                      </a:pPr>
                      <a:r>
                        <a:rPr sz="1100" b="0">
                          <a:solidFill>
                            <a:srgbClr val="142B3D"/>
                          </a:solidFill>
                          <a:latin typeface="Be Vietnam Pro"/>
                        </a:rPr>
                        <a:t>Cần ticket / PR / ví dụ thực tế</a:t>
                      </a:r>
                    </a:p>
                  </a:txBody>
                  <a:tcPr marT="27432" marB="27432" marR="53350" marL="53350">
                    <a:lnL cap="flat" cmpd="sng" w="12700">
                      <a:solidFill>
                        <a:srgbClr val="CACAC8"/>
                      </a:solidFill>
                      <a:prstDash val="solid"/>
                      <a:round/>
                      <a:headEnd len="sm" w="sm" type="none"/>
                      <a:tailEnd len="sm" w="sm" type="none"/>
                    </a:lnL>
                    <a:lnR cap="flat" cmpd="sng" w="12700">
                      <a:solidFill>
                        <a:srgbClr val="CACAC8"/>
                      </a:solidFill>
                      <a:prstDash val="solid"/>
                      <a:round/>
                      <a:headEnd len="sm" w="sm" type="none"/>
                      <a:tailEnd len="sm" w="sm" type="none"/>
                    </a:lnR>
                    <a:lnT cap="flat" cmpd="sng" w="12700">
                      <a:solidFill>
                        <a:srgbClr val="CACAC8"/>
                      </a:solidFill>
                      <a:prstDash val="solid"/>
                      <a:round/>
                      <a:headEnd len="sm" w="sm" type="none"/>
                      <a:tailEnd len="sm" w="sm" type="none"/>
                    </a:lnT>
                    <a:lnB cap="flat" cmpd="sng" w="12700">
                      <a:solidFill>
                        <a:srgbClr val="CACAC8"/>
                      </a:solidFill>
                      <a:prstDash val="solid"/>
                      <a:round/>
                      <a:headEnd len="sm" w="sm" type="none"/>
                      <a:tailEnd len="sm" w="sm" type="none"/>
                    </a:lnB>
                  </a:tcPr>
                </a:tc>
              </a:tr>
            </a:tbl>
          </a:graphicData>
        </a:graphic>
      </p:graphicFrame>
      <p:sp>
        <p:nvSpPr>
          <p:cNvPr id="427" name="Google Shape;427;p19"/>
          <p:cNvSpPr/>
          <p:nvPr/>
        </p:nvSpPr>
        <p:spPr>
          <a:xfrm>
            <a:off x="8159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0223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Nhận xét từ mentor / code review</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10223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nhận xét thật, người nhận xét và ngày.</a:t>
            </a:r>
            <a:endParaRPr b="0" i="0" sz="1400" u="none" cap="none" strike="noStrike">
              <a:solidFill>
                <a:schemeClr val="dk1"/>
              </a:solidFill>
              <a:latin typeface="Calibri"/>
              <a:ea typeface="Calibri"/>
              <a:cs typeface="Calibri"/>
              <a:sym typeface="Calibri"/>
            </a:endParaRPr>
          </a:p>
        </p:txBody>
      </p:sp>
      <p:sp>
        <p:nvSpPr>
          <p:cNvPr id="430" name="Google Shape;430;p19"/>
          <p:cNvSpPr/>
          <p:nvPr/>
        </p:nvSpPr>
        <p:spPr>
          <a:xfrm>
            <a:off x="6175375" y="4075658"/>
            <a:ext cx="5200650" cy="1763167"/>
          </a:xfrm>
          <a:prstGeom prst="roundRect">
            <a:avLst>
              <a:gd fmla="val 5582" name="adj"/>
            </a:avLst>
          </a:prstGeom>
          <a:solidFill>
            <a:srgbClr val="FDFDFB"/>
          </a:solidFill>
          <a:ln cap="flat" cmpd="sng" w="9525">
            <a:solidFill>
              <a:srgbClr val="DDE1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381750" y="4256633"/>
            <a:ext cx="4931537"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2263A"/>
              </a:buClr>
              <a:buSzPts val="1800"/>
              <a:buFont typeface="Be Vietnam Pro"/>
              <a:buNone/>
            </a:pPr>
            <a:r>
              <a:rPr b="1" i="0" lang="en-US" sz="1800" u="none" cap="none" strike="noStrike">
                <a:solidFill>
                  <a:srgbClr val="12263A"/>
                </a:solidFill>
                <a:latin typeface="Be Vietnam Pro"/>
                <a:ea typeface="Be Vietnam Pro"/>
                <a:cs typeface="Be Vietnam Pro"/>
                <a:sym typeface="Be Vietnam Pro"/>
              </a:rPr>
              <a:t>Tiếp tục cải thiện</a:t>
            </a:r>
            <a:endParaRPr b="0" i="0" sz="1800" u="none" cap="none" strike="noStrike">
              <a:solidFill>
                <a:schemeClr val="dk1"/>
              </a:solidFill>
              <a:latin typeface="Calibri"/>
              <a:ea typeface="Calibri"/>
              <a:cs typeface="Calibri"/>
              <a:sym typeface="Calibri"/>
            </a:endParaRPr>
          </a:p>
        </p:txBody>
      </p:sp>
      <p:sp>
        <p:nvSpPr>
          <p:cNvPr id="432" name="Google Shape;432;p19"/>
          <p:cNvSpPr/>
          <p:nvPr/>
        </p:nvSpPr>
        <p:spPr>
          <a:xfrm>
            <a:off x="6381750" y="4607123"/>
            <a:ext cx="4931537" cy="27429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12000"/>
              </a:lnSpc>
              <a:spcBef>
                <a:spcPts val="0"/>
              </a:spcBef>
              <a:spcAft>
                <a:spcPts val="200"/>
              </a:spcAft>
              <a:buClr>
                <a:srgbClr val="3F4A57"/>
              </a:buClr>
              <a:buSzPts val="1400"/>
              <a:buFont typeface="Be Vietnam Pro"/>
              <a:buNone/>
            </a:pPr>
            <a:pPr indent="0" lvl="0" marL="0" marR="0" rtl="0" algn="l">
              <a:lnSpc>
                <a:spcPct val="140000"/>
              </a:lnSpc>
              <a:spcBef>
                <a:spcPts val="0"/>
              </a:spcBef>
              <a:spcAft>
                <a:spcPts val="0"/>
              </a:spcAft>
              <a:buClr>
                <a:srgbClr val="3F4A57"/>
              </a:buClr>
              <a:buSzPts val="1400"/>
              <a:buFont typeface="Be Vietnam Pro"/>
              <a:buNone/>
            </a:pPr>
            <a:r>
              <a:rPr b="0" i="0" lang="en-US" sz="1200" u="none" cap="none" strike="noStrike">
                <a:solidFill>
                  <a:srgbClr val="C17B10"/>
                </a:solidFill>
                <a:latin typeface="Be Vietnam Pro"/>
                <a:ea typeface="Be Vietnam Pro"/>
                <a:cs typeface="Be Vietnam Pro"/>
                <a:sym typeface="Be Vietnam Pro"/>
              </a:rPr>
              <a:t>Cần cá nhân nêu 1–2 điểm muốn phát triển.</a:t>
            </a:r>
            <a:endParaRPr b="0" i="0" sz="1400" u="none" cap="none" strike="noStrike">
              <a:solidFill>
                <a:schemeClr val="dk1"/>
              </a:solidFill>
              <a:latin typeface="Calibri"/>
              <a:ea typeface="Calibri"/>
              <a:cs typeface="Calibri"/>
              <a:sym typeface="Calibri"/>
            </a:endParaRPr>
          </a:p>
        </p:txBody>
      </p:sp>
      <p:sp>
        <p:nvSpPr>
          <p:cNvPr id="433" name="Google Shape;433;p19"/>
          <p:cNvSpPr/>
          <p:nvPr/>
        </p:nvSpPr>
        <p:spPr>
          <a:xfrm>
            <a:off x="812800" y="6238280"/>
            <a:ext cx="3008732" cy="23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200"/>
              </a:spcAft>
              <a:buClr>
                <a:srgbClr val="5A6573"/>
              </a:buClr>
              <a:buSzPts val="1200"/>
              <a:buFont typeface="Be Vietnam Pro"/>
              <a:buNone/>
            </a:pPr>
            <a:pPr indent="0" lvl="0" marL="0" marR="0" rtl="0" algn="l">
              <a:lnSpc>
                <a:spcPct val="140000"/>
              </a:lnSpc>
              <a:spcBef>
                <a:spcPts val="0"/>
              </a:spcBef>
              <a:spcAft>
                <a:spcPts val="0"/>
              </a:spcAft>
              <a:buClr>
                <a:srgbClr val="5A6573"/>
              </a:buClr>
              <a:buSzPts val="1200"/>
              <a:buFont typeface="Be Vietnam Pro"/>
              <a:buNone/>
            </a:pPr>
            <a:r>
              <a:rPr b="0" i="0" lang="en-US" sz="1100" u="none" cap="none" strike="noStrike">
                <a:solidFill>
                  <a:srgbClr val="5A6573"/>
                </a:solidFill>
                <a:latin typeface="Be Vietnam Pro"/>
                <a:ea typeface="Be Vietnam Pro"/>
                <a:cs typeface="Be Vietnam Pro"/>
                <a:sym typeface="Be Vietnam Pro"/>
              </a:rPr>
              <a:t>Enterprise CRM · TTCS_N1 · Sprint 1–4</a:t>
            </a:r>
            <a:endParaRPr b="0" i="0" sz="1200" u="none" cap="none" strike="noStrike">
              <a:solidFill>
                <a:schemeClr val="dk1"/>
              </a:solidFill>
              <a:latin typeface="Calibri"/>
              <a:ea typeface="Calibri"/>
              <a:cs typeface="Calibri"/>
              <a:sym typeface="Calibri"/>
            </a:endParaRPr>
          </a:p>
        </p:txBody>
      </p:sp>
      <p:sp>
        <p:nvSpPr>
          <p:cNvPr id="434" name="Google Shape;434;p19"/>
          <p:cNvSpPr/>
          <p:nvPr/>
        </p:nvSpPr>
        <p:spPr>
          <a:xfrm>
            <a:off x="9305627" y="6238280"/>
            <a:ext cx="21357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6573"/>
              </a:buClr>
              <a:buSzPts val="1200"/>
              <a:buFont typeface="Be Vietnam Pro"/>
              <a:buNone/>
            </a:pPr>
            <a:r>
              <a:rPr b="0" i="0" lang="en-US" sz="1200" u="none" cap="none" strike="noStrike">
                <a:solidFill>
                  <a:srgbClr val="5A6573"/>
                </a:solidFill>
                <a:latin typeface="Be Vietnam Pro"/>
                <a:ea typeface="Be Vietnam Pro"/>
                <a:cs typeface="Be Vietnam Pro"/>
                <a:sym typeface="Be Vietnam Pro"/>
              </a:rPr>
              <a:t>Phần B — Đóng góp cá nhân</a:t>
            </a:r>
            <a:endParaRPr b="0" i="0" sz="1200" u="none" cap="none" strike="noStrike">
              <a:solidFill>
                <a:schemeClr val="dk1"/>
              </a:solidFill>
              <a:latin typeface="Calibri"/>
              <a:ea typeface="Calibri"/>
              <a:cs typeface="Calibri"/>
              <a:sym typeface="Calibri"/>
            </a:endParaRPr>
          </a:p>
        </p:txBody>
      </p:sp>
      <p:pic>
        <p:nvPicPr>
          <p:cNvPr descr="Logo Trường Đại học Công nghệ Thông tin và Truyền thông (ICTU)" id="435" name="Google Shape;435;p19"/>
          <p:cNvPicPr preferRelativeResize="0"/>
          <p:nvPr/>
        </p:nvPicPr>
        <p:blipFill rotWithShape="1">
          <a:blip r:embed="rId2">
            <a:alphaModFix/>
          </a:blip>
          <a:srcRect b="0" l="0" r="0" t="0"/>
          <a:stretch/>
        </p:blipFill>
        <p:spPr>
          <a:xfrm>
            <a:off x="4778375" y="203200"/>
            <a:ext cx="406400" cy="406400"/>
          </a:xfrm>
          <a:prstGeom prst="rect">
            <a:avLst/>
          </a:prstGeom>
          <a:noFill/>
          <a:ln>
            <a:noFill/>
          </a:ln>
        </p:spPr>
      </p:pic>
      <p:pic>
        <p:nvPicPr>
          <p:cNvPr descr="Logo CodeGym" id="436" name="Google Shape;436;p19"/>
          <p:cNvPicPr preferRelativeResize="0"/>
          <p:nvPr/>
        </p:nvPicPr>
        <p:blipFill rotWithShape="1">
          <a:blip r:embed="rId3">
            <a:alphaModFix/>
          </a:blip>
          <a:srcRect b="-50" l="0" r="0" t="-50"/>
          <a:stretch/>
        </p:blipFill>
        <p:spPr>
          <a:xfrm>
            <a:off x="5438775" y="203200"/>
            <a:ext cx="1974850" cy="406400"/>
          </a:xfrm>
          <a:prstGeom prst="rect">
            <a:avLst/>
          </a:prstGeom>
          <a:noFill/>
          <a:ln>
            <a:noFill/>
          </a:ln>
        </p:spPr>
      </p:pic>
      <p:sp>
        <p:nvSpPr>
          <p:cNvPr id="437" name="TextBox 436"/>
          <p:cNvSpPr txBox="1"/>
          <p:nvPr/>
        </p:nvSpPr>
        <p:spPr>
          <a:xfrm>
            <a:off x="9692640" y="256032"/>
            <a:ext cx="2148840" cy="228600"/>
          </a:xfrm>
          <a:prstGeom prst="rect">
            <a:avLst/>
          </a:prstGeom>
          <a:noFill/>
        </p:spPr>
        <p:txBody>
          <a:bodyPr wrap="square" lIns="0" rIns="0" tIns="0" bIns="0">
            <a:spAutoFit/>
          </a:bodyPr>
          <a:lstStyle/>
          <a:p>
            <a:r>
              <a:rPr sz="800" b="0">
                <a:solidFill>
                  <a:srgbClr val="C17B10"/>
                </a:solidFill>
                <a:latin typeface="Be Vietnam Pro"/>
              </a:rPr>
              <a:t>DỰ THẢO · CHỜ MINH CHỨNG</a:t>
            </a:r>
          </a:p>
        </p:txBody>
      </p:sp>
      <p:sp>
        <p:nvSpPr>
          <p:cNvPr id="438" name="TextBox 437"/>
          <p:cNvSpPr txBox="1"/>
          <p:nvPr/>
        </p:nvSpPr>
        <p:spPr>
          <a:xfrm>
            <a:off x="11475720" y="6245352"/>
            <a:ext cx="320040" cy="182880"/>
          </a:xfrm>
          <a:prstGeom prst="rect">
            <a:avLst/>
          </a:prstGeom>
          <a:noFill/>
        </p:spPr>
        <p:txBody>
          <a:bodyPr wrap="square" lIns="0" rIns="0" tIns="0" bIns="0">
            <a:spAutoFit/>
          </a:bodyPr>
          <a:lstStyle/>
          <a:p>
            <a:r>
              <a:rPr sz="800" b="0">
                <a:solidFill>
                  <a:srgbClr val="6A7681"/>
                </a:solidFill>
                <a:latin typeface="Be Vietnam Pro"/>
              </a:rPr>
              <a:t>46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Enterprise CRM — Tổng kết thực tập Sprint 1–4 (theo template)</dc:title>
  <cp:lastModifiedBy>python-pptx</cp:lastModifiedBy>
  <cp:revision>1</cp:revision>
  <dcterms:modified xsi:type="dcterms:W3CDTF">2026-10-21T04:25:49Z</dcterms:modified>
  <dc:creator>TTCS_N1</dc:creator>
  <dc:subject>Dự thảo theo template ICTU / CodeGym; thiếu minh chứng cần bổ sung</dc:subject>
</cp:coreProperties>
</file>