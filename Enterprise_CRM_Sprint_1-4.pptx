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đầu: Nhóm trình bày hệ thống Enterprise CRM trong phạm vi bốn sprint đầu. Câu chuyện xuyên suốt là tạo nền tảng truy cập an toàn, chuẩn hóa dữ liệu rồi hỗ trợ đội ngũ tiếp nhận và xử lý lead. Tài liệu tổng hợp yêu cầu, ảnh giao diện và kết quả đã ghi nhận. Trạng thái Jira lấy từ snapshot 18/10/2026, không phải trạng thái live ngày thuyết trình. Thời lượng gợi ý: 15–20 phút nội dung chính, phần phụ lục dùng khi trả lời câu hỏi.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Giải thích bài toán bằng ví dụ: cùng một doanh nghiệp được hai nhân viên lưu riêng, người quản lý không biết ai đang phụ trách. Khi lead từ website đến, việc giao cho nhân viên chậm sẽ làm mất cơ hội. Hệ thống được thiết kế để giảm phân mảnh, kiểm soát quyền và tạo trách nhiệm xử lý rõ ràng. Đây là mục tiêu nghiệp vụ, chưa phải số liệu đo mức tăng doanh thu sau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con số lấy từ sheet Sprint Plan của file HỆ THỐNG QUẢN LÝ KHÁCH HÀNG.xlsx. Cộng bốn sprint là 38 story và 172 point. Point là ước lượng của kế hoạch, không quy đổi thành tỷ lệ hoàn thành và không dùng để khẳng định năng suất thực. Một số mã story giữa backlog và Jira đã thay đổi, vì vậy bài trình bày nhóm theo chức năng; phụ lục chỉ ra chênh lệch cần đối chiếu.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bảy vai trò trong tài liệu yêu cầu: Sales Rep, Team Lead, Director, Marketing, Customer Success, Accountant và Admin. Không khẳng định mọi vai trò vận hành đều có quyền đọc toàn bộ dữ liệu; quyền thực lấy từ ma trận phân quyền. Cần kiểm tra cả module, hành động và phạm vi sở hữu. Quyền được thực thi phía server, không chỉ ẩn menu ở frontend.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lấy từ repository CRM chính: React 19, Ant Design 6, Node/Express, mysql2 và MySQL; Nodemailer cho mail, ExcelJS cho workbook. Worker xử lý tác vụ nền. Đăng nhập/biểu mẫu công khai là ngoại lệ của nhóm API nội bộ. Các bản mẫu quên mật khẩu và nhập người dùng gần đây là dự án độc lập dùng JSON, không được nhầm với DB MySQL của CRM chính.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Trình bày theo ba nhóm chức năng thay vì đọc mười story. Kịch bản cốt lõi là đăng nhập bằng hai nhân viên khác nhau rồi truy cập bản ghi ngoài phạm vi, kể cả thử API trực tiếp. Danh sách, tìm kiếm và xuất Excel cũng phải áp dụng phạm vi. Trạng thái Jira của login và forgot password trong snapshot còn In Progress; chức năng chạy được không tự động thay đổi trạng thái nghiệm thu.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màn hình đăng nhập đang có trong CRM. Các nút tài khoản theo vai trò là tiện ích test, không thay thế cơ chế xác thực. Ảnh là bằng chứng giao diện, không phải log nghiệm thu từng AC. Đăng ký OTP là mở rộng đã làm sau đó, không dùng để tính thêm story trong kế hoạch Sprint 1. Không đưa mật khẩu SMTP hoặc tài khoản cá nhân lên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Nếu được hỏi RBAC là gì, trả lời đó là phân quyền theo vai trò. Hệ thống còn bổ sung phạm vi dữ liệu để người có cùng chức năng không nhìn thấy dữ liệu của nhau. Ví dụ Sales Rep A và B đều dùng mục khách hàng nhưng danh sách được lọc theo người sở hữu. Truy vấn chi tiết, xuất file và quan hệ liên quan cũng phải kiểm tra cùng phạm vi; không chỉ lọc trên UI.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biệt hai cách kiểm tra mail. Bản mẫu mặc định MAIL_MODE=file chỉ ghi email ra outbox; muốn nhận Gmail phải chọn smtp, seed đúng email nhận rồi restart backend. Trong CRM, mail đi qua hàng đợi và cấu hình SMTP riêng. Một SMTP response thành công chưa chứng minh người nhận thấy mail. Thay đổi khóa login 15 giây là yêu cầu của người dùng để test nhanh, khác AC gốc 15 phút; phải ghi nhận thay đổi yêu cầu trước nghiệm thu, không nói hai cấu hình giống nhau.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Sprint 2 là nền cấu hình cho các sprint sau: nguồn lead phục vụ Sprint 4, cây nhóm phục vụ quyền TEAM, giai đoạn phục vụ cơ hội và dự báo. Theo snapshot Jira, 10 story chính S2 đều Done. Tuy nhiên N1-125/S2-02 trên Jira đang mô tả liên hệ thay vì hồ sơ cá nhân như backlog gốc, cần đối chiếu nội dung, không suy ra tất cả AC hồ sơ đã nghiệm thu chỉ từ mã Done.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Giải thích vì sao cây tổ chức không chỉ để hiển thị đẹp: nó xác định nhân sự và phạm vi dữ liệu của người quản lý. Bản UI đã được sửa để giữ căn lề, biểu tượng và thao tác theo cấp. Sơ đồ trong slide là hình vẽ minh họa có thể chỉnh sửa bằng PowerPoint; không dùng để tuyên bố đây là cơ cấu nhân sự thật của nhóm dự án.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task N1-279 vừa làm độc lập, có subtask N1-287 Backend và N1-288 Frontend. Ảnh test có 2 dòng hợp lệ và 4 dòng lỗi. Xem trước không ghi DB, xác nhận mới lưu; backend kiểm tra lại chống nhập trùng. Bản mẫu dùng JSON, cổng 5057, .xlsx tối đa 2 MB/1.000 dòng; không gửi email và không có auth Admin. CRM chính dùng MySQL, cơ chế import và giới hạn riêng; không đồng nhất hai cấu hình. Demo riêng này minh họa ba AC nhập người dùng của kế hoạch Sprint 2, không tự cập nhật trạng thái Jira mới.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Ảnh là giao diện khách hàng thật từ repository, dữ liệu dùng cho test. Trình bày các thao tác tạo/sửa hồ sơ, thêm người liên hệ và tìm kiếm theo điều kiện. Mã số thuế nếu có cần duy nhất. Mục tiêu không phải chỉ lưu thông tin công ty mà còn duy trì người phụ trách, hoạt động và các quan hệ để hỗ trợ quyết định bán hàng. Sprint 3 có 3 story Done và 6 In Progress trong snapshot.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Khái niệm 360 là tập hợp nhiều đối tượng liên quan quanh một khách hàng. KPI giá trị đã ký cần bám dữ liệu Won hoặc hợp đồng theo định nghĩa hệ thống; giá trị cơ hội mở không phải doanh thu đã ghi nhận. Công ty mẹ có thể tổng hợp giá trị các công ty con nhưng vẫn phải tôn trọng phạm vi dữ liệu. Không tuyên bố đã đạt mốc 1,5 giây/500 hoạt động nếu chưa có benchmark tương ứng cho bản đang review.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Giải thích sự khác nhau giữa phát hiện gần trùng và nhập trùng hoàn toàn: gần trùng cần xem xét để gộp, còn bản ghi giống hệt khi import cần báo không hợp lệ. Với gộp khách hàng, phải giữ liên hệ, cơ hội, hoạt động và tệp theo triển khai, đồng thời bảo vệ quan hệ mẹ/con và quyền sở hữu. Ví dụ trong slide là sơ đồ nghiệp vụ, không phải một lần gộp dữ liệu thật. Trạng thái parent story gộp trên snapshot còn In Progress.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tắt chín US Sprint 4: webform, manual/Excel, chiến dịch, trùng/gộp, chấm điểm, phân bổ, SLA, chuyển đổi và bộ lọc. Webform cần đúng nguồn và chống spam; import phải có nguồn. Chuyển đổi cần thực hiện đồng bộ để không tạo khách hàng nhưng thiếu contact/cơ hội. Tại snapshot 18/10 toàn bộ 46 issue S4, gồm 9 story và 37 subtask, vẫn To Do; không giới thiệu đây là sprint đã Done.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câu hỏi người dùng đã gặp khi không sửa được cột điểm. Theo AC S4-05, người quản lý sửa quy tắc, trọng số và ngưỡng phân loại; điểm của từng lead là kết quả tự tính. Sửa trực tiếp điểm sẽ làm lệch quy tắc và khó giải thích vì sao một lead được ưu tiên. Ví dụ 20+10+15+5=50 chỉ để minh họa, cần dùng giá trị cấu hình thật khi demo.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dùng thời gian mặc định trên bản dev để thay thế yêu cầu nghiệp vụ. Tài liệu audit từng ghi mặc định SLA 60 phút trong khi subtask Jira có nhắc 3 ngày; phải thống nhất cấu hình trước demo. SLA phản hồi khác với mục tiêu hoàn tất phân bổ trong 5 phút. Kết quả chức năng có thể pass nhưng chưa chứng minh giới hạn 5 phút dưới tải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Số liệu được tính trực tiếp từ file Jira_N1_cap_nhat_18-10-2026.xlsx, chỉ lấy story chính có nhãn S1 đến S4 và nội dung Là... Tất cả 199 issue của file có 135 Done, 9 In Progress, 55 To Do, nhưng đó là tập gồm cả epic/subtask, không dùng thay tỷ lệ 38 story. S4 có code/test đã ghi nhận không làm thay đổi bản export cũ. Cần xuất Jira mới hoặc xác nhận nghiệm thu để cập nhật slide tiến độ trước buổi báo cáo.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kiểm thử CRM: login-lock-full-mysql.log và login-lock-full-maria.log báo 121/121, 14 suite; ci-fixtures-full-browser.log báo 50 passed. Frontend workflow run 39185149415 đã Success tại commit e370c679. Bản mẫu N1-279 có 11 node:test và đã kiểm tra Chromium, không cộng vào 121 như cùng một suite. Audit Sprint 4 riêng báo 47/47 nhưng vẫn phát hiện lead MERGED còn được gợi ý trùng. Không dùng test count để khẳng định benchmark hoặc gửi thư đến mailbox thật.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Chuẩn bị trước DB test, tài khoản theo vai trò và file Excel chứa cả dòng đúng/sai. Đừng gửi mail tới địa chỉ ví dụ .test. Phần demo ưu tiên luồng đã kiểm tra; với S4 cần thống nhất cấu hình trước, lỗi gợi ý MERGED cần công khai nếu xuất hiện. Nếu dùng bản mẫu N1-279 cổng 5057 phải nói rõ đang chuyển sang demo độc lập, không nói đó là module đã tích hợp CRM. Không làm reset DB trong buổi demo trên dữ liệu thật.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lại bằng ba giá trị có thể giải thích được, không tuyên bố đã tăng doanh thu khi chưa có dữ liệu vận hành. Việc tiếp theo gồm xác nhận thay đổi login 15 giây, chốt các story còn In Progress/To Do, sửa lead MERGED còn gợi ý trùng, đo tốc độ 360 và thời gian phân bổ. Mời người nghe góp ý vào tiêu chí chấp nhận hoặc luồng sử dụng cụ thể. Các slide sau là phụ lục để trả lời câu hỏi.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Dẫn chứng lỗi S4-04 nằm trong reports/Sprint_4_audit_evidence.json: merged_lead_still_suggested=true, dù gộp HTTP 200 và giữ lịch sử A/B. Đây là trạng thái khi audit; chưa có bằng chứng sửa sau đó trong tài liệu dùng làm slide. Không đổi Jira thành Done hoặc ghi hoàn tất sau ngày snapshot nếu chưa có xác nhận. Những điểm này cần rà lại trên phiên bản đem demo, vì code và yêu cầu có thể đã thay đổi.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Danh sách nhóm dựa vào Jira và ảnh phân công trong trao đổi. Dùng tên Nguyễn Thùy Chang theo Jira, dù ảnh nhật ký mẫu trước đó có chỗ ghi Trang. Không suy ra mọi công việc của mỗi người đúng theo vai trò trong slide; assignment của từng issue và thực tế nhóm mới là nguồn chốt. Nhóm nên xác nhận lại tên và phần đóng góp trước khi nộp báo cáo.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Nếu hỏi vì sao chọn Sprint 3 để review: nó có câu chuyện khách hàng đầy đủ, nhưng cần chốt 6 story In Progress trong snapshot. Nếu chỉ chọn theo trạng thái Done đã ghi nhận, Sprint 2 an toàn hơn với 10/10 story chính Done, đồng thời vẫn phải kiểm tra nội dung S2-02 bị lệch giữa hai tài liệu. Nếu hỏi về bảo mật mật khẩu trong file Excel: file nguồn có mật khẩu tạm, cần giữ riêng; server băm khi lưu, không xuất mật khẩu trong báo cáo.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chi tiết được cung cấp trong file Nguon_va_ghi_chu.md cạnh PowerPoint. Không dùng trạng thái Chưa bắt đầu trong backlog gốc như trạng thái Jira hiện tại. Không coi Updated là ngày làm hoặc ngày xong. Code CRM kiểm thử login ở source 0fff42de; CI frontend thành công ở e370c679, workflow 39185149415. Demo import N1-279 nguồn b05296f, bản giao ZIP c7de1ee. Các ảnh được chọn không chứa .env hoặc mật khẩu SMTP. Cần cập nhật số liệu nếu nhóm cung cấp Jira mới.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D50"/>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3B5A5"/>
                </a:solidFill>
                <a:latin typeface="Arial"/>
              </a:defRPr>
            </a:pPr>
            <a:r>
              <a:t>BÁO CÁO DỰ ÁN</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FFFFFF"/>
                </a:solidFill>
                <a:latin typeface="Arial"/>
              </a:defRPr>
            </a:pPr>
            <a:r>
              <a:t>Enterprise CRM</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BED0E5"/>
                </a:solidFill>
                <a:latin typeface="Arial"/>
              </a:defRPr>
            </a:pPr>
            <a:r>
              <a:t>Báo cáo tổng hợp hệ thống · Sprint 1 đến Sprint 4</a:t>
            </a:r>
          </a:p>
        </p:txBody>
      </p:sp>
      <p:sp>
        <p:nvSpPr>
          <p:cNvPr id="6" name="Rectangle 5"/>
          <p:cNvSpPr/>
          <p:nvPr/>
        </p:nvSpPr>
        <p:spPr>
          <a:xfrm>
            <a:off x="612648" y="6419088"/>
            <a:ext cx="10927080" cy="10972"/>
          </a:xfrm>
          <a:prstGeom prst="rect">
            <a:avLst/>
          </a:prstGeom>
          <a:solidFill>
            <a:srgbClr val="36506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BED0E5"/>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BED0E5"/>
                </a:solidFill>
                <a:latin typeface="Arial"/>
              </a:defRPr>
            </a:pPr>
            <a:r>
              <a:t>01</a:t>
            </a:r>
          </a:p>
        </p:txBody>
      </p:sp>
      <p:sp>
        <p:nvSpPr>
          <p:cNvPr id="9" name="TextBox 8"/>
          <p:cNvSpPr txBox="1"/>
          <p:nvPr/>
        </p:nvSpPr>
        <p:spPr>
          <a:xfrm>
            <a:off x="713232" y="2331720"/>
            <a:ext cx="9875520" cy="1691640"/>
          </a:xfrm>
          <a:prstGeom prst="rect">
            <a:avLst/>
          </a:prstGeom>
          <a:noFill/>
        </p:spPr>
        <p:txBody>
          <a:bodyPr wrap="square" lIns="18288" rIns="18288" tIns="18288" bIns="18288">
            <a:spAutoFit/>
          </a:bodyPr>
          <a:lstStyle/>
          <a:p>
            <a:pPr>
              <a:spcAft>
                <a:spcPts val="800"/>
              </a:spcAft>
              <a:defRPr sz="4000" b="1">
                <a:solidFill>
                  <a:srgbClr val="FFFFFF"/>
                </a:solidFill>
                <a:latin typeface="Arial"/>
              </a:defRPr>
            </a:pPr>
            <a:r>
              <a:t>Hiểu khách hàng.</a:t>
            </a:r>
          </a:p>
          <a:p>
            <a:pPr>
              <a:spcAft>
                <a:spcPts val="800"/>
              </a:spcAft>
              <a:defRPr sz="4000" b="1">
                <a:solidFill>
                  <a:srgbClr val="FFFFFF"/>
                </a:solidFill>
                <a:latin typeface="Arial"/>
              </a:defRPr>
            </a:pPr>
            <a:r>
              <a:t>Kết nối đội ngũ bán hàng.</a:t>
            </a:r>
          </a:p>
        </p:txBody>
      </p:sp>
      <p:sp>
        <p:nvSpPr>
          <p:cNvPr id="10" name="TextBox 9"/>
          <p:cNvSpPr txBox="1"/>
          <p:nvPr/>
        </p:nvSpPr>
        <p:spPr>
          <a:xfrm>
            <a:off x="731520" y="4297680"/>
            <a:ext cx="9784080" cy="822960"/>
          </a:xfrm>
          <a:prstGeom prst="rect">
            <a:avLst/>
          </a:prstGeom>
          <a:noFill/>
        </p:spPr>
        <p:txBody>
          <a:bodyPr wrap="square" lIns="18288" rIns="18288" tIns="18288" bIns="18288">
            <a:spAutoFit/>
          </a:bodyPr>
          <a:lstStyle/>
          <a:p>
            <a:pPr>
              <a:spcAft>
                <a:spcPts val="800"/>
              </a:spcAft>
              <a:defRPr sz="2300" b="0">
                <a:solidFill>
                  <a:srgbClr val="C7D8EE"/>
                </a:solidFill>
                <a:latin typeface="Arial"/>
              </a:defRPr>
            </a:pPr>
            <a:r>
              <a:t>Từ tài khoản và phân quyền → dữ liệu khách hàng 360</a:t>
            </a:r>
          </a:p>
          <a:p>
            <a:pPr>
              <a:spcAft>
                <a:spcPts val="800"/>
              </a:spcAft>
              <a:defRPr sz="2300" b="0">
                <a:solidFill>
                  <a:srgbClr val="C7D8EE"/>
                </a:solidFill>
                <a:latin typeface="Arial"/>
              </a:defRPr>
            </a:pPr>
            <a:r>
              <a:t>→ tiếp nhận, chấm điểm và phân bổ lead.</a:t>
            </a:r>
          </a:p>
        </p:txBody>
      </p:sp>
      <p:sp>
        <p:nvSpPr>
          <p:cNvPr id="11" name="TextBox 10"/>
          <p:cNvSpPr txBox="1"/>
          <p:nvPr/>
        </p:nvSpPr>
        <p:spPr>
          <a:xfrm>
            <a:off x="731520" y="5687568"/>
            <a:ext cx="10058400" cy="384048"/>
          </a:xfrm>
          <a:prstGeom prst="rect">
            <a:avLst/>
          </a:prstGeom>
          <a:noFill/>
        </p:spPr>
        <p:txBody>
          <a:bodyPr wrap="square" lIns="18288" rIns="18288" tIns="18288" bIns="18288">
            <a:spAutoFit/>
          </a:bodyPr>
          <a:lstStyle/>
          <a:p>
            <a:pPr>
              <a:spcAft>
                <a:spcPts val="800"/>
              </a:spcAft>
              <a:defRPr sz="1500" b="0">
                <a:solidFill>
                  <a:srgbClr val="C7D8EE"/>
                </a:solidFill>
                <a:latin typeface="Arial"/>
              </a:defRPr>
            </a:pPr>
            <a:r>
              <a:t>Triệu Quang Dũng · Nhóm dự án N1     |     21.10.2026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TỔNG QUAN</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Bài toán: thông tin rời rạc, xử lý chậm</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Một khách hàng có thể nằm trong nhiều file, nhiều nhóm và nhiều cuộc trao đổi.</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02</a:t>
            </a:r>
          </a:p>
        </p:txBody>
      </p:sp>
      <p:sp>
        <p:nvSpPr>
          <p:cNvPr id="9" name="Rounded Rectangle 8"/>
          <p:cNvSpPr/>
          <p:nvPr/>
        </p:nvSpPr>
        <p:spPr>
          <a:xfrm>
            <a:off x="621792" y="2148840"/>
            <a:ext cx="3520440" cy="333756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22960" y="232257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01 / DỮ LIỆU</a:t>
            </a:r>
          </a:p>
        </p:txBody>
      </p:sp>
      <p:sp>
        <p:nvSpPr>
          <p:cNvPr id="11" name="TextBox 10"/>
          <p:cNvSpPr txBox="1"/>
          <p:nvPr/>
        </p:nvSpPr>
        <p:spPr>
          <a:xfrm>
            <a:off x="822960" y="276148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Thiếu một hồ sơ chung</a:t>
            </a:r>
          </a:p>
        </p:txBody>
      </p:sp>
      <p:sp>
        <p:nvSpPr>
          <p:cNvPr id="12" name="TextBox 11"/>
          <p:cNvSpPr txBox="1"/>
          <p:nvPr/>
        </p:nvSpPr>
        <p:spPr>
          <a:xfrm>
            <a:off x="822960" y="3657600"/>
            <a:ext cx="3118104" cy="1709928"/>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Excel riêng lẻ, thông tin trùng.</a:t>
            </a:r>
          </a:p>
          <a:p>
            <a:pPr>
              <a:spcAft>
                <a:spcPts val="800"/>
              </a:spcAft>
              <a:defRPr sz="1700" b="0">
                <a:solidFill>
                  <a:srgbClr val="233B59"/>
                </a:solidFill>
                <a:latin typeface="Arial"/>
              </a:defRPr>
            </a:pPr>
            <a:r>
              <a:t>Khó nắm lịch sử liên hệ và nhu cầu.</a:t>
            </a:r>
          </a:p>
        </p:txBody>
      </p:sp>
      <p:sp>
        <p:nvSpPr>
          <p:cNvPr id="13" name="Rounded Rectangle 12"/>
          <p:cNvSpPr/>
          <p:nvPr/>
        </p:nvSpPr>
        <p:spPr>
          <a:xfrm>
            <a:off x="4334256" y="2148840"/>
            <a:ext cx="3520440" cy="333756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35424" y="232257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02 / PHẠM VI</a:t>
            </a:r>
          </a:p>
        </p:txBody>
      </p:sp>
      <p:sp>
        <p:nvSpPr>
          <p:cNvPr id="15" name="TextBox 14"/>
          <p:cNvSpPr txBox="1"/>
          <p:nvPr/>
        </p:nvSpPr>
        <p:spPr>
          <a:xfrm>
            <a:off x="4535424" y="276148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Khó kiểm soát quyền</a:t>
            </a:r>
          </a:p>
        </p:txBody>
      </p:sp>
      <p:sp>
        <p:nvSpPr>
          <p:cNvPr id="16" name="TextBox 15"/>
          <p:cNvSpPr txBox="1"/>
          <p:nvPr/>
        </p:nvSpPr>
        <p:spPr>
          <a:xfrm>
            <a:off x="4535424" y="3657600"/>
            <a:ext cx="3118104" cy="1709928"/>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Nhân viên, trưởng nhóm và giám đốc cần phạm vi xem khác nhau.</a:t>
            </a:r>
          </a:p>
        </p:txBody>
      </p:sp>
      <p:sp>
        <p:nvSpPr>
          <p:cNvPr id="17" name="Rounded Rectangle 16"/>
          <p:cNvSpPr/>
          <p:nvPr/>
        </p:nvSpPr>
        <p:spPr>
          <a:xfrm>
            <a:off x="8046720" y="2148840"/>
            <a:ext cx="3520440" cy="333756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47888" y="232257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03 / PHẢN HỒI</a:t>
            </a:r>
          </a:p>
        </p:txBody>
      </p:sp>
      <p:sp>
        <p:nvSpPr>
          <p:cNvPr id="19" name="TextBox 18"/>
          <p:cNvSpPr txBox="1"/>
          <p:nvPr/>
        </p:nvSpPr>
        <p:spPr>
          <a:xfrm>
            <a:off x="8247888" y="276148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Lead dễ bị bỏ quên</a:t>
            </a:r>
          </a:p>
        </p:txBody>
      </p:sp>
      <p:sp>
        <p:nvSpPr>
          <p:cNvPr id="20" name="TextBox 19"/>
          <p:cNvSpPr txBox="1"/>
          <p:nvPr/>
        </p:nvSpPr>
        <p:spPr>
          <a:xfrm>
            <a:off x="8247888" y="3657600"/>
            <a:ext cx="3118104" cy="1709928"/>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Phân bổ thủ công, ưu tiên chưa rõ, thiếu cảnh báo quá hạn.</a:t>
            </a:r>
          </a:p>
        </p:txBody>
      </p:sp>
      <p:sp>
        <p:nvSpPr>
          <p:cNvPr id="21" name="Rounded Rectangle 20"/>
          <p:cNvSpPr/>
          <p:nvPr/>
        </p:nvSpPr>
        <p:spPr>
          <a:xfrm>
            <a:off x="621792" y="5733288"/>
            <a:ext cx="10936224" cy="502920"/>
          </a:xfrm>
          <a:prstGeom prst="roundRect">
            <a:avLst>
              <a:gd name="adj" fmla="val 12000"/>
            </a:avLst>
          </a:prstGeom>
          <a:solidFill>
            <a:srgbClr val="EAF3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77240" y="5815583"/>
            <a:ext cx="10607040" cy="320040"/>
          </a:xfrm>
          <a:prstGeom prst="rect">
            <a:avLst/>
          </a:prstGeom>
          <a:noFill/>
        </p:spPr>
        <p:txBody>
          <a:bodyPr wrap="square" lIns="18288" rIns="18288" tIns="18288" bIns="18288">
            <a:spAutoFit/>
          </a:bodyPr>
          <a:lstStyle/>
          <a:p>
            <a:pPr>
              <a:spcAft>
                <a:spcPts val="800"/>
              </a:spcAft>
              <a:defRPr sz="1400" b="1">
                <a:solidFill>
                  <a:srgbClr val="1677FF"/>
                </a:solidFill>
                <a:latin typeface="Arial"/>
              </a:defRPr>
            </a:pPr>
            <a:r>
              <a:t>Giải pháp: một hệ thống chung với quyền rõ ràng, dữ liệu chuẩn và luồng xử lý lead.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TỔNG QUAN</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Lộ trình bốn sprint</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Theo kế hoạch gốc: 38 user story · 172 story point; đây là quy mô kế hoạch, không phải số đã nghiệm thu.</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03</a:t>
            </a:r>
          </a:p>
        </p:txBody>
      </p:sp>
      <p:sp>
        <p:nvSpPr>
          <p:cNvPr id="9" name="Rounded Rectangle 8"/>
          <p:cNvSpPr/>
          <p:nvPr/>
        </p:nvSpPr>
        <p:spPr>
          <a:xfrm>
            <a:off x="621792" y="2240280"/>
            <a:ext cx="2587752" cy="333756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04672" y="2432304"/>
            <a:ext cx="2194560" cy="502920"/>
          </a:xfrm>
          <a:prstGeom prst="rect">
            <a:avLst/>
          </a:prstGeom>
          <a:noFill/>
        </p:spPr>
        <p:txBody>
          <a:bodyPr wrap="square" lIns="18288" rIns="18288" tIns="18288" bIns="18288">
            <a:spAutoFit/>
          </a:bodyPr>
          <a:lstStyle/>
          <a:p>
            <a:pPr>
              <a:spcAft>
                <a:spcPts val="800"/>
              </a:spcAft>
              <a:defRPr sz="3000" b="1">
                <a:solidFill>
                  <a:srgbClr val="1677FF"/>
                </a:solidFill>
                <a:latin typeface="Arial"/>
              </a:defRPr>
            </a:pPr>
            <a:r>
              <a:t>01</a:t>
            </a:r>
          </a:p>
        </p:txBody>
      </p:sp>
      <p:sp>
        <p:nvSpPr>
          <p:cNvPr id="11" name="TextBox 10"/>
          <p:cNvSpPr txBox="1"/>
          <p:nvPr/>
        </p:nvSpPr>
        <p:spPr>
          <a:xfrm>
            <a:off x="804672" y="3246120"/>
            <a:ext cx="2194560" cy="1051560"/>
          </a:xfrm>
          <a:prstGeom prst="rect">
            <a:avLst/>
          </a:prstGeom>
          <a:noFill/>
        </p:spPr>
        <p:txBody>
          <a:bodyPr wrap="square" lIns="18288" rIns="18288" tIns="18288" bIns="18288">
            <a:spAutoFit/>
          </a:bodyPr>
          <a:lstStyle/>
          <a:p>
            <a:pPr>
              <a:spcAft>
                <a:spcPts val="800"/>
              </a:spcAft>
              <a:defRPr sz="2300" b="1">
                <a:solidFill>
                  <a:srgbClr val="132D50"/>
                </a:solidFill>
                <a:latin typeface="Arial"/>
              </a:defRPr>
            </a:pPr>
            <a:r>
              <a:t>Tài khoản</a:t>
            </a:r>
          </a:p>
          <a:p>
            <a:pPr>
              <a:spcAft>
                <a:spcPts val="800"/>
              </a:spcAft>
              <a:defRPr sz="2300" b="1">
                <a:solidFill>
                  <a:srgbClr val="132D50"/>
                </a:solidFill>
                <a:latin typeface="Arial"/>
              </a:defRPr>
            </a:pPr>
            <a:r>
              <a:t>&amp; phân quyền</a:t>
            </a:r>
          </a:p>
        </p:txBody>
      </p:sp>
      <p:sp>
        <p:nvSpPr>
          <p:cNvPr id="12" name="TextBox 11"/>
          <p:cNvSpPr txBox="1"/>
          <p:nvPr/>
        </p:nvSpPr>
        <p:spPr>
          <a:xfrm>
            <a:off x="804672" y="4727448"/>
            <a:ext cx="2194560" cy="502920"/>
          </a:xfrm>
          <a:prstGeom prst="rect">
            <a:avLst/>
          </a:prstGeom>
          <a:noFill/>
        </p:spPr>
        <p:txBody>
          <a:bodyPr wrap="square" lIns="18288" rIns="18288" tIns="18288" bIns="18288">
            <a:spAutoFit/>
          </a:bodyPr>
          <a:lstStyle/>
          <a:p>
            <a:pPr>
              <a:spcAft>
                <a:spcPts val="800"/>
              </a:spcAft>
              <a:defRPr sz="1600" b="0">
                <a:solidFill>
                  <a:srgbClr val="657A92"/>
                </a:solidFill>
                <a:latin typeface="Arial"/>
              </a:defRPr>
            </a:pPr>
            <a:r>
              <a:t>10 story · 42 point</a:t>
            </a:r>
          </a:p>
        </p:txBody>
      </p:sp>
      <p:sp>
        <p:nvSpPr>
          <p:cNvPr id="13" name="Rounded Rectangle 12"/>
          <p:cNvSpPr/>
          <p:nvPr/>
        </p:nvSpPr>
        <p:spPr>
          <a:xfrm>
            <a:off x="3401568" y="2240280"/>
            <a:ext cx="2587752" cy="333756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584448" y="2432304"/>
            <a:ext cx="2194560" cy="502920"/>
          </a:xfrm>
          <a:prstGeom prst="rect">
            <a:avLst/>
          </a:prstGeom>
          <a:noFill/>
        </p:spPr>
        <p:txBody>
          <a:bodyPr wrap="square" lIns="18288" rIns="18288" tIns="18288" bIns="18288">
            <a:spAutoFit/>
          </a:bodyPr>
          <a:lstStyle/>
          <a:p>
            <a:pPr>
              <a:spcAft>
                <a:spcPts val="800"/>
              </a:spcAft>
              <a:defRPr sz="3000" b="1">
                <a:solidFill>
                  <a:srgbClr val="1677FF"/>
                </a:solidFill>
                <a:latin typeface="Arial"/>
              </a:defRPr>
            </a:pPr>
            <a:r>
              <a:t>02</a:t>
            </a:r>
          </a:p>
        </p:txBody>
      </p:sp>
      <p:sp>
        <p:nvSpPr>
          <p:cNvPr id="15" name="TextBox 14"/>
          <p:cNvSpPr txBox="1"/>
          <p:nvPr/>
        </p:nvSpPr>
        <p:spPr>
          <a:xfrm>
            <a:off x="3584448" y="3246120"/>
            <a:ext cx="2194560" cy="1051560"/>
          </a:xfrm>
          <a:prstGeom prst="rect">
            <a:avLst/>
          </a:prstGeom>
          <a:noFill/>
        </p:spPr>
        <p:txBody>
          <a:bodyPr wrap="square" lIns="18288" rIns="18288" tIns="18288" bIns="18288">
            <a:spAutoFit/>
          </a:bodyPr>
          <a:lstStyle/>
          <a:p>
            <a:pPr>
              <a:spcAft>
                <a:spcPts val="800"/>
              </a:spcAft>
              <a:defRPr sz="2300" b="1">
                <a:solidFill>
                  <a:srgbClr val="132D50"/>
                </a:solidFill>
                <a:latin typeface="Arial"/>
              </a:defRPr>
            </a:pPr>
            <a:r>
              <a:t>Danh mục</a:t>
            </a:r>
          </a:p>
          <a:p>
            <a:pPr>
              <a:spcAft>
                <a:spcPts val="800"/>
              </a:spcAft>
              <a:defRPr sz="2300" b="1">
                <a:solidFill>
                  <a:srgbClr val="132D50"/>
                </a:solidFill>
                <a:latin typeface="Arial"/>
              </a:defRPr>
            </a:pPr>
            <a:r>
              <a:t>&amp; cấu hình</a:t>
            </a:r>
          </a:p>
        </p:txBody>
      </p:sp>
      <p:sp>
        <p:nvSpPr>
          <p:cNvPr id="16" name="TextBox 15"/>
          <p:cNvSpPr txBox="1"/>
          <p:nvPr/>
        </p:nvSpPr>
        <p:spPr>
          <a:xfrm>
            <a:off x="3584448" y="4727448"/>
            <a:ext cx="2194560" cy="502920"/>
          </a:xfrm>
          <a:prstGeom prst="rect">
            <a:avLst/>
          </a:prstGeom>
          <a:noFill/>
        </p:spPr>
        <p:txBody>
          <a:bodyPr wrap="square" lIns="18288" rIns="18288" tIns="18288" bIns="18288">
            <a:spAutoFit/>
          </a:bodyPr>
          <a:lstStyle/>
          <a:p>
            <a:pPr>
              <a:spcAft>
                <a:spcPts val="800"/>
              </a:spcAft>
              <a:defRPr sz="1600" b="0">
                <a:solidFill>
                  <a:srgbClr val="657A92"/>
                </a:solidFill>
                <a:latin typeface="Arial"/>
              </a:defRPr>
            </a:pPr>
            <a:r>
              <a:t>10 story · 43 point</a:t>
            </a:r>
          </a:p>
        </p:txBody>
      </p:sp>
      <p:sp>
        <p:nvSpPr>
          <p:cNvPr id="17" name="Rounded Rectangle 16"/>
          <p:cNvSpPr/>
          <p:nvPr/>
        </p:nvSpPr>
        <p:spPr>
          <a:xfrm>
            <a:off x="6181344" y="2240280"/>
            <a:ext cx="2587752" cy="333756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364224" y="2432304"/>
            <a:ext cx="2194560" cy="502920"/>
          </a:xfrm>
          <a:prstGeom prst="rect">
            <a:avLst/>
          </a:prstGeom>
          <a:noFill/>
        </p:spPr>
        <p:txBody>
          <a:bodyPr wrap="square" lIns="18288" rIns="18288" tIns="18288" bIns="18288">
            <a:spAutoFit/>
          </a:bodyPr>
          <a:lstStyle/>
          <a:p>
            <a:pPr>
              <a:spcAft>
                <a:spcPts val="800"/>
              </a:spcAft>
              <a:defRPr sz="3000" b="1">
                <a:solidFill>
                  <a:srgbClr val="1677FF"/>
                </a:solidFill>
                <a:latin typeface="Arial"/>
              </a:defRPr>
            </a:pPr>
            <a:r>
              <a:t>03</a:t>
            </a:r>
          </a:p>
        </p:txBody>
      </p:sp>
      <p:sp>
        <p:nvSpPr>
          <p:cNvPr id="19" name="TextBox 18"/>
          <p:cNvSpPr txBox="1"/>
          <p:nvPr/>
        </p:nvSpPr>
        <p:spPr>
          <a:xfrm>
            <a:off x="6364224" y="3246120"/>
            <a:ext cx="2194560" cy="1051560"/>
          </a:xfrm>
          <a:prstGeom prst="rect">
            <a:avLst/>
          </a:prstGeom>
          <a:noFill/>
        </p:spPr>
        <p:txBody>
          <a:bodyPr wrap="square" lIns="18288" rIns="18288" tIns="18288" bIns="18288">
            <a:spAutoFit/>
          </a:bodyPr>
          <a:lstStyle/>
          <a:p>
            <a:pPr>
              <a:spcAft>
                <a:spcPts val="800"/>
              </a:spcAft>
              <a:defRPr sz="2300" b="1">
                <a:solidFill>
                  <a:srgbClr val="132D50"/>
                </a:solidFill>
                <a:latin typeface="Arial"/>
              </a:defRPr>
            </a:pPr>
            <a:r>
              <a:t>Khách hàng</a:t>
            </a:r>
          </a:p>
          <a:p>
            <a:pPr>
              <a:spcAft>
                <a:spcPts val="800"/>
              </a:spcAft>
              <a:defRPr sz="2300" b="1">
                <a:solidFill>
                  <a:srgbClr val="132D50"/>
                </a:solidFill>
                <a:latin typeface="Arial"/>
              </a:defRPr>
            </a:pPr>
            <a:r>
              <a:t>360</a:t>
            </a:r>
          </a:p>
        </p:txBody>
      </p:sp>
      <p:sp>
        <p:nvSpPr>
          <p:cNvPr id="20" name="TextBox 19"/>
          <p:cNvSpPr txBox="1"/>
          <p:nvPr/>
        </p:nvSpPr>
        <p:spPr>
          <a:xfrm>
            <a:off x="6364224" y="4727448"/>
            <a:ext cx="2194560" cy="502920"/>
          </a:xfrm>
          <a:prstGeom prst="rect">
            <a:avLst/>
          </a:prstGeom>
          <a:noFill/>
        </p:spPr>
        <p:txBody>
          <a:bodyPr wrap="square" lIns="18288" rIns="18288" tIns="18288" bIns="18288">
            <a:spAutoFit/>
          </a:bodyPr>
          <a:lstStyle/>
          <a:p>
            <a:pPr>
              <a:spcAft>
                <a:spcPts val="800"/>
              </a:spcAft>
              <a:defRPr sz="1600" b="0">
                <a:solidFill>
                  <a:srgbClr val="657A92"/>
                </a:solidFill>
                <a:latin typeface="Arial"/>
              </a:defRPr>
            </a:pPr>
            <a:r>
              <a:t>9 story · 42 point</a:t>
            </a:r>
          </a:p>
        </p:txBody>
      </p:sp>
      <p:sp>
        <p:nvSpPr>
          <p:cNvPr id="21" name="Rounded Rectangle 20"/>
          <p:cNvSpPr/>
          <p:nvPr/>
        </p:nvSpPr>
        <p:spPr>
          <a:xfrm>
            <a:off x="8961120" y="2240280"/>
            <a:ext cx="2587752" cy="333756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144000" y="2432304"/>
            <a:ext cx="2194560" cy="502920"/>
          </a:xfrm>
          <a:prstGeom prst="rect">
            <a:avLst/>
          </a:prstGeom>
          <a:noFill/>
        </p:spPr>
        <p:txBody>
          <a:bodyPr wrap="square" lIns="18288" rIns="18288" tIns="18288" bIns="18288">
            <a:spAutoFit/>
          </a:bodyPr>
          <a:lstStyle/>
          <a:p>
            <a:pPr>
              <a:spcAft>
                <a:spcPts val="800"/>
              </a:spcAft>
              <a:defRPr sz="3000" b="1">
                <a:solidFill>
                  <a:srgbClr val="1677FF"/>
                </a:solidFill>
                <a:latin typeface="Arial"/>
              </a:defRPr>
            </a:pPr>
            <a:r>
              <a:t>04</a:t>
            </a:r>
          </a:p>
        </p:txBody>
      </p:sp>
      <p:sp>
        <p:nvSpPr>
          <p:cNvPr id="23" name="TextBox 22"/>
          <p:cNvSpPr txBox="1"/>
          <p:nvPr/>
        </p:nvSpPr>
        <p:spPr>
          <a:xfrm>
            <a:off x="9144000" y="3246120"/>
            <a:ext cx="2194560" cy="1051560"/>
          </a:xfrm>
          <a:prstGeom prst="rect">
            <a:avLst/>
          </a:prstGeom>
          <a:noFill/>
        </p:spPr>
        <p:txBody>
          <a:bodyPr wrap="square" lIns="18288" rIns="18288" tIns="18288" bIns="18288">
            <a:spAutoFit/>
          </a:bodyPr>
          <a:lstStyle/>
          <a:p>
            <a:pPr>
              <a:spcAft>
                <a:spcPts val="800"/>
              </a:spcAft>
              <a:defRPr sz="2300" b="1">
                <a:solidFill>
                  <a:srgbClr val="132D50"/>
                </a:solidFill>
                <a:latin typeface="Arial"/>
              </a:defRPr>
            </a:pPr>
            <a:r>
              <a:t>Lead</a:t>
            </a:r>
          </a:p>
          <a:p>
            <a:pPr>
              <a:spcAft>
                <a:spcPts val="800"/>
              </a:spcAft>
              <a:defRPr sz="2300" b="1">
                <a:solidFill>
                  <a:srgbClr val="132D50"/>
                </a:solidFill>
                <a:latin typeface="Arial"/>
              </a:defRPr>
            </a:pPr>
            <a:r>
              <a:t>&amp; phân bổ</a:t>
            </a:r>
          </a:p>
        </p:txBody>
      </p:sp>
      <p:sp>
        <p:nvSpPr>
          <p:cNvPr id="24" name="TextBox 23"/>
          <p:cNvSpPr txBox="1"/>
          <p:nvPr/>
        </p:nvSpPr>
        <p:spPr>
          <a:xfrm>
            <a:off x="9144000" y="4727448"/>
            <a:ext cx="2194560" cy="502920"/>
          </a:xfrm>
          <a:prstGeom prst="rect">
            <a:avLst/>
          </a:prstGeom>
          <a:noFill/>
        </p:spPr>
        <p:txBody>
          <a:bodyPr wrap="square" lIns="18288" rIns="18288" tIns="18288" bIns="18288">
            <a:spAutoFit/>
          </a:bodyPr>
          <a:lstStyle/>
          <a:p>
            <a:pPr>
              <a:spcAft>
                <a:spcPts val="800"/>
              </a:spcAft>
              <a:defRPr sz="1600" b="0">
                <a:solidFill>
                  <a:srgbClr val="657A92"/>
                </a:solidFill>
                <a:latin typeface="Arial"/>
              </a:defRPr>
            </a:pPr>
            <a:r>
              <a:t>9 story · 45 point</a:t>
            </a:r>
          </a:p>
        </p:txBody>
      </p:sp>
      <p:sp>
        <p:nvSpPr>
          <p:cNvPr id="25" name="Rounded Rectangle 24"/>
          <p:cNvSpPr/>
          <p:nvPr/>
        </p:nvSpPr>
        <p:spPr>
          <a:xfrm>
            <a:off x="621792" y="5760720"/>
            <a:ext cx="10936224" cy="502920"/>
          </a:xfrm>
          <a:prstGeom prst="roundRect">
            <a:avLst>
              <a:gd name="adj" fmla="val 12000"/>
            </a:avLst>
          </a:prstGeom>
          <a:solidFill>
            <a:srgbClr val="EAF3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77240" y="5843016"/>
            <a:ext cx="10607040" cy="320040"/>
          </a:xfrm>
          <a:prstGeom prst="rect">
            <a:avLst/>
          </a:prstGeom>
          <a:noFill/>
        </p:spPr>
        <p:txBody>
          <a:bodyPr wrap="square" lIns="18288" rIns="18288" tIns="18288" bIns="18288">
            <a:spAutoFit/>
          </a:bodyPr>
          <a:lstStyle/>
          <a:p>
            <a:pPr>
              <a:spcAft>
                <a:spcPts val="800"/>
              </a:spcAft>
              <a:defRPr sz="1400" b="1">
                <a:solidFill>
                  <a:srgbClr val="1677FF"/>
                </a:solidFill>
                <a:latin typeface="Arial"/>
              </a:defRPr>
            </a:pPr>
            <a:r>
              <a:t>Nền tảng an toàn → cấu hình nhất quán → hồ sơ tập trung → lead được xử lý có trách nhiệm.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TỔNG QUAN</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Bảy vai trò, ba phạm vi dữ liệu</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Quyền chức năng trả lời “được làm gì”; phạm vi dữ liệu trả lời “được làm trên dữ liệu của ai”.</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04</a:t>
            </a:r>
          </a:p>
        </p:txBody>
      </p:sp>
      <p:sp>
        <p:nvSpPr>
          <p:cNvPr id="9" name="Rounded Rectangle 8"/>
          <p:cNvSpPr/>
          <p:nvPr/>
        </p:nvSpPr>
        <p:spPr>
          <a:xfrm>
            <a:off x="621792" y="2103120"/>
            <a:ext cx="3520440" cy="329184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22960" y="227685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BÁN HÀNG</a:t>
            </a:r>
          </a:p>
        </p:txBody>
      </p:sp>
      <p:sp>
        <p:nvSpPr>
          <p:cNvPr id="11" name="TextBox 10"/>
          <p:cNvSpPr txBox="1"/>
          <p:nvPr/>
        </p:nvSpPr>
        <p:spPr>
          <a:xfrm>
            <a:off x="822960" y="271576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Sales Rep / Team Lead</a:t>
            </a:r>
          </a:p>
        </p:txBody>
      </p:sp>
      <p:sp>
        <p:nvSpPr>
          <p:cNvPr id="12" name="TextBox 11"/>
          <p:cNvSpPr txBox="1"/>
          <p:nvPr/>
        </p:nvSpPr>
        <p:spPr>
          <a:xfrm>
            <a:off x="822960" y="3611879"/>
            <a:ext cx="3118104" cy="1664208"/>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Nhân viên: dữ liệu sở hữu.</a:t>
            </a:r>
          </a:p>
          <a:p>
            <a:pPr>
              <a:spcAft>
                <a:spcPts val="800"/>
              </a:spcAft>
              <a:defRPr sz="1700" b="0">
                <a:solidFill>
                  <a:srgbClr val="233B59"/>
                </a:solidFill>
                <a:latin typeface="Arial"/>
              </a:defRPr>
            </a:pPr>
            <a:r>
              <a:t>Trưởng nhóm: dữ liệu trong phạm vi nhóm.</a:t>
            </a:r>
          </a:p>
        </p:txBody>
      </p:sp>
      <p:sp>
        <p:nvSpPr>
          <p:cNvPr id="13" name="Rounded Rectangle 12"/>
          <p:cNvSpPr/>
          <p:nvPr/>
        </p:nvSpPr>
        <p:spPr>
          <a:xfrm>
            <a:off x="4334256" y="2103120"/>
            <a:ext cx="3520440" cy="329184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35424" y="227685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VẬN HÀNH NGHIỆP VỤ</a:t>
            </a:r>
          </a:p>
        </p:txBody>
      </p:sp>
      <p:sp>
        <p:nvSpPr>
          <p:cNvPr id="15" name="TextBox 14"/>
          <p:cNvSpPr txBox="1"/>
          <p:nvPr/>
        </p:nvSpPr>
        <p:spPr>
          <a:xfrm>
            <a:off x="4535424" y="271576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Marketing / CS / Kế toán</a:t>
            </a:r>
          </a:p>
        </p:txBody>
      </p:sp>
      <p:sp>
        <p:nvSpPr>
          <p:cNvPr id="16" name="TextBox 15"/>
          <p:cNvSpPr txBox="1"/>
          <p:nvPr/>
        </p:nvSpPr>
        <p:spPr>
          <a:xfrm>
            <a:off x="4535424" y="3611879"/>
            <a:ext cx="3118104" cy="1664208"/>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Marketing tiếp nhận lead.</a:t>
            </a:r>
          </a:p>
          <a:p>
            <a:pPr>
              <a:spcAft>
                <a:spcPts val="800"/>
              </a:spcAft>
              <a:defRPr sz="1700" b="0">
                <a:solidFill>
                  <a:srgbClr val="233B59"/>
                </a:solidFill>
                <a:latin typeface="Arial"/>
              </a:defRPr>
            </a:pPr>
            <a:r>
              <a:t>CS theo dõi chăm sóc.</a:t>
            </a:r>
          </a:p>
          <a:p>
            <a:pPr>
              <a:spcAft>
                <a:spcPts val="800"/>
              </a:spcAft>
              <a:defRPr sz="1700" b="0">
                <a:solidFill>
                  <a:srgbClr val="233B59"/>
                </a:solidFill>
                <a:latin typeface="Arial"/>
              </a:defRPr>
            </a:pPr>
            <a:r>
              <a:t>Kế toán theo dõi giá trị đã ký.</a:t>
            </a:r>
          </a:p>
        </p:txBody>
      </p:sp>
      <p:sp>
        <p:nvSpPr>
          <p:cNvPr id="17" name="Rounded Rectangle 16"/>
          <p:cNvSpPr/>
          <p:nvPr/>
        </p:nvSpPr>
        <p:spPr>
          <a:xfrm>
            <a:off x="8046720" y="2103120"/>
            <a:ext cx="3520440" cy="329184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47888" y="227685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QUẢN LÝ &amp; HỆ THỐNG</a:t>
            </a:r>
          </a:p>
        </p:txBody>
      </p:sp>
      <p:sp>
        <p:nvSpPr>
          <p:cNvPr id="19" name="TextBox 18"/>
          <p:cNvSpPr txBox="1"/>
          <p:nvPr/>
        </p:nvSpPr>
        <p:spPr>
          <a:xfrm>
            <a:off x="8247888" y="271576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Director / Admin</a:t>
            </a:r>
          </a:p>
        </p:txBody>
      </p:sp>
      <p:sp>
        <p:nvSpPr>
          <p:cNvPr id="20" name="TextBox 19"/>
          <p:cNvSpPr txBox="1"/>
          <p:nvPr/>
        </p:nvSpPr>
        <p:spPr>
          <a:xfrm>
            <a:off x="8247888" y="3611879"/>
            <a:ext cx="3118104" cy="1664208"/>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Giám đốc theo dõi toàn cảnh.</a:t>
            </a:r>
          </a:p>
          <a:p>
            <a:pPr>
              <a:spcAft>
                <a:spcPts val="800"/>
              </a:spcAft>
              <a:defRPr sz="1700" b="0">
                <a:solidFill>
                  <a:srgbClr val="233B59"/>
                </a:solidFill>
                <a:latin typeface="Arial"/>
              </a:defRPr>
            </a:pPr>
            <a:r>
              <a:t>Admin quản trị tài khoản và cấu hình hệ thống.</a:t>
            </a:r>
          </a:p>
        </p:txBody>
      </p:sp>
      <p:sp>
        <p:nvSpPr>
          <p:cNvPr id="21" name="Rounded Rectangle 20"/>
          <p:cNvSpPr/>
          <p:nvPr/>
        </p:nvSpPr>
        <p:spPr>
          <a:xfrm>
            <a:off x="621792" y="5669280"/>
            <a:ext cx="10936224" cy="502920"/>
          </a:xfrm>
          <a:prstGeom prst="roundRect">
            <a:avLst>
              <a:gd name="adj" fmla="val 12000"/>
            </a:avLst>
          </a:prstGeom>
          <a:solidFill>
            <a:srgbClr val="EAF3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77240" y="5751576"/>
            <a:ext cx="10607040" cy="320040"/>
          </a:xfrm>
          <a:prstGeom prst="rect">
            <a:avLst/>
          </a:prstGeom>
          <a:noFill/>
        </p:spPr>
        <p:txBody>
          <a:bodyPr wrap="square" lIns="18288" rIns="18288" tIns="18288" bIns="18288">
            <a:spAutoFit/>
          </a:bodyPr>
          <a:lstStyle/>
          <a:p>
            <a:pPr>
              <a:spcAft>
                <a:spcPts val="800"/>
              </a:spcAft>
              <a:defRPr sz="1400" b="1">
                <a:solidFill>
                  <a:srgbClr val="1677FF"/>
                </a:solidFill>
                <a:latin typeface="Arial"/>
              </a:defRPr>
            </a:pPr>
            <a:r>
              <a:t>OWN — của tôi     |     TEAM — nhóm của tôi     |     ALL — theo quyền được cấp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THIẾT KẾ</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Kiến trúc hệ thống</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Frontend, API, dữ liệu và tác vụ nền được tách theo trách nhiệm.</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05</a:t>
            </a:r>
          </a:p>
        </p:txBody>
      </p:sp>
      <p:sp>
        <p:nvSpPr>
          <p:cNvPr id="9" name="Rounded Rectangle 8"/>
          <p:cNvSpPr/>
          <p:nvPr/>
        </p:nvSpPr>
        <p:spPr>
          <a:xfrm>
            <a:off x="685800" y="2423160"/>
            <a:ext cx="2560320" cy="10972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77240" y="2578608"/>
            <a:ext cx="2377439" cy="868680"/>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React + Ant Design</a:t>
            </a:r>
          </a:p>
          <a:p>
            <a:pPr algn="ctr">
              <a:spcAft>
                <a:spcPts val="800"/>
              </a:spcAft>
              <a:defRPr sz="1800" b="1">
                <a:solidFill>
                  <a:srgbClr val="1677FF"/>
                </a:solidFill>
                <a:latin typeface="Arial"/>
              </a:defRPr>
            </a:pPr>
            <a:r>
              <a:t>Giao diện web</a:t>
            </a:r>
          </a:p>
        </p:txBody>
      </p:sp>
      <p:cxnSp>
        <p:nvCxnSpPr>
          <p:cNvPr id="11" name="Connector 10"/>
          <p:cNvCxnSpPr/>
          <p:nvPr/>
        </p:nvCxnSpPr>
        <p:spPr>
          <a:xfrm>
            <a:off x="3246120" y="2971800"/>
            <a:ext cx="457200" cy="0"/>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3593591" y="2807208"/>
            <a:ext cx="274320" cy="320040"/>
          </a:xfrm>
          <a:prstGeom prst="rect">
            <a:avLst/>
          </a:prstGeom>
          <a:noFill/>
        </p:spPr>
        <p:txBody>
          <a:bodyPr wrap="square" lIns="18288" rIns="18288" tIns="18288" bIns="18288">
            <a:spAutoFit/>
          </a:bodyPr>
          <a:lstStyle/>
          <a:p>
            <a:pPr>
              <a:spcAft>
                <a:spcPts val="800"/>
              </a:spcAft>
              <a:defRPr sz="2500" b="1">
                <a:solidFill>
                  <a:srgbClr val="1677FF"/>
                </a:solidFill>
                <a:latin typeface="Arial"/>
              </a:defRPr>
            </a:pPr>
            <a:r>
              <a:t>›</a:t>
            </a:r>
          </a:p>
        </p:txBody>
      </p:sp>
      <p:sp>
        <p:nvSpPr>
          <p:cNvPr id="13" name="Rounded Rectangle 12"/>
          <p:cNvSpPr/>
          <p:nvPr/>
        </p:nvSpPr>
        <p:spPr>
          <a:xfrm>
            <a:off x="3703320" y="2423160"/>
            <a:ext cx="3291840" cy="10972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3794759" y="2578608"/>
            <a:ext cx="3108960" cy="868680"/>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Node.js + Express</a:t>
            </a:r>
          </a:p>
          <a:p>
            <a:pPr algn="ctr">
              <a:spcAft>
                <a:spcPts val="800"/>
              </a:spcAft>
              <a:defRPr sz="1800" b="1">
                <a:solidFill>
                  <a:srgbClr val="1677FF"/>
                </a:solidFill>
                <a:latin typeface="Arial"/>
              </a:defRPr>
            </a:pPr>
            <a:r>
              <a:t>API / nghiệp vụ / phân quyền</a:t>
            </a:r>
          </a:p>
        </p:txBody>
      </p:sp>
      <p:cxnSp>
        <p:nvCxnSpPr>
          <p:cNvPr id="15" name="Connector 14"/>
          <p:cNvCxnSpPr/>
          <p:nvPr/>
        </p:nvCxnSpPr>
        <p:spPr>
          <a:xfrm>
            <a:off x="6995160" y="2971800"/>
            <a:ext cx="457200" cy="0"/>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342632" y="2807208"/>
            <a:ext cx="274320" cy="320040"/>
          </a:xfrm>
          <a:prstGeom prst="rect">
            <a:avLst/>
          </a:prstGeom>
          <a:noFill/>
        </p:spPr>
        <p:txBody>
          <a:bodyPr wrap="square" lIns="18288" rIns="18288" tIns="18288" bIns="18288">
            <a:spAutoFit/>
          </a:bodyPr>
          <a:lstStyle/>
          <a:p>
            <a:pPr>
              <a:spcAft>
                <a:spcPts val="800"/>
              </a:spcAft>
              <a:defRPr sz="2500" b="1">
                <a:solidFill>
                  <a:srgbClr val="1677FF"/>
                </a:solidFill>
                <a:latin typeface="Arial"/>
              </a:defRPr>
            </a:pPr>
            <a:r>
              <a:t>›</a:t>
            </a:r>
          </a:p>
        </p:txBody>
      </p:sp>
      <p:sp>
        <p:nvSpPr>
          <p:cNvPr id="17" name="Rounded Rectangle 16"/>
          <p:cNvSpPr/>
          <p:nvPr/>
        </p:nvSpPr>
        <p:spPr>
          <a:xfrm>
            <a:off x="7452360" y="2423160"/>
            <a:ext cx="3977639" cy="10972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543800" y="2578608"/>
            <a:ext cx="3794759" cy="868680"/>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MySQL</a:t>
            </a:r>
          </a:p>
          <a:p>
            <a:pPr algn="ctr">
              <a:spcAft>
                <a:spcPts val="800"/>
              </a:spcAft>
              <a:defRPr sz="1800" b="1">
                <a:solidFill>
                  <a:srgbClr val="1677FF"/>
                </a:solidFill>
                <a:latin typeface="Arial"/>
              </a:defRPr>
            </a:pPr>
            <a:r>
              <a:t>Người dùng · nhóm · khách · lead</a:t>
            </a:r>
          </a:p>
        </p:txBody>
      </p:sp>
      <p:sp>
        <p:nvSpPr>
          <p:cNvPr id="19" name="Rounded Rectangle 18"/>
          <p:cNvSpPr/>
          <p:nvPr/>
        </p:nvSpPr>
        <p:spPr>
          <a:xfrm>
            <a:off x="3703320" y="4389120"/>
            <a:ext cx="3291840" cy="96012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794759" y="4544568"/>
            <a:ext cx="3108960" cy="731520"/>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Worker / hàng đợi</a:t>
            </a:r>
          </a:p>
          <a:p>
            <a:pPr algn="ctr">
              <a:spcAft>
                <a:spcPts val="800"/>
              </a:spcAft>
              <a:defRPr sz="1800" b="1">
                <a:solidFill>
                  <a:srgbClr val="1677FF"/>
                </a:solidFill>
                <a:latin typeface="Arial"/>
              </a:defRPr>
            </a:pPr>
            <a:r>
              <a:t>Phân bổ, SLA, gửi mail</a:t>
            </a:r>
          </a:p>
        </p:txBody>
      </p:sp>
      <p:cxnSp>
        <p:nvCxnSpPr>
          <p:cNvPr id="21" name="Connector 20"/>
          <p:cNvCxnSpPr/>
          <p:nvPr/>
        </p:nvCxnSpPr>
        <p:spPr>
          <a:xfrm>
            <a:off x="5349240" y="3520440"/>
            <a:ext cx="0" cy="868680"/>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sp>
        <p:nvSpPr>
          <p:cNvPr id="22" name="Rounded Rectangle 21"/>
          <p:cNvSpPr/>
          <p:nvPr/>
        </p:nvSpPr>
        <p:spPr>
          <a:xfrm>
            <a:off x="7452360" y="4389120"/>
            <a:ext cx="3977639" cy="96012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43800" y="4544568"/>
            <a:ext cx="3794759" cy="731520"/>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SMTP / Excel / tệp</a:t>
            </a:r>
          </a:p>
          <a:p>
            <a:pPr algn="ctr">
              <a:spcAft>
                <a:spcPts val="800"/>
              </a:spcAft>
              <a:defRPr sz="1800" b="1">
                <a:solidFill>
                  <a:srgbClr val="1677FF"/>
                </a:solidFill>
                <a:latin typeface="Arial"/>
              </a:defRPr>
            </a:pPr>
            <a:r>
              <a:t>Tích hợp và trao đổi dữ liệu</a:t>
            </a:r>
          </a:p>
        </p:txBody>
      </p:sp>
      <p:cxnSp>
        <p:nvCxnSpPr>
          <p:cNvPr id="24" name="Connector 23"/>
          <p:cNvCxnSpPr/>
          <p:nvPr/>
        </p:nvCxnSpPr>
        <p:spPr>
          <a:xfrm>
            <a:off x="6995160" y="4846320"/>
            <a:ext cx="457200" cy="0"/>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7342632" y="4681728"/>
            <a:ext cx="274320" cy="320040"/>
          </a:xfrm>
          <a:prstGeom prst="rect">
            <a:avLst/>
          </a:prstGeom>
          <a:noFill/>
        </p:spPr>
        <p:txBody>
          <a:bodyPr wrap="square" lIns="18288" rIns="18288" tIns="18288" bIns="18288">
            <a:spAutoFit/>
          </a:bodyPr>
          <a:lstStyle/>
          <a:p>
            <a:pPr>
              <a:spcAft>
                <a:spcPts val="800"/>
              </a:spcAft>
              <a:defRPr sz="2500" b="1">
                <a:solidFill>
                  <a:srgbClr val="1677FF"/>
                </a:solidFill>
                <a:latin typeface="Arial"/>
              </a:defRPr>
            </a:pPr>
            <a:r>
              <a:t>›</a:t>
            </a:r>
          </a:p>
        </p:txBody>
      </p:sp>
      <p:sp>
        <p:nvSpPr>
          <p:cNvPr id="26" name="TextBox 25"/>
          <p:cNvSpPr txBox="1"/>
          <p:nvPr/>
        </p:nvSpPr>
        <p:spPr>
          <a:xfrm>
            <a:off x="749808" y="4526280"/>
            <a:ext cx="2560320" cy="868680"/>
          </a:xfrm>
          <a:prstGeom prst="rect">
            <a:avLst/>
          </a:prstGeom>
          <a:noFill/>
        </p:spPr>
        <p:txBody>
          <a:bodyPr wrap="square" lIns="18288" rIns="18288" tIns="18288" bIns="18288">
            <a:spAutoFit/>
          </a:bodyPr>
          <a:lstStyle/>
          <a:p>
            <a:pPr>
              <a:spcAft>
                <a:spcPts val="800"/>
              </a:spcAft>
              <a:defRPr sz="1800" b="0">
                <a:solidFill>
                  <a:srgbClr val="657A92"/>
                </a:solidFill>
                <a:latin typeface="Arial"/>
              </a:defRPr>
            </a:pPr>
            <a:r>
              <a:t>Kiểm thử:</a:t>
            </a:r>
          </a:p>
          <a:p>
            <a:pPr>
              <a:spcAft>
                <a:spcPts val="800"/>
              </a:spcAft>
              <a:defRPr sz="1800" b="0">
                <a:solidFill>
                  <a:srgbClr val="657A92"/>
                </a:solidFill>
                <a:latin typeface="Arial"/>
              </a:defRPr>
            </a:pPr>
            <a:r>
              <a:t>Jest + Playwright</a:t>
            </a:r>
          </a:p>
        </p:txBody>
      </p:sp>
      <p:sp>
        <p:nvSpPr>
          <p:cNvPr id="27" name="Rounded Rectangle 26"/>
          <p:cNvSpPr/>
          <p:nvPr/>
        </p:nvSpPr>
        <p:spPr>
          <a:xfrm>
            <a:off x="621792" y="5779008"/>
            <a:ext cx="10936224" cy="502920"/>
          </a:xfrm>
          <a:prstGeom prst="roundRect">
            <a:avLst>
              <a:gd name="adj" fmla="val 12000"/>
            </a:avLst>
          </a:prstGeom>
          <a:solidFill>
            <a:srgbClr val="EAF3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77240" y="5861304"/>
            <a:ext cx="10607040" cy="320040"/>
          </a:xfrm>
          <a:prstGeom prst="rect">
            <a:avLst/>
          </a:prstGeom>
          <a:noFill/>
        </p:spPr>
        <p:txBody>
          <a:bodyPr wrap="square" lIns="18288" rIns="18288" tIns="18288" bIns="18288">
            <a:spAutoFit/>
          </a:bodyPr>
          <a:lstStyle/>
          <a:p>
            <a:pPr>
              <a:spcAft>
                <a:spcPts val="800"/>
              </a:spcAft>
              <a:defRPr sz="1400" b="1">
                <a:solidFill>
                  <a:srgbClr val="1677FF"/>
                </a:solidFill>
                <a:latin typeface="Arial"/>
              </a:defRPr>
            </a:pPr>
            <a:r>
              <a:t>API nội bộ kiểm tra xác thực, quyền và phạm vi trước khi đọc hoặc ghi dữ liệu.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SPRINT 1</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Sprint 1 — Truy cập an toàn</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Mục tiêu: đúng người đăng nhập, đúng quyền thao tác, đúng phạm vi dữ liệu.</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06</a:t>
            </a:r>
          </a:p>
        </p:txBody>
      </p:sp>
      <p:sp>
        <p:nvSpPr>
          <p:cNvPr id="9" name="Rounded Rectangle 8"/>
          <p:cNvSpPr/>
          <p:nvPr/>
        </p:nvSpPr>
        <p:spPr>
          <a:xfrm>
            <a:off x="621792" y="2103120"/>
            <a:ext cx="3520440" cy="3401568"/>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22960" y="227685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XÁC THỰC</a:t>
            </a:r>
          </a:p>
        </p:txBody>
      </p:sp>
      <p:sp>
        <p:nvSpPr>
          <p:cNvPr id="11" name="TextBox 10"/>
          <p:cNvSpPr txBox="1"/>
          <p:nvPr/>
        </p:nvSpPr>
        <p:spPr>
          <a:xfrm>
            <a:off x="822960" y="271576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Vào và rời hệ thống</a:t>
            </a:r>
          </a:p>
        </p:txBody>
      </p:sp>
      <p:sp>
        <p:nvSpPr>
          <p:cNvPr id="12" name="TextBox 11"/>
          <p:cNvSpPr txBox="1"/>
          <p:nvPr/>
        </p:nvSpPr>
        <p:spPr>
          <a:xfrm>
            <a:off x="822960" y="3611879"/>
            <a:ext cx="3118104" cy="1773936"/>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Đăng nhập, duy trì phiên.</a:t>
            </a:r>
          </a:p>
          <a:p>
            <a:pPr>
              <a:spcAft>
                <a:spcPts val="800"/>
              </a:spcAft>
              <a:defRPr sz="1700" b="0">
                <a:solidFill>
                  <a:srgbClr val="233B59"/>
                </a:solidFill>
                <a:latin typeface="Arial"/>
              </a:defRPr>
            </a:pPr>
            <a:r>
              <a:t>Đăng xuất, đổi mật khẩu.</a:t>
            </a:r>
          </a:p>
          <a:p>
            <a:pPr>
              <a:spcAft>
                <a:spcPts val="800"/>
              </a:spcAft>
              <a:defRPr sz="1700" b="0">
                <a:solidFill>
                  <a:srgbClr val="233B59"/>
                </a:solidFill>
                <a:latin typeface="Arial"/>
              </a:defRPr>
            </a:pPr>
            <a:r>
              <a:t>Khôi phục qua email.</a:t>
            </a:r>
          </a:p>
        </p:txBody>
      </p:sp>
      <p:sp>
        <p:nvSpPr>
          <p:cNvPr id="13" name="Rounded Rectangle 12"/>
          <p:cNvSpPr/>
          <p:nvPr/>
        </p:nvSpPr>
        <p:spPr>
          <a:xfrm>
            <a:off x="4334256" y="2103120"/>
            <a:ext cx="3520440" cy="3401568"/>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35424" y="227685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PHÂN QUYỀN</a:t>
            </a:r>
          </a:p>
        </p:txBody>
      </p:sp>
      <p:sp>
        <p:nvSpPr>
          <p:cNvPr id="15" name="TextBox 14"/>
          <p:cNvSpPr txBox="1"/>
          <p:nvPr/>
        </p:nvSpPr>
        <p:spPr>
          <a:xfrm>
            <a:off x="4535424" y="271576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Vai trò + sở hữu</a:t>
            </a:r>
          </a:p>
        </p:txBody>
      </p:sp>
      <p:sp>
        <p:nvSpPr>
          <p:cNvPr id="16" name="TextBox 15"/>
          <p:cNvSpPr txBox="1"/>
          <p:nvPr/>
        </p:nvSpPr>
        <p:spPr>
          <a:xfrm>
            <a:off x="4535424" y="3611879"/>
            <a:ext cx="3118104" cy="1773936"/>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OWN / TEAM / ALL.</a:t>
            </a:r>
          </a:p>
          <a:p>
            <a:pPr>
              <a:spcAft>
                <a:spcPts val="800"/>
              </a:spcAft>
              <a:defRPr sz="1700" b="0">
                <a:solidFill>
                  <a:srgbClr val="233B59"/>
                </a:solidFill>
                <a:latin typeface="Arial"/>
              </a:defRPr>
            </a:pPr>
            <a:r>
              <a:t>Menu theo quyền.</a:t>
            </a:r>
          </a:p>
          <a:p>
            <a:pPr>
              <a:spcAft>
                <a:spcPts val="800"/>
              </a:spcAft>
              <a:defRPr sz="1700" b="0">
                <a:solidFill>
                  <a:srgbClr val="233B59"/>
                </a:solidFill>
                <a:latin typeface="Arial"/>
              </a:defRPr>
            </a:pPr>
            <a:r>
              <a:t>Thông báo khi bị từ chối.</a:t>
            </a:r>
          </a:p>
        </p:txBody>
      </p:sp>
      <p:sp>
        <p:nvSpPr>
          <p:cNvPr id="17" name="Rounded Rectangle 16"/>
          <p:cNvSpPr/>
          <p:nvPr/>
        </p:nvSpPr>
        <p:spPr>
          <a:xfrm>
            <a:off x="8046720" y="2103120"/>
            <a:ext cx="3520440" cy="3401568"/>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47888" y="227685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QUẢN TRỊ</a:t>
            </a:r>
          </a:p>
        </p:txBody>
      </p:sp>
      <p:sp>
        <p:nvSpPr>
          <p:cNvPr id="19" name="TextBox 18"/>
          <p:cNvSpPr txBox="1"/>
          <p:nvPr/>
        </p:nvSpPr>
        <p:spPr>
          <a:xfrm>
            <a:off x="8247888" y="271576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Quản lý nhân sự</a:t>
            </a:r>
          </a:p>
        </p:txBody>
      </p:sp>
      <p:sp>
        <p:nvSpPr>
          <p:cNvPr id="20" name="TextBox 19"/>
          <p:cNvSpPr txBox="1"/>
          <p:nvPr/>
        </p:nvSpPr>
        <p:spPr>
          <a:xfrm>
            <a:off x="8247888" y="3611879"/>
            <a:ext cx="3118104" cy="1773936"/>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Tạo, tìm và sửa tài khoản.</a:t>
            </a:r>
          </a:p>
          <a:p>
            <a:pPr>
              <a:spcAft>
                <a:spcPts val="800"/>
              </a:spcAft>
              <a:defRPr sz="1700" b="0">
                <a:solidFill>
                  <a:srgbClr val="233B59"/>
                </a:solidFill>
                <a:latin typeface="Arial"/>
              </a:defRPr>
            </a:pPr>
            <a:r>
              <a:t>Gán vai trò / nhóm.</a:t>
            </a:r>
          </a:p>
          <a:p>
            <a:pPr>
              <a:spcAft>
                <a:spcPts val="800"/>
              </a:spcAft>
              <a:defRPr sz="1700" b="0">
                <a:solidFill>
                  <a:srgbClr val="233B59"/>
                </a:solidFill>
                <a:latin typeface="Arial"/>
              </a:defRPr>
            </a:pPr>
            <a:r>
              <a:t>Khóa và bàn giao dữ liệu.</a:t>
            </a:r>
          </a:p>
        </p:txBody>
      </p:sp>
      <p:sp>
        <p:nvSpPr>
          <p:cNvPr id="21" name="Rounded Rectangle 20"/>
          <p:cNvSpPr/>
          <p:nvPr/>
        </p:nvSpPr>
        <p:spPr>
          <a:xfrm>
            <a:off x="621792" y="5742432"/>
            <a:ext cx="10936224" cy="502920"/>
          </a:xfrm>
          <a:prstGeom prst="roundRect">
            <a:avLst>
              <a:gd name="adj" fmla="val 12000"/>
            </a:avLst>
          </a:prstGeom>
          <a:solidFill>
            <a:srgbClr val="EAF3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77240" y="5824728"/>
            <a:ext cx="10607040" cy="320040"/>
          </a:xfrm>
          <a:prstGeom prst="rect">
            <a:avLst/>
          </a:prstGeom>
          <a:noFill/>
        </p:spPr>
        <p:txBody>
          <a:bodyPr wrap="square" lIns="18288" rIns="18288" tIns="18288" bIns="18288">
            <a:spAutoFit/>
          </a:bodyPr>
          <a:lstStyle/>
          <a:p>
            <a:pPr>
              <a:spcAft>
                <a:spcPts val="800"/>
              </a:spcAft>
              <a:defRPr sz="1400" b="1">
                <a:solidFill>
                  <a:srgbClr val="1677FF"/>
                </a:solidFill>
                <a:latin typeface="Arial"/>
              </a:defRPr>
            </a:pPr>
            <a:r>
              <a:t>Điểm demo quan trọng: nhân viên A không đọc được khách hàng của nhân viên 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SPRINT 1 / GIAO DIỆN</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Giao diện truy cập theo vai trò</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Ảnh giao diện thật từ repository; các tài khoản vai trò phục vụ kiểm thử.</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07</a:t>
            </a:r>
          </a:p>
        </p:txBody>
      </p:sp>
      <p:sp>
        <p:nvSpPr>
          <p:cNvPr id="9" name="Rounded Rectangle 8"/>
          <p:cNvSpPr/>
          <p:nvPr/>
        </p:nvSpPr>
        <p:spPr>
          <a:xfrm>
            <a:off x="621792" y="1993392"/>
            <a:ext cx="7772400" cy="416052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login-roles-desktop.png"/>
          <p:cNvPicPr>
            <a:picLocks noChangeAspect="1"/>
          </p:cNvPicPr>
          <p:nvPr/>
        </p:nvPicPr>
        <p:blipFill>
          <a:blip r:embed="rId2"/>
          <a:stretch>
            <a:fillRect/>
          </a:stretch>
        </p:blipFill>
        <p:spPr>
          <a:xfrm>
            <a:off x="972312" y="2075688"/>
            <a:ext cx="7071360" cy="3977639"/>
          </a:xfrm>
          <a:prstGeom prst="rect">
            <a:avLst/>
          </a:prstGeom>
        </p:spPr>
      </p:pic>
      <p:sp>
        <p:nvSpPr>
          <p:cNvPr id="11" name="TextBox 10"/>
          <p:cNvSpPr txBox="1"/>
          <p:nvPr/>
        </p:nvSpPr>
        <p:spPr>
          <a:xfrm>
            <a:off x="8668512" y="2331720"/>
            <a:ext cx="2743200" cy="640080"/>
          </a:xfrm>
          <a:prstGeom prst="rect">
            <a:avLst/>
          </a:prstGeom>
          <a:noFill/>
        </p:spPr>
        <p:txBody>
          <a:bodyPr wrap="square" lIns="18288" rIns="18288" tIns="18288" bIns="18288">
            <a:spAutoFit/>
          </a:bodyPr>
          <a:lstStyle/>
          <a:p>
            <a:pPr>
              <a:spcAft>
                <a:spcPts val="800"/>
              </a:spcAft>
              <a:defRPr sz="2300" b="1">
                <a:solidFill>
                  <a:srgbClr val="132D50"/>
                </a:solidFill>
                <a:latin typeface="Arial"/>
              </a:defRPr>
            </a:pPr>
            <a:r>
              <a:t>Một điểm vào chung</a:t>
            </a:r>
          </a:p>
        </p:txBody>
      </p:sp>
      <p:sp>
        <p:nvSpPr>
          <p:cNvPr id="12" name="TextBox 11"/>
          <p:cNvSpPr txBox="1"/>
          <p:nvPr/>
        </p:nvSpPr>
        <p:spPr>
          <a:xfrm>
            <a:off x="8668512" y="3246120"/>
            <a:ext cx="2743200" cy="2468880"/>
          </a:xfrm>
          <a:prstGeom prst="rect">
            <a:avLst/>
          </a:prstGeom>
          <a:noFill/>
        </p:spPr>
        <p:txBody>
          <a:bodyPr wrap="square" lIns="18288" rIns="18288" tIns="18288" bIns="18288">
            <a:spAutoFit/>
          </a:bodyPr>
          <a:lstStyle/>
          <a:p>
            <a:pPr>
              <a:spcAft>
                <a:spcPts val="800"/>
              </a:spcAft>
              <a:defRPr sz="1900" b="0">
                <a:solidFill>
                  <a:srgbClr val="233B59"/>
                </a:solidFill>
                <a:latin typeface="Arial"/>
              </a:defRPr>
            </a:pPr>
            <a:r>
              <a:t>• Email và mật khẩu</a:t>
            </a:r>
          </a:p>
          <a:p>
            <a:pPr>
              <a:spcAft>
                <a:spcPts val="800"/>
              </a:spcAft>
              <a:defRPr sz="1900" b="0">
                <a:solidFill>
                  <a:srgbClr val="233B59"/>
                </a:solidFill>
                <a:latin typeface="Arial"/>
              </a:defRPr>
            </a:pPr>
            <a:r>
              <a:t>• Khôi phục tài khoản</a:t>
            </a:r>
          </a:p>
          <a:p>
            <a:pPr>
              <a:spcAft>
                <a:spcPts val="800"/>
              </a:spcAft>
              <a:defRPr sz="1900" b="0">
                <a:solidFill>
                  <a:srgbClr val="233B59"/>
                </a:solidFill>
                <a:latin typeface="Arial"/>
              </a:defRPr>
            </a:pPr>
            <a:r>
              <a:t>• Vai trò quyết định menu</a:t>
            </a:r>
          </a:p>
          <a:p>
            <a:pPr>
              <a:spcAft>
                <a:spcPts val="800"/>
              </a:spcAft>
              <a:defRPr sz="1900" b="0">
                <a:solidFill>
                  <a:srgbClr val="233B59"/>
                </a:solidFill>
                <a:latin typeface="Arial"/>
              </a:defRPr>
            </a:pPr>
            <a:r>
              <a:t>• API vẫn kiểm tra quyền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SPRINT 1 / PHÂN QUYỀN</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Phân quyền phải nằm ở backend</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Ẩn nút trên giao diện giúp dễ dùng; server mới là nơi quyết định cho phép truy cập.</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08</a:t>
            </a:r>
          </a:p>
        </p:txBody>
      </p:sp>
      <p:sp>
        <p:nvSpPr>
          <p:cNvPr id="9" name="Rounded Rectangle 8"/>
          <p:cNvSpPr/>
          <p:nvPr/>
        </p:nvSpPr>
        <p:spPr>
          <a:xfrm>
            <a:off x="621792" y="2148840"/>
            <a:ext cx="3520440" cy="33832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22960" y="232257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OWN</a:t>
            </a:r>
          </a:p>
        </p:txBody>
      </p:sp>
      <p:sp>
        <p:nvSpPr>
          <p:cNvPr id="11" name="TextBox 10"/>
          <p:cNvSpPr txBox="1"/>
          <p:nvPr/>
        </p:nvSpPr>
        <p:spPr>
          <a:xfrm>
            <a:off x="822960" y="276148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Nhân viên A</a:t>
            </a:r>
          </a:p>
        </p:txBody>
      </p:sp>
      <p:sp>
        <p:nvSpPr>
          <p:cNvPr id="12" name="TextBox 11"/>
          <p:cNvSpPr txBox="1"/>
          <p:nvPr/>
        </p:nvSpPr>
        <p:spPr>
          <a:xfrm>
            <a:off x="822960" y="3657600"/>
            <a:ext cx="3118104" cy="1755648"/>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Đọc và sửa dữ liệu được giao.</a:t>
            </a:r>
          </a:p>
          <a:p>
            <a:pPr>
              <a:spcAft>
                <a:spcPts val="800"/>
              </a:spcAft>
              <a:defRPr sz="1700" b="0">
                <a:solidFill>
                  <a:srgbClr val="233B59"/>
                </a:solidFill>
                <a:latin typeface="Arial"/>
              </a:defRPr>
            </a:pPr>
            <a:r>
              <a:t>Không lấy bản ghi của B bằng URL/API.</a:t>
            </a:r>
          </a:p>
        </p:txBody>
      </p:sp>
      <p:sp>
        <p:nvSpPr>
          <p:cNvPr id="13" name="Rounded Rectangle 12"/>
          <p:cNvSpPr/>
          <p:nvPr/>
        </p:nvSpPr>
        <p:spPr>
          <a:xfrm>
            <a:off x="4334256" y="2148840"/>
            <a:ext cx="3520440" cy="33832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35424" y="232257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TEAM</a:t>
            </a:r>
          </a:p>
        </p:txBody>
      </p:sp>
      <p:sp>
        <p:nvSpPr>
          <p:cNvPr id="15" name="TextBox 14"/>
          <p:cNvSpPr txBox="1"/>
          <p:nvPr/>
        </p:nvSpPr>
        <p:spPr>
          <a:xfrm>
            <a:off x="4535424" y="276148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Trưởng nhóm</a:t>
            </a:r>
          </a:p>
        </p:txBody>
      </p:sp>
      <p:sp>
        <p:nvSpPr>
          <p:cNvPr id="16" name="TextBox 15"/>
          <p:cNvSpPr txBox="1"/>
          <p:nvPr/>
        </p:nvSpPr>
        <p:spPr>
          <a:xfrm>
            <a:off x="4535424" y="3657600"/>
            <a:ext cx="3118104" cy="1755648"/>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Xem dữ liệu theo cây nhóm và phạm vi được cấp.</a:t>
            </a:r>
          </a:p>
        </p:txBody>
      </p:sp>
      <p:sp>
        <p:nvSpPr>
          <p:cNvPr id="17" name="Rounded Rectangle 16"/>
          <p:cNvSpPr/>
          <p:nvPr/>
        </p:nvSpPr>
        <p:spPr>
          <a:xfrm>
            <a:off x="8046720" y="2148840"/>
            <a:ext cx="3520440" cy="33832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47888" y="232257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ALL</a:t>
            </a:r>
          </a:p>
        </p:txBody>
      </p:sp>
      <p:sp>
        <p:nvSpPr>
          <p:cNvPr id="19" name="TextBox 18"/>
          <p:cNvSpPr txBox="1"/>
          <p:nvPr/>
        </p:nvSpPr>
        <p:spPr>
          <a:xfrm>
            <a:off x="8247888" y="276148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Vai trò được cấp quyền</a:t>
            </a:r>
          </a:p>
        </p:txBody>
      </p:sp>
      <p:sp>
        <p:nvSpPr>
          <p:cNvPr id="20" name="TextBox 19"/>
          <p:cNvSpPr txBox="1"/>
          <p:nvPr/>
        </p:nvSpPr>
        <p:spPr>
          <a:xfrm>
            <a:off x="8247888" y="3657600"/>
            <a:ext cx="3118104" cy="1755648"/>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Xem toàn bộ trong module được cho phép; không bỏ kiểm tra hành động.</a:t>
            </a:r>
          </a:p>
        </p:txBody>
      </p:sp>
      <p:sp>
        <p:nvSpPr>
          <p:cNvPr id="21" name="Rounded Rectangle 20"/>
          <p:cNvSpPr/>
          <p:nvPr/>
        </p:nvSpPr>
        <p:spPr>
          <a:xfrm>
            <a:off x="621792" y="5760720"/>
            <a:ext cx="10936224" cy="502920"/>
          </a:xfrm>
          <a:prstGeom prst="roundRect">
            <a:avLst>
              <a:gd name="adj" fmla="val 12000"/>
            </a:avLst>
          </a:prstGeom>
          <a:solidFill>
            <a:srgbClr val="EAF3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77240" y="5843016"/>
            <a:ext cx="10607040" cy="320040"/>
          </a:xfrm>
          <a:prstGeom prst="rect">
            <a:avLst/>
          </a:prstGeom>
          <a:noFill/>
        </p:spPr>
        <p:txBody>
          <a:bodyPr wrap="square" lIns="18288" rIns="18288" tIns="18288" bIns="18288">
            <a:spAutoFit/>
          </a:bodyPr>
          <a:lstStyle/>
          <a:p>
            <a:pPr>
              <a:spcAft>
                <a:spcPts val="800"/>
              </a:spcAft>
              <a:defRPr sz="1400" b="1">
                <a:solidFill>
                  <a:srgbClr val="1677FF"/>
                </a:solidFill>
                <a:latin typeface="Arial"/>
              </a:defRPr>
            </a:pPr>
            <a:r>
              <a:t>Kiểm tra phủ: danh sách · chi tiết · tìm kiếm · bộ lọc · xuất Excel · thao tác ghi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SPRINT 1 / BẢO MẬT</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Khôi phục mật khẩu qua email</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Luồng tự phục vụ, hạn chế lộ thông tin tài khoản.</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09</a:t>
            </a:r>
          </a:p>
        </p:txBody>
      </p:sp>
      <p:sp>
        <p:nvSpPr>
          <p:cNvPr id="9" name="Rounded Rectangle 8"/>
          <p:cNvSpPr/>
          <p:nvPr/>
        </p:nvSpPr>
        <p:spPr>
          <a:xfrm>
            <a:off x="640080" y="2377440"/>
            <a:ext cx="2542032" cy="10972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31519" y="2532888"/>
            <a:ext cx="2359151" cy="868680"/>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Nhập email</a:t>
            </a:r>
          </a:p>
        </p:txBody>
      </p:sp>
      <p:sp>
        <p:nvSpPr>
          <p:cNvPr id="11" name="TextBox 10"/>
          <p:cNvSpPr txBox="1"/>
          <p:nvPr/>
        </p:nvSpPr>
        <p:spPr>
          <a:xfrm>
            <a:off x="640080" y="3794760"/>
            <a:ext cx="2542032" cy="411480"/>
          </a:xfrm>
          <a:prstGeom prst="rect">
            <a:avLst/>
          </a:prstGeom>
          <a:noFill/>
        </p:spPr>
        <p:txBody>
          <a:bodyPr wrap="square" lIns="18288" rIns="18288" tIns="18288" bIns="18288">
            <a:spAutoFit/>
          </a:bodyPr>
          <a:lstStyle/>
          <a:p>
            <a:pPr algn="ctr">
              <a:spcAft>
                <a:spcPts val="800"/>
              </a:spcAft>
              <a:defRPr sz="2400" b="1">
                <a:solidFill>
                  <a:srgbClr val="1677FF"/>
                </a:solidFill>
                <a:latin typeface="Arial"/>
              </a:defRPr>
            </a:pPr>
            <a:r>
              <a:t>01</a:t>
            </a:r>
          </a:p>
        </p:txBody>
      </p:sp>
      <p:cxnSp>
        <p:nvCxnSpPr>
          <p:cNvPr id="12" name="Connector 11"/>
          <p:cNvCxnSpPr/>
          <p:nvPr/>
        </p:nvCxnSpPr>
        <p:spPr>
          <a:xfrm>
            <a:off x="3182111" y="2926080"/>
            <a:ext cx="210313" cy="0"/>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3282696" y="2761488"/>
            <a:ext cx="274320" cy="320040"/>
          </a:xfrm>
          <a:prstGeom prst="rect">
            <a:avLst/>
          </a:prstGeom>
          <a:noFill/>
        </p:spPr>
        <p:txBody>
          <a:bodyPr wrap="square" lIns="18288" rIns="18288" tIns="18288" bIns="18288">
            <a:spAutoFit/>
          </a:bodyPr>
          <a:lstStyle/>
          <a:p>
            <a:pPr>
              <a:spcAft>
                <a:spcPts val="800"/>
              </a:spcAft>
              <a:defRPr sz="2500" b="1">
                <a:solidFill>
                  <a:srgbClr val="1677FF"/>
                </a:solidFill>
                <a:latin typeface="Arial"/>
              </a:defRPr>
            </a:pPr>
            <a:r>
              <a:t>›</a:t>
            </a:r>
          </a:p>
        </p:txBody>
      </p:sp>
      <p:sp>
        <p:nvSpPr>
          <p:cNvPr id="14" name="Rounded Rectangle 13"/>
          <p:cNvSpPr/>
          <p:nvPr/>
        </p:nvSpPr>
        <p:spPr>
          <a:xfrm>
            <a:off x="3410711" y="2377440"/>
            <a:ext cx="2542032" cy="10972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502151" y="2532888"/>
            <a:ext cx="2359151" cy="868680"/>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Nhận liên kết</a:t>
            </a:r>
          </a:p>
        </p:txBody>
      </p:sp>
      <p:sp>
        <p:nvSpPr>
          <p:cNvPr id="16" name="TextBox 15"/>
          <p:cNvSpPr txBox="1"/>
          <p:nvPr/>
        </p:nvSpPr>
        <p:spPr>
          <a:xfrm>
            <a:off x="3410711" y="3794760"/>
            <a:ext cx="2542032" cy="411480"/>
          </a:xfrm>
          <a:prstGeom prst="rect">
            <a:avLst/>
          </a:prstGeom>
          <a:noFill/>
        </p:spPr>
        <p:txBody>
          <a:bodyPr wrap="square" lIns="18288" rIns="18288" tIns="18288" bIns="18288">
            <a:spAutoFit/>
          </a:bodyPr>
          <a:lstStyle/>
          <a:p>
            <a:pPr algn="ctr">
              <a:spcAft>
                <a:spcPts val="800"/>
              </a:spcAft>
              <a:defRPr sz="2400" b="1">
                <a:solidFill>
                  <a:srgbClr val="1677FF"/>
                </a:solidFill>
                <a:latin typeface="Arial"/>
              </a:defRPr>
            </a:pPr>
            <a:r>
              <a:t>02</a:t>
            </a:r>
          </a:p>
        </p:txBody>
      </p:sp>
      <p:cxnSp>
        <p:nvCxnSpPr>
          <p:cNvPr id="17" name="Connector 16"/>
          <p:cNvCxnSpPr/>
          <p:nvPr/>
        </p:nvCxnSpPr>
        <p:spPr>
          <a:xfrm>
            <a:off x="5952744" y="2926080"/>
            <a:ext cx="210311" cy="0"/>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6053327" y="2761488"/>
            <a:ext cx="274320" cy="320040"/>
          </a:xfrm>
          <a:prstGeom prst="rect">
            <a:avLst/>
          </a:prstGeom>
          <a:noFill/>
        </p:spPr>
        <p:txBody>
          <a:bodyPr wrap="square" lIns="18288" rIns="18288" tIns="18288" bIns="18288">
            <a:spAutoFit/>
          </a:bodyPr>
          <a:lstStyle/>
          <a:p>
            <a:pPr>
              <a:spcAft>
                <a:spcPts val="800"/>
              </a:spcAft>
              <a:defRPr sz="2500" b="1">
                <a:solidFill>
                  <a:srgbClr val="1677FF"/>
                </a:solidFill>
                <a:latin typeface="Arial"/>
              </a:defRPr>
            </a:pPr>
            <a:r>
              <a:t>›</a:t>
            </a:r>
          </a:p>
        </p:txBody>
      </p:sp>
      <p:sp>
        <p:nvSpPr>
          <p:cNvPr id="19" name="Rounded Rectangle 18"/>
          <p:cNvSpPr/>
          <p:nvPr/>
        </p:nvSpPr>
        <p:spPr>
          <a:xfrm>
            <a:off x="6181344" y="2377440"/>
            <a:ext cx="2542032" cy="10972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272783" y="2532888"/>
            <a:ext cx="2359151" cy="868680"/>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Đặt mật khẩu mới</a:t>
            </a:r>
          </a:p>
        </p:txBody>
      </p:sp>
      <p:sp>
        <p:nvSpPr>
          <p:cNvPr id="21" name="TextBox 20"/>
          <p:cNvSpPr txBox="1"/>
          <p:nvPr/>
        </p:nvSpPr>
        <p:spPr>
          <a:xfrm>
            <a:off x="6181344" y="3794760"/>
            <a:ext cx="2542032" cy="411480"/>
          </a:xfrm>
          <a:prstGeom prst="rect">
            <a:avLst/>
          </a:prstGeom>
          <a:noFill/>
        </p:spPr>
        <p:txBody>
          <a:bodyPr wrap="square" lIns="18288" rIns="18288" tIns="18288" bIns="18288">
            <a:spAutoFit/>
          </a:bodyPr>
          <a:lstStyle/>
          <a:p>
            <a:pPr algn="ctr">
              <a:spcAft>
                <a:spcPts val="800"/>
              </a:spcAft>
              <a:defRPr sz="2400" b="1">
                <a:solidFill>
                  <a:srgbClr val="1677FF"/>
                </a:solidFill>
                <a:latin typeface="Arial"/>
              </a:defRPr>
            </a:pPr>
            <a:r>
              <a:t>03</a:t>
            </a:r>
          </a:p>
        </p:txBody>
      </p:sp>
      <p:cxnSp>
        <p:nvCxnSpPr>
          <p:cNvPr id="22" name="Connector 21"/>
          <p:cNvCxnSpPr/>
          <p:nvPr/>
        </p:nvCxnSpPr>
        <p:spPr>
          <a:xfrm>
            <a:off x="8723376" y="2926080"/>
            <a:ext cx="210312" cy="0"/>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8823960" y="2761488"/>
            <a:ext cx="274320" cy="320040"/>
          </a:xfrm>
          <a:prstGeom prst="rect">
            <a:avLst/>
          </a:prstGeom>
          <a:noFill/>
        </p:spPr>
        <p:txBody>
          <a:bodyPr wrap="square" lIns="18288" rIns="18288" tIns="18288" bIns="18288">
            <a:spAutoFit/>
          </a:bodyPr>
          <a:lstStyle/>
          <a:p>
            <a:pPr>
              <a:spcAft>
                <a:spcPts val="800"/>
              </a:spcAft>
              <a:defRPr sz="2500" b="1">
                <a:solidFill>
                  <a:srgbClr val="1677FF"/>
                </a:solidFill>
                <a:latin typeface="Arial"/>
              </a:defRPr>
            </a:pPr>
            <a:r>
              <a:t>›</a:t>
            </a:r>
          </a:p>
        </p:txBody>
      </p:sp>
      <p:sp>
        <p:nvSpPr>
          <p:cNvPr id="24" name="Rounded Rectangle 23"/>
          <p:cNvSpPr/>
          <p:nvPr/>
        </p:nvSpPr>
        <p:spPr>
          <a:xfrm>
            <a:off x="8951976" y="2377440"/>
            <a:ext cx="2542032" cy="10972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9043415" y="2532888"/>
            <a:ext cx="2359151" cy="868680"/>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Vô hiệu liên kết</a:t>
            </a:r>
          </a:p>
        </p:txBody>
      </p:sp>
      <p:sp>
        <p:nvSpPr>
          <p:cNvPr id="26" name="TextBox 25"/>
          <p:cNvSpPr txBox="1"/>
          <p:nvPr/>
        </p:nvSpPr>
        <p:spPr>
          <a:xfrm>
            <a:off x="8951976" y="3794760"/>
            <a:ext cx="2542032" cy="411480"/>
          </a:xfrm>
          <a:prstGeom prst="rect">
            <a:avLst/>
          </a:prstGeom>
          <a:noFill/>
        </p:spPr>
        <p:txBody>
          <a:bodyPr wrap="square" lIns="18288" rIns="18288" tIns="18288" bIns="18288">
            <a:spAutoFit/>
          </a:bodyPr>
          <a:lstStyle/>
          <a:p>
            <a:pPr algn="ctr">
              <a:spcAft>
                <a:spcPts val="800"/>
              </a:spcAft>
              <a:defRPr sz="2400" b="1">
                <a:solidFill>
                  <a:srgbClr val="1677FF"/>
                </a:solidFill>
                <a:latin typeface="Arial"/>
              </a:defRPr>
            </a:pPr>
            <a:r>
              <a:t>04</a:t>
            </a:r>
          </a:p>
        </p:txBody>
      </p:sp>
      <p:sp>
        <p:nvSpPr>
          <p:cNvPr id="27" name="TextBox 26"/>
          <p:cNvSpPr txBox="1"/>
          <p:nvPr/>
        </p:nvSpPr>
        <p:spPr>
          <a:xfrm>
            <a:off x="777240" y="4617720"/>
            <a:ext cx="10789920" cy="86868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Liên kết có hiệu lực 30 phút · Chỉ dùng một lần</a:t>
            </a:r>
          </a:p>
          <a:p>
            <a:pPr>
              <a:spcAft>
                <a:spcPts val="800"/>
              </a:spcAft>
              <a:defRPr sz="2200" b="1">
                <a:solidFill>
                  <a:srgbClr val="132D50"/>
                </a:solidFill>
                <a:latin typeface="Arial"/>
              </a:defRPr>
            </a:pPr>
            <a:r>
              <a:t>Email có và không tồn tại hiển thị cùng thông báo.</a:t>
            </a:r>
          </a:p>
        </p:txBody>
      </p:sp>
      <p:sp>
        <p:nvSpPr>
          <p:cNvPr id="28" name="Rounded Rectangle 27"/>
          <p:cNvSpPr/>
          <p:nvPr/>
        </p:nvSpPr>
        <p:spPr>
          <a:xfrm>
            <a:off x="621792" y="5760720"/>
            <a:ext cx="10936224" cy="502920"/>
          </a:xfrm>
          <a:prstGeom prst="roundRect">
            <a:avLst>
              <a:gd name="adj" fmla="val 12000"/>
            </a:avLst>
          </a:prstGeom>
          <a:solidFill>
            <a:srgbClr val="FFF3D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77240" y="5843016"/>
            <a:ext cx="10607040" cy="320040"/>
          </a:xfrm>
          <a:prstGeom prst="rect">
            <a:avLst/>
          </a:prstGeom>
          <a:noFill/>
        </p:spPr>
        <p:txBody>
          <a:bodyPr wrap="square" lIns="18288" rIns="18288" tIns="18288" bIns="18288">
            <a:spAutoFit/>
          </a:bodyPr>
          <a:lstStyle/>
          <a:p>
            <a:pPr>
              <a:spcAft>
                <a:spcPts val="800"/>
              </a:spcAft>
              <a:defRPr sz="1400" b="1">
                <a:solidFill>
                  <a:srgbClr val="F7AA3B"/>
                </a:solidFill>
                <a:latin typeface="Arial"/>
              </a:defRPr>
            </a:pPr>
            <a:r>
              <a:t>Điều chỉnh đã yêu cầu: sai đăng nhập 5 lần → khóa 15 giây; backlog gốc ghi 15 phút.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SPRINT 2</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Sprint 2 — Chuẩn hóa cấu hình</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Mục tiêu: cả đội sử dụng cùng danh mục, cùng tổ chức và cùng quy tắc bán hàng.</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10</a:t>
            </a:r>
          </a:p>
        </p:txBody>
      </p:sp>
      <p:sp>
        <p:nvSpPr>
          <p:cNvPr id="9" name="Rounded Rectangle 8"/>
          <p:cNvSpPr/>
          <p:nvPr/>
        </p:nvSpPr>
        <p:spPr>
          <a:xfrm>
            <a:off x="621792" y="2103120"/>
            <a:ext cx="3520440" cy="3401568"/>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22960" y="227685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NGƯỜI DÙNG</a:t>
            </a:r>
          </a:p>
        </p:txBody>
      </p:sp>
      <p:sp>
        <p:nvSpPr>
          <p:cNvPr id="11" name="TextBox 10"/>
          <p:cNvSpPr txBox="1"/>
          <p:nvPr/>
        </p:nvSpPr>
        <p:spPr>
          <a:xfrm>
            <a:off x="822960" y="271576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Vận hành tài khoản</a:t>
            </a:r>
          </a:p>
        </p:txBody>
      </p:sp>
      <p:sp>
        <p:nvSpPr>
          <p:cNvPr id="12" name="TextBox 11"/>
          <p:cNvSpPr txBox="1"/>
          <p:nvPr/>
        </p:nvSpPr>
        <p:spPr>
          <a:xfrm>
            <a:off x="822960" y="3611879"/>
            <a:ext cx="3118104" cy="1773936"/>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Nhập người dùng từ Excel.</a:t>
            </a:r>
          </a:p>
          <a:p>
            <a:pPr>
              <a:spcAft>
                <a:spcPts val="800"/>
              </a:spcAft>
              <a:defRPr sz="1700" b="0">
                <a:solidFill>
                  <a:srgbClr val="233B59"/>
                </a:solidFill>
                <a:latin typeface="Arial"/>
              </a:defRPr>
            </a:pPr>
            <a:r>
              <a:t>Hồ sơ / ảnh đại diện.</a:t>
            </a:r>
          </a:p>
          <a:p>
            <a:pPr>
              <a:spcAft>
                <a:spcPts val="800"/>
              </a:spcAft>
              <a:defRPr sz="1700" b="0">
                <a:solidFill>
                  <a:srgbClr val="233B59"/>
                </a:solidFill>
                <a:latin typeface="Arial"/>
              </a:defRPr>
            </a:pPr>
            <a:r>
              <a:t>Nhật ký thay đổi nhạy cảm.</a:t>
            </a:r>
          </a:p>
        </p:txBody>
      </p:sp>
      <p:sp>
        <p:nvSpPr>
          <p:cNvPr id="13" name="Rounded Rectangle 12"/>
          <p:cNvSpPr/>
          <p:nvPr/>
        </p:nvSpPr>
        <p:spPr>
          <a:xfrm>
            <a:off x="4334256" y="2103120"/>
            <a:ext cx="3520440" cy="3401568"/>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35424" y="227685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TỔ CHỨC &amp; DANH MỤC</a:t>
            </a:r>
          </a:p>
        </p:txBody>
      </p:sp>
      <p:sp>
        <p:nvSpPr>
          <p:cNvPr id="15" name="TextBox 14"/>
          <p:cNvSpPr txBox="1"/>
          <p:nvPr/>
        </p:nvSpPr>
        <p:spPr>
          <a:xfrm>
            <a:off x="4535424" y="271576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Một nguồn dữ liệu chuẩn</a:t>
            </a:r>
          </a:p>
        </p:txBody>
      </p:sp>
      <p:sp>
        <p:nvSpPr>
          <p:cNvPr id="16" name="TextBox 15"/>
          <p:cNvSpPr txBox="1"/>
          <p:nvPr/>
        </p:nvSpPr>
        <p:spPr>
          <a:xfrm>
            <a:off x="4535424" y="3611879"/>
            <a:ext cx="3118104" cy="1773936"/>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Cây nhóm, khu vực.</a:t>
            </a:r>
          </a:p>
          <a:p>
            <a:pPr>
              <a:spcAft>
                <a:spcPts val="800"/>
              </a:spcAft>
              <a:defRPr sz="1700" b="0">
                <a:solidFill>
                  <a:srgbClr val="233B59"/>
                </a:solidFill>
                <a:latin typeface="Arial"/>
              </a:defRPr>
            </a:pPr>
            <a:r>
              <a:t>Ngành nghề, quy mô, nguồn.</a:t>
            </a:r>
          </a:p>
          <a:p>
            <a:pPr>
              <a:spcAft>
                <a:spcPts val="800"/>
              </a:spcAft>
              <a:defRPr sz="1700" b="0">
                <a:solidFill>
                  <a:srgbClr val="233B59"/>
                </a:solidFill>
                <a:latin typeface="Arial"/>
              </a:defRPr>
            </a:pPr>
            <a:r>
              <a:t>Sản phẩm và bảng giá.</a:t>
            </a:r>
          </a:p>
        </p:txBody>
      </p:sp>
      <p:sp>
        <p:nvSpPr>
          <p:cNvPr id="17" name="Rounded Rectangle 16"/>
          <p:cNvSpPr/>
          <p:nvPr/>
        </p:nvSpPr>
        <p:spPr>
          <a:xfrm>
            <a:off x="8046720" y="2103120"/>
            <a:ext cx="3520440" cy="3401568"/>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47888" y="227685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BÁN HÀNG</a:t>
            </a:r>
          </a:p>
        </p:txBody>
      </p:sp>
      <p:sp>
        <p:nvSpPr>
          <p:cNvPr id="19" name="TextBox 18"/>
          <p:cNvSpPr txBox="1"/>
          <p:nvPr/>
        </p:nvSpPr>
        <p:spPr>
          <a:xfrm>
            <a:off x="8247888" y="271576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Cấu hình thay vì mã cứng</a:t>
            </a:r>
          </a:p>
        </p:txBody>
      </p:sp>
      <p:sp>
        <p:nvSpPr>
          <p:cNvPr id="20" name="TextBox 19"/>
          <p:cNvSpPr txBox="1"/>
          <p:nvPr/>
        </p:nvSpPr>
        <p:spPr>
          <a:xfrm>
            <a:off x="8247888" y="3611879"/>
            <a:ext cx="3118104" cy="1773936"/>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Giai đoạn và xác suất.</a:t>
            </a:r>
          </a:p>
          <a:p>
            <a:pPr>
              <a:spcAft>
                <a:spcPts val="800"/>
              </a:spcAft>
              <a:defRPr sz="1700" b="0">
                <a:solidFill>
                  <a:srgbClr val="233B59"/>
                </a:solidFill>
                <a:latin typeface="Arial"/>
              </a:defRPr>
            </a:pPr>
            <a:r>
              <a:t>Lý do thắng / thua, đối thủ.</a:t>
            </a:r>
          </a:p>
          <a:p>
            <a:pPr>
              <a:spcAft>
                <a:spcPts val="800"/>
              </a:spcAft>
              <a:defRPr sz="1700" b="0">
                <a:solidFill>
                  <a:srgbClr val="233B59"/>
                </a:solidFill>
                <a:latin typeface="Arial"/>
              </a:defRPr>
            </a:pPr>
            <a:r>
              <a:t>Trường tùy chỉnh.</a:t>
            </a:r>
          </a:p>
        </p:txBody>
      </p:sp>
      <p:sp>
        <p:nvSpPr>
          <p:cNvPr id="21" name="Rounded Rectangle 20"/>
          <p:cNvSpPr/>
          <p:nvPr/>
        </p:nvSpPr>
        <p:spPr>
          <a:xfrm>
            <a:off x="621792" y="5733288"/>
            <a:ext cx="10936224" cy="502920"/>
          </a:xfrm>
          <a:prstGeom prst="roundRect">
            <a:avLst>
              <a:gd name="adj" fmla="val 12000"/>
            </a:avLst>
          </a:prstGeom>
          <a:solidFill>
            <a:srgbClr val="EAF3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77240" y="5815583"/>
            <a:ext cx="10607040" cy="320040"/>
          </a:xfrm>
          <a:prstGeom prst="rect">
            <a:avLst/>
          </a:prstGeom>
          <a:noFill/>
        </p:spPr>
        <p:txBody>
          <a:bodyPr wrap="square" lIns="18288" rIns="18288" tIns="18288" bIns="18288">
            <a:spAutoFit/>
          </a:bodyPr>
          <a:lstStyle/>
          <a:p>
            <a:pPr>
              <a:spcAft>
                <a:spcPts val="800"/>
              </a:spcAft>
              <a:defRPr sz="1400" b="1">
                <a:solidFill>
                  <a:srgbClr val="1677FF"/>
                </a:solidFill>
                <a:latin typeface="Arial"/>
              </a:defRPr>
            </a:pPr>
            <a:r>
              <a:t>Dropdown lấy dữ liệu từ danh mục; dữ liệu đang được tham chiếu cần được bảo vệ.</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SPRINT 2 / TỔ CHỨC</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Cây tổ chức quyết định phạm vi nhóm</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Sơ đồ minh họa cấu trúc; không phải dữ liệu nhân sự thực tế.</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11</a:t>
            </a:r>
          </a:p>
        </p:txBody>
      </p:sp>
      <p:sp>
        <p:nvSpPr>
          <p:cNvPr id="9" name="Rounded Rectangle 8"/>
          <p:cNvSpPr/>
          <p:nvPr/>
        </p:nvSpPr>
        <p:spPr>
          <a:xfrm>
            <a:off x="3977639" y="2057400"/>
            <a:ext cx="4206240" cy="713232"/>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069079" y="2212848"/>
            <a:ext cx="4023359" cy="484632"/>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Khối kinh doanh toàn quốc</a:t>
            </a:r>
          </a:p>
        </p:txBody>
      </p:sp>
      <p:sp>
        <p:nvSpPr>
          <p:cNvPr id="11" name="Rounded Rectangle 10"/>
          <p:cNvSpPr/>
          <p:nvPr/>
        </p:nvSpPr>
        <p:spPr>
          <a:xfrm>
            <a:off x="1371600" y="3474720"/>
            <a:ext cx="3749039" cy="713232"/>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463040" y="3630168"/>
            <a:ext cx="3566159" cy="484632"/>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Chi nhánh miền Bắc</a:t>
            </a:r>
          </a:p>
        </p:txBody>
      </p:sp>
      <p:sp>
        <p:nvSpPr>
          <p:cNvPr id="13" name="Rounded Rectangle 12"/>
          <p:cNvSpPr/>
          <p:nvPr/>
        </p:nvSpPr>
        <p:spPr>
          <a:xfrm>
            <a:off x="7086600" y="3474720"/>
            <a:ext cx="3749039" cy="713232"/>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178040" y="3630168"/>
            <a:ext cx="3566159" cy="484632"/>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Chi nhánh miền Nam</a:t>
            </a:r>
          </a:p>
        </p:txBody>
      </p:sp>
      <p:cxnSp>
        <p:nvCxnSpPr>
          <p:cNvPr id="15" name="Connector 14"/>
          <p:cNvCxnSpPr/>
          <p:nvPr/>
        </p:nvCxnSpPr>
        <p:spPr>
          <a:xfrm flipH="1">
            <a:off x="3246120" y="2770632"/>
            <a:ext cx="2834640" cy="704088"/>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6080760" y="2770632"/>
            <a:ext cx="2880360" cy="704088"/>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8851392" y="3310127"/>
            <a:ext cx="274320" cy="320040"/>
          </a:xfrm>
          <a:prstGeom prst="rect">
            <a:avLst/>
          </a:prstGeom>
          <a:noFill/>
        </p:spPr>
        <p:txBody>
          <a:bodyPr wrap="square" lIns="18288" rIns="18288" tIns="18288" bIns="18288">
            <a:spAutoFit/>
          </a:bodyPr>
          <a:lstStyle/>
          <a:p>
            <a:pPr>
              <a:spcAft>
                <a:spcPts val="800"/>
              </a:spcAft>
              <a:defRPr sz="2500" b="1">
                <a:solidFill>
                  <a:srgbClr val="1677FF"/>
                </a:solidFill>
                <a:latin typeface="Arial"/>
              </a:defRPr>
            </a:pPr>
            <a:r>
              <a:t>›</a:t>
            </a:r>
          </a:p>
        </p:txBody>
      </p:sp>
      <p:sp>
        <p:nvSpPr>
          <p:cNvPr id="18" name="Rounded Rectangle 17"/>
          <p:cNvSpPr/>
          <p:nvPr/>
        </p:nvSpPr>
        <p:spPr>
          <a:xfrm>
            <a:off x="822960" y="4892040"/>
            <a:ext cx="3566160" cy="713232"/>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914400" y="5047488"/>
            <a:ext cx="3383279" cy="484632"/>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Phòng kinh doanh</a:t>
            </a:r>
          </a:p>
        </p:txBody>
      </p:sp>
      <p:sp>
        <p:nvSpPr>
          <p:cNvPr id="20" name="Rounded Rectangle 19"/>
          <p:cNvSpPr/>
          <p:nvPr/>
        </p:nvSpPr>
        <p:spPr>
          <a:xfrm>
            <a:off x="4709160" y="4892040"/>
            <a:ext cx="3566160" cy="713232"/>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4800600" y="5047488"/>
            <a:ext cx="3383279" cy="484632"/>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Tổ bán hàng</a:t>
            </a:r>
          </a:p>
        </p:txBody>
      </p:sp>
      <p:cxnSp>
        <p:nvCxnSpPr>
          <p:cNvPr id="22" name="Connector 21"/>
          <p:cNvCxnSpPr/>
          <p:nvPr/>
        </p:nvCxnSpPr>
        <p:spPr>
          <a:xfrm flipH="1">
            <a:off x="2606040" y="4187952"/>
            <a:ext cx="640080" cy="704088"/>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3246120" y="4187952"/>
            <a:ext cx="3246120" cy="704088"/>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6382512" y="4727448"/>
            <a:ext cx="274320" cy="320040"/>
          </a:xfrm>
          <a:prstGeom prst="rect">
            <a:avLst/>
          </a:prstGeom>
          <a:noFill/>
        </p:spPr>
        <p:txBody>
          <a:bodyPr wrap="square" lIns="18288" rIns="18288" tIns="18288" bIns="18288">
            <a:spAutoFit/>
          </a:bodyPr>
          <a:lstStyle/>
          <a:p>
            <a:pPr>
              <a:spcAft>
                <a:spcPts val="800"/>
              </a:spcAft>
              <a:defRPr sz="2500" b="1">
                <a:solidFill>
                  <a:srgbClr val="1677FF"/>
                </a:solidFill>
                <a:latin typeface="Arial"/>
              </a:defRPr>
            </a:pPr>
            <a:r>
              <a:t>›</a:t>
            </a:r>
          </a:p>
        </p:txBody>
      </p:sp>
      <p:sp>
        <p:nvSpPr>
          <p:cNvPr id="25" name="TextBox 24"/>
          <p:cNvSpPr txBox="1"/>
          <p:nvPr/>
        </p:nvSpPr>
        <p:spPr>
          <a:xfrm>
            <a:off x="8686800" y="4818888"/>
            <a:ext cx="2468880" cy="960120"/>
          </a:xfrm>
          <a:prstGeom prst="rect">
            <a:avLst/>
          </a:prstGeom>
          <a:noFill/>
        </p:spPr>
        <p:txBody>
          <a:bodyPr wrap="square" lIns="18288" rIns="18288" tIns="18288" bIns="18288">
            <a:spAutoFit/>
          </a:bodyPr>
          <a:lstStyle/>
          <a:p>
            <a:pPr>
              <a:spcAft>
                <a:spcPts val="800"/>
              </a:spcAft>
              <a:defRPr sz="1700" b="0">
                <a:solidFill>
                  <a:srgbClr val="657A92"/>
                </a:solidFill>
                <a:latin typeface="Arial"/>
              </a:defRPr>
            </a:pPr>
            <a:r>
              <a:t>Nhóm · trưởng nhóm</a:t>
            </a:r>
          </a:p>
          <a:p>
            <a:pPr>
              <a:spcAft>
                <a:spcPts val="800"/>
              </a:spcAft>
              <a:defRPr sz="1700" b="0">
                <a:solidFill>
                  <a:srgbClr val="657A92"/>
                </a:solidFill>
                <a:latin typeface="Arial"/>
              </a:defRPr>
            </a:pPr>
            <a:r>
              <a:t>khu vực · nhân sự</a:t>
            </a:r>
          </a:p>
        </p:txBody>
      </p:sp>
      <p:sp>
        <p:nvSpPr>
          <p:cNvPr id="26" name="Rounded Rectangle 25"/>
          <p:cNvSpPr/>
          <p:nvPr/>
        </p:nvSpPr>
        <p:spPr>
          <a:xfrm>
            <a:off x="621792" y="5870448"/>
            <a:ext cx="10936224" cy="502920"/>
          </a:xfrm>
          <a:prstGeom prst="roundRect">
            <a:avLst>
              <a:gd name="adj" fmla="val 12000"/>
            </a:avLst>
          </a:prstGeom>
          <a:solidFill>
            <a:srgbClr val="EAF3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777240" y="5952744"/>
            <a:ext cx="10607040" cy="320040"/>
          </a:xfrm>
          <a:prstGeom prst="rect">
            <a:avLst/>
          </a:prstGeom>
          <a:noFill/>
        </p:spPr>
        <p:txBody>
          <a:bodyPr wrap="square" lIns="18288" rIns="18288" tIns="18288" bIns="18288">
            <a:spAutoFit/>
          </a:bodyPr>
          <a:lstStyle/>
          <a:p>
            <a:pPr>
              <a:spcAft>
                <a:spcPts val="800"/>
              </a:spcAft>
              <a:defRPr sz="1400" b="1">
                <a:solidFill>
                  <a:srgbClr val="1677FF"/>
                </a:solidFill>
                <a:latin typeface="Arial"/>
              </a:defRPr>
            </a:pPr>
            <a:r>
              <a:t>Một cây phân cấp, có mở rộng / thu gọn và thông tin người phụ trách theo từng đơn vị.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SPRINT 2 / NHẬP NGƯỜI DÙNG</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Nhập Excel: kiểm tra trước, ghi sau</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Luồng minh họa từ bản mẫu N1-279 độc lập; không phải màn hình CRM chính.</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12</a:t>
            </a:r>
          </a:p>
        </p:txBody>
      </p:sp>
      <p:sp>
        <p:nvSpPr>
          <p:cNvPr id="9" name="Rounded Rectangle 8"/>
          <p:cNvSpPr/>
          <p:nvPr/>
        </p:nvSpPr>
        <p:spPr>
          <a:xfrm>
            <a:off x="621792" y="1993392"/>
            <a:ext cx="7635240" cy="416052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user-import-preview.png"/>
          <p:cNvPicPr>
            <a:picLocks noChangeAspect="1"/>
          </p:cNvPicPr>
          <p:nvPr/>
        </p:nvPicPr>
        <p:blipFill>
          <a:blip r:embed="rId2"/>
          <a:stretch>
            <a:fillRect/>
          </a:stretch>
        </p:blipFill>
        <p:spPr>
          <a:xfrm>
            <a:off x="1538020" y="2057400"/>
            <a:ext cx="5793638" cy="4023360"/>
          </a:xfrm>
          <a:prstGeom prst="rect">
            <a:avLst/>
          </a:prstGeom>
        </p:spPr>
      </p:pic>
      <p:sp>
        <p:nvSpPr>
          <p:cNvPr id="11" name="TextBox 10"/>
          <p:cNvSpPr txBox="1"/>
          <p:nvPr/>
        </p:nvSpPr>
        <p:spPr>
          <a:xfrm>
            <a:off x="8522208" y="2157984"/>
            <a:ext cx="2834640" cy="548640"/>
          </a:xfrm>
          <a:prstGeom prst="rect">
            <a:avLst/>
          </a:prstGeom>
          <a:noFill/>
        </p:spPr>
        <p:txBody>
          <a:bodyPr wrap="square" lIns="18288" rIns="18288" tIns="18288" bIns="18288">
            <a:spAutoFit/>
          </a:bodyPr>
          <a:lstStyle/>
          <a:p>
            <a:pPr>
              <a:spcAft>
                <a:spcPts val="800"/>
              </a:spcAft>
              <a:defRPr sz="2100" b="1">
                <a:solidFill>
                  <a:srgbClr val="132D50"/>
                </a:solidFill>
                <a:latin typeface="Arial"/>
              </a:defRPr>
            </a:pPr>
            <a:r>
              <a:t>Tải mẫu → Xem trước</a:t>
            </a:r>
          </a:p>
        </p:txBody>
      </p:sp>
      <p:sp>
        <p:nvSpPr>
          <p:cNvPr id="12" name="TextBox 11"/>
          <p:cNvSpPr txBox="1"/>
          <p:nvPr/>
        </p:nvSpPr>
        <p:spPr>
          <a:xfrm>
            <a:off x="8522208" y="2971800"/>
            <a:ext cx="2834640" cy="2606040"/>
          </a:xfrm>
          <a:prstGeom prst="rect">
            <a:avLst/>
          </a:prstGeom>
          <a:noFill/>
        </p:spPr>
        <p:txBody>
          <a:bodyPr wrap="square" lIns="18288" rIns="18288" tIns="18288" bIns="18288">
            <a:spAutoFit/>
          </a:bodyPr>
          <a:lstStyle/>
          <a:p>
            <a:pPr>
              <a:spcAft>
                <a:spcPts val="800"/>
              </a:spcAft>
              <a:defRPr sz="1800" b="0">
                <a:solidFill>
                  <a:srgbClr val="233B59"/>
                </a:solidFill>
                <a:latin typeface="Arial"/>
              </a:defRPr>
            </a:pPr>
            <a:r>
              <a:t>• Lỗi theo số dòng</a:t>
            </a:r>
          </a:p>
          <a:p>
            <a:pPr>
              <a:spcAft>
                <a:spcPts val="800"/>
              </a:spcAft>
              <a:defRPr sz="1800" b="0">
                <a:solidFill>
                  <a:srgbClr val="233B59"/>
                </a:solidFill>
                <a:latin typeface="Arial"/>
              </a:defRPr>
            </a:pPr>
            <a:r>
              <a:t>• Chặn email trùng</a:t>
            </a:r>
          </a:p>
          <a:p>
            <a:pPr>
              <a:spcAft>
                <a:spcPts val="800"/>
              </a:spcAft>
              <a:defRPr sz="1800" b="0">
                <a:solidFill>
                  <a:srgbClr val="233B59"/>
                </a:solidFill>
                <a:latin typeface="Arial"/>
              </a:defRPr>
            </a:pPr>
            <a:r>
              <a:t>• Bỏ dòng lỗi</a:t>
            </a:r>
          </a:p>
          <a:p>
            <a:pPr>
              <a:spcAft>
                <a:spcPts val="800"/>
              </a:spcAft>
              <a:defRPr sz="1800" b="0">
                <a:solidFill>
                  <a:srgbClr val="233B59"/>
                </a:solidFill>
                <a:latin typeface="Arial"/>
              </a:defRPr>
            </a:pPr>
            <a:r>
              <a:t>• Lưu dòng hợp lệ</a:t>
            </a:r>
          </a:p>
          <a:p>
            <a:pPr>
              <a:spcAft>
                <a:spcPts val="800"/>
              </a:spcAft>
              <a:defRPr sz="1800" b="0">
                <a:solidFill>
                  <a:srgbClr val="233B59"/>
                </a:solidFill>
                <a:latin typeface="Arial"/>
              </a:defRPr>
            </a:pPr>
            <a:r>
              <a:t>• Tải báo cáo kết quả</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SPRINT 3</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Sprint 3 — Một danh mục khách hàng chung</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Mục tiêu: thay file riêng bằng hồ sơ doanh nghiệp có chủ sở hữu và lịch sử.</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13</a:t>
            </a:r>
          </a:p>
        </p:txBody>
      </p:sp>
      <p:sp>
        <p:nvSpPr>
          <p:cNvPr id="9" name="Rounded Rectangle 8"/>
          <p:cNvSpPr/>
          <p:nvPr/>
        </p:nvSpPr>
        <p:spPr>
          <a:xfrm>
            <a:off x="621792" y="1993392"/>
            <a:ext cx="7635240" cy="416052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customers-crop.png"/>
          <p:cNvPicPr>
            <a:picLocks noChangeAspect="1"/>
          </p:cNvPicPr>
          <p:nvPr/>
        </p:nvPicPr>
        <p:blipFill>
          <a:blip r:embed="rId2"/>
          <a:stretch>
            <a:fillRect/>
          </a:stretch>
        </p:blipFill>
        <p:spPr>
          <a:xfrm>
            <a:off x="1326476" y="2057400"/>
            <a:ext cx="6225871" cy="3977639"/>
          </a:xfrm>
          <a:prstGeom prst="rect">
            <a:avLst/>
          </a:prstGeom>
        </p:spPr>
      </p:pic>
      <p:sp>
        <p:nvSpPr>
          <p:cNvPr id="11" name="TextBox 10"/>
          <p:cNvSpPr txBox="1"/>
          <p:nvPr/>
        </p:nvSpPr>
        <p:spPr>
          <a:xfrm>
            <a:off x="8503920" y="2194560"/>
            <a:ext cx="2834640" cy="59436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Hồ sơ có cấu trúc</a:t>
            </a:r>
          </a:p>
        </p:txBody>
      </p:sp>
      <p:sp>
        <p:nvSpPr>
          <p:cNvPr id="12" name="TextBox 11"/>
          <p:cNvSpPr txBox="1"/>
          <p:nvPr/>
        </p:nvSpPr>
        <p:spPr>
          <a:xfrm>
            <a:off x="8503920" y="2971800"/>
            <a:ext cx="2834640" cy="2697480"/>
          </a:xfrm>
          <a:prstGeom prst="rect">
            <a:avLst/>
          </a:prstGeom>
          <a:noFill/>
        </p:spPr>
        <p:txBody>
          <a:bodyPr wrap="square" lIns="18288" rIns="18288" tIns="18288" bIns="18288">
            <a:spAutoFit/>
          </a:bodyPr>
          <a:lstStyle/>
          <a:p>
            <a:pPr>
              <a:spcAft>
                <a:spcPts val="800"/>
              </a:spcAft>
              <a:defRPr sz="1800" b="0">
                <a:solidFill>
                  <a:srgbClr val="233B59"/>
                </a:solidFill>
                <a:latin typeface="Arial"/>
              </a:defRPr>
            </a:pPr>
            <a:r>
              <a:t>• Công ty và mã số thuế</a:t>
            </a:r>
          </a:p>
          <a:p>
            <a:pPr>
              <a:spcAft>
                <a:spcPts val="800"/>
              </a:spcAft>
              <a:defRPr sz="1800" b="0">
                <a:solidFill>
                  <a:srgbClr val="233B59"/>
                </a:solidFill>
                <a:latin typeface="Arial"/>
              </a:defRPr>
            </a:pPr>
            <a:r>
              <a:t>• Ngành, quy mô, khu vực</a:t>
            </a:r>
          </a:p>
          <a:p>
            <a:pPr>
              <a:spcAft>
                <a:spcPts val="800"/>
              </a:spcAft>
              <a:defRPr sz="1800" b="0">
                <a:solidFill>
                  <a:srgbClr val="233B59"/>
                </a:solidFill>
                <a:latin typeface="Arial"/>
              </a:defRPr>
            </a:pPr>
            <a:r>
              <a:t>• Người sở hữu</a:t>
            </a:r>
          </a:p>
          <a:p>
            <a:pPr>
              <a:spcAft>
                <a:spcPts val="800"/>
              </a:spcAft>
              <a:defRPr sz="1800" b="0">
                <a:solidFill>
                  <a:srgbClr val="233B59"/>
                </a:solidFill>
                <a:latin typeface="Arial"/>
              </a:defRPr>
            </a:pPr>
            <a:r>
              <a:t>• Người liên hệ</a:t>
            </a:r>
          </a:p>
          <a:p>
            <a:pPr>
              <a:spcAft>
                <a:spcPts val="800"/>
              </a:spcAft>
              <a:defRPr sz="1800" b="0">
                <a:solidFill>
                  <a:srgbClr val="233B59"/>
                </a:solidFill>
                <a:latin typeface="Arial"/>
              </a:defRPr>
            </a:pPr>
            <a:r>
              <a:t>• Bộ lọc lưu sẵn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SPRINT 3 / KHÁCH HÀNG 360</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Khách hàng 360: đủ bối cảnh trước cuộc gặp</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Một điểm truy cập tới thông tin, con người và lịch sử liên quan.</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14</a:t>
            </a:r>
          </a:p>
        </p:txBody>
      </p:sp>
      <p:sp>
        <p:nvSpPr>
          <p:cNvPr id="9" name="Rounded Rectangle 8"/>
          <p:cNvSpPr/>
          <p:nvPr/>
        </p:nvSpPr>
        <p:spPr>
          <a:xfrm>
            <a:off x="4233672" y="2926080"/>
            <a:ext cx="3703320" cy="96012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325112" y="3081528"/>
            <a:ext cx="3520439" cy="731520"/>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HỒ SƠ KHÁCH HÀNG 360</a:t>
            </a:r>
          </a:p>
        </p:txBody>
      </p:sp>
      <p:sp>
        <p:nvSpPr>
          <p:cNvPr id="11" name="Rounded Rectangle 10"/>
          <p:cNvSpPr/>
          <p:nvPr/>
        </p:nvSpPr>
        <p:spPr>
          <a:xfrm>
            <a:off x="713232" y="2103120"/>
            <a:ext cx="2788920" cy="96012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04672" y="2258568"/>
            <a:ext cx="2606039" cy="731520"/>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Thông tin doanh nghiệp</a:t>
            </a:r>
          </a:p>
        </p:txBody>
      </p:sp>
      <p:cxnSp>
        <p:nvCxnSpPr>
          <p:cNvPr id="13" name="Connector 12"/>
          <p:cNvCxnSpPr/>
          <p:nvPr/>
        </p:nvCxnSpPr>
        <p:spPr>
          <a:xfrm>
            <a:off x="3502152" y="2578608"/>
            <a:ext cx="731520" cy="822960"/>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4123944" y="3236976"/>
            <a:ext cx="274320" cy="320040"/>
          </a:xfrm>
          <a:prstGeom prst="rect">
            <a:avLst/>
          </a:prstGeom>
          <a:noFill/>
        </p:spPr>
        <p:txBody>
          <a:bodyPr wrap="square" lIns="18288" rIns="18288" tIns="18288" bIns="18288">
            <a:spAutoFit/>
          </a:bodyPr>
          <a:lstStyle/>
          <a:p>
            <a:pPr>
              <a:spcAft>
                <a:spcPts val="800"/>
              </a:spcAft>
              <a:defRPr sz="2500" b="1">
                <a:solidFill>
                  <a:srgbClr val="1677FF"/>
                </a:solidFill>
                <a:latin typeface="Arial"/>
              </a:defRPr>
            </a:pPr>
            <a:r>
              <a:t>›</a:t>
            </a:r>
          </a:p>
        </p:txBody>
      </p:sp>
      <p:sp>
        <p:nvSpPr>
          <p:cNvPr id="15" name="Rounded Rectangle 14"/>
          <p:cNvSpPr/>
          <p:nvPr/>
        </p:nvSpPr>
        <p:spPr>
          <a:xfrm>
            <a:off x="713232" y="4434840"/>
            <a:ext cx="2788920" cy="96012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04672" y="4590288"/>
            <a:ext cx="2606039" cy="731520"/>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Người liên hệ / vai trò</a:t>
            </a:r>
          </a:p>
        </p:txBody>
      </p:sp>
      <p:cxnSp>
        <p:nvCxnSpPr>
          <p:cNvPr id="17" name="Connector 16"/>
          <p:cNvCxnSpPr/>
          <p:nvPr/>
        </p:nvCxnSpPr>
        <p:spPr>
          <a:xfrm flipV="1">
            <a:off x="3502152" y="3401568"/>
            <a:ext cx="731520" cy="1508759"/>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4123944" y="3236976"/>
            <a:ext cx="274320" cy="320040"/>
          </a:xfrm>
          <a:prstGeom prst="rect">
            <a:avLst/>
          </a:prstGeom>
          <a:noFill/>
        </p:spPr>
        <p:txBody>
          <a:bodyPr wrap="square" lIns="18288" rIns="18288" tIns="18288" bIns="18288">
            <a:spAutoFit/>
          </a:bodyPr>
          <a:lstStyle/>
          <a:p>
            <a:pPr>
              <a:spcAft>
                <a:spcPts val="800"/>
              </a:spcAft>
              <a:defRPr sz="2500" b="1">
                <a:solidFill>
                  <a:srgbClr val="1677FF"/>
                </a:solidFill>
                <a:latin typeface="Arial"/>
              </a:defRPr>
            </a:pPr>
            <a:r>
              <a:t>›</a:t>
            </a:r>
          </a:p>
        </p:txBody>
      </p:sp>
      <p:sp>
        <p:nvSpPr>
          <p:cNvPr id="19" name="Rounded Rectangle 18"/>
          <p:cNvSpPr/>
          <p:nvPr/>
        </p:nvSpPr>
        <p:spPr>
          <a:xfrm>
            <a:off x="8641080" y="2103120"/>
            <a:ext cx="2788920" cy="96012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32519" y="2258568"/>
            <a:ext cx="2606039" cy="731520"/>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Cơ hội và giá trị đã ký</a:t>
            </a:r>
          </a:p>
        </p:txBody>
      </p:sp>
      <p:cxnSp>
        <p:nvCxnSpPr>
          <p:cNvPr id="21" name="Connector 20"/>
          <p:cNvCxnSpPr/>
          <p:nvPr/>
        </p:nvCxnSpPr>
        <p:spPr>
          <a:xfrm>
            <a:off x="7936992" y="2578608"/>
            <a:ext cx="704088" cy="822960"/>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8531352" y="3236976"/>
            <a:ext cx="274320" cy="320040"/>
          </a:xfrm>
          <a:prstGeom prst="rect">
            <a:avLst/>
          </a:prstGeom>
          <a:noFill/>
        </p:spPr>
        <p:txBody>
          <a:bodyPr wrap="square" lIns="18288" rIns="18288" tIns="18288" bIns="18288">
            <a:spAutoFit/>
          </a:bodyPr>
          <a:lstStyle/>
          <a:p>
            <a:pPr>
              <a:spcAft>
                <a:spcPts val="800"/>
              </a:spcAft>
              <a:defRPr sz="2500" b="1">
                <a:solidFill>
                  <a:srgbClr val="1677FF"/>
                </a:solidFill>
                <a:latin typeface="Arial"/>
              </a:defRPr>
            </a:pPr>
            <a:r>
              <a:t>›</a:t>
            </a:r>
          </a:p>
        </p:txBody>
      </p:sp>
      <p:sp>
        <p:nvSpPr>
          <p:cNvPr id="23" name="Rounded Rectangle 22"/>
          <p:cNvSpPr/>
          <p:nvPr/>
        </p:nvSpPr>
        <p:spPr>
          <a:xfrm>
            <a:off x="8641080" y="4434840"/>
            <a:ext cx="2788920" cy="96012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732519" y="4590288"/>
            <a:ext cx="2606039" cy="731520"/>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Hoạt động / tệp / hỗ trợ</a:t>
            </a:r>
          </a:p>
        </p:txBody>
      </p:sp>
      <p:cxnSp>
        <p:nvCxnSpPr>
          <p:cNvPr id="25" name="Connector 24"/>
          <p:cNvCxnSpPr/>
          <p:nvPr/>
        </p:nvCxnSpPr>
        <p:spPr>
          <a:xfrm flipV="1">
            <a:off x="7936992" y="3401568"/>
            <a:ext cx="704088" cy="1508759"/>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8531352" y="3236976"/>
            <a:ext cx="274320" cy="320040"/>
          </a:xfrm>
          <a:prstGeom prst="rect">
            <a:avLst/>
          </a:prstGeom>
          <a:noFill/>
        </p:spPr>
        <p:txBody>
          <a:bodyPr wrap="square" lIns="18288" rIns="18288" tIns="18288" bIns="18288">
            <a:spAutoFit/>
          </a:bodyPr>
          <a:lstStyle/>
          <a:p>
            <a:pPr>
              <a:spcAft>
                <a:spcPts val="800"/>
              </a:spcAft>
              <a:defRPr sz="2500" b="1">
                <a:solidFill>
                  <a:srgbClr val="1677FF"/>
                </a:solidFill>
                <a:latin typeface="Arial"/>
              </a:defRPr>
            </a:pPr>
            <a:r>
              <a:t>›</a:t>
            </a:r>
          </a:p>
        </p:txBody>
      </p:sp>
      <p:sp>
        <p:nvSpPr>
          <p:cNvPr id="27" name="TextBox 26"/>
          <p:cNvSpPr txBox="1"/>
          <p:nvPr/>
        </p:nvSpPr>
        <p:spPr>
          <a:xfrm>
            <a:off x="4297680" y="4754880"/>
            <a:ext cx="3611880" cy="640080"/>
          </a:xfrm>
          <a:prstGeom prst="rect">
            <a:avLst/>
          </a:prstGeom>
          <a:noFill/>
        </p:spPr>
        <p:txBody>
          <a:bodyPr wrap="square" lIns="18288" rIns="18288" tIns="18288" bIns="18288">
            <a:spAutoFit/>
          </a:bodyPr>
          <a:lstStyle/>
          <a:p>
            <a:pPr algn="ctr">
              <a:spcAft>
                <a:spcPts val="800"/>
              </a:spcAft>
              <a:defRPr sz="1700" b="0">
                <a:solidFill>
                  <a:srgbClr val="657A92"/>
                </a:solidFill>
                <a:latin typeface="Arial"/>
              </a:defRPr>
            </a:pPr>
            <a:r>
              <a:t>Quan hệ công ty mẹ / con</a:t>
            </a:r>
          </a:p>
          <a:p>
            <a:pPr algn="ctr">
              <a:spcAft>
                <a:spcPts val="800"/>
              </a:spcAft>
              <a:defRPr sz="1700" b="0">
                <a:solidFill>
                  <a:srgbClr val="657A92"/>
                </a:solidFill>
                <a:latin typeface="Arial"/>
              </a:defRPr>
            </a:pPr>
            <a:r>
              <a:t>Tổng hợp theo quyền truy cập</a:t>
            </a:r>
          </a:p>
        </p:txBody>
      </p:sp>
      <p:sp>
        <p:nvSpPr>
          <p:cNvPr id="28" name="Rounded Rectangle 27"/>
          <p:cNvSpPr/>
          <p:nvPr/>
        </p:nvSpPr>
        <p:spPr>
          <a:xfrm>
            <a:off x="621792" y="5833872"/>
            <a:ext cx="10936224" cy="502920"/>
          </a:xfrm>
          <a:prstGeom prst="roundRect">
            <a:avLst>
              <a:gd name="adj" fmla="val 12000"/>
            </a:avLst>
          </a:prstGeom>
          <a:solidFill>
            <a:srgbClr val="FFF3D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77240" y="5916168"/>
            <a:ext cx="10607040" cy="320040"/>
          </a:xfrm>
          <a:prstGeom prst="rect">
            <a:avLst/>
          </a:prstGeom>
          <a:noFill/>
        </p:spPr>
        <p:txBody>
          <a:bodyPr wrap="square" lIns="18288" rIns="18288" tIns="18288" bIns="18288">
            <a:spAutoFit/>
          </a:bodyPr>
          <a:lstStyle/>
          <a:p>
            <a:pPr>
              <a:spcAft>
                <a:spcPts val="800"/>
              </a:spcAft>
              <a:defRPr sz="1400" b="1">
                <a:solidFill>
                  <a:srgbClr val="F7AA3B"/>
                </a:solidFill>
                <a:latin typeface="Arial"/>
              </a:defRPr>
            </a:pPr>
            <a:r>
              <a:t>Mục tiêu AC: tải dưới 1,5 giây với 500 hoạt động — cần đo trên bộ dữ liệu chuẩn.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SPRINT 3 / CHẤT LƯỢNG DỮ LIỆU</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Làm sạch dữ liệu, giữ nguyên lịch sử</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Gộp trùng phải bảo toàn quan hệ, không chỉ xóa một dòng khách hàng.</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15</a:t>
            </a:r>
          </a:p>
        </p:txBody>
      </p:sp>
      <p:sp>
        <p:nvSpPr>
          <p:cNvPr id="9" name="Rounded Rectangle 8"/>
          <p:cNvSpPr/>
          <p:nvPr/>
        </p:nvSpPr>
        <p:spPr>
          <a:xfrm>
            <a:off x="777240" y="2423160"/>
            <a:ext cx="3108960" cy="91440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68680" y="2578608"/>
            <a:ext cx="2926079" cy="685800"/>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Hồ sơ A</a:t>
            </a:r>
          </a:p>
          <a:p>
            <a:pPr algn="ctr">
              <a:spcAft>
                <a:spcPts val="800"/>
              </a:spcAft>
              <a:defRPr sz="1800" b="1">
                <a:solidFill>
                  <a:srgbClr val="1677FF"/>
                </a:solidFill>
                <a:latin typeface="Arial"/>
              </a:defRPr>
            </a:pPr>
            <a:r>
              <a:t>Liên hệ / cơ hội / hoạt động</a:t>
            </a:r>
          </a:p>
        </p:txBody>
      </p:sp>
      <p:sp>
        <p:nvSpPr>
          <p:cNvPr id="11" name="Rounded Rectangle 10"/>
          <p:cNvSpPr/>
          <p:nvPr/>
        </p:nvSpPr>
        <p:spPr>
          <a:xfrm>
            <a:off x="777240" y="3977639"/>
            <a:ext cx="3108960" cy="91440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68680" y="4133087"/>
            <a:ext cx="2926079" cy="685800"/>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Hồ sơ B</a:t>
            </a:r>
          </a:p>
          <a:p>
            <a:pPr algn="ctr">
              <a:spcAft>
                <a:spcPts val="800"/>
              </a:spcAft>
              <a:defRPr sz="1800" b="1">
                <a:solidFill>
                  <a:srgbClr val="1677FF"/>
                </a:solidFill>
                <a:latin typeface="Arial"/>
              </a:defRPr>
            </a:pPr>
            <a:r>
              <a:t>Liên hệ / cơ hội / hoạt động</a:t>
            </a:r>
          </a:p>
        </p:txBody>
      </p:sp>
      <p:cxnSp>
        <p:nvCxnSpPr>
          <p:cNvPr id="13" name="Connector 12"/>
          <p:cNvCxnSpPr/>
          <p:nvPr/>
        </p:nvCxnSpPr>
        <p:spPr>
          <a:xfrm>
            <a:off x="3886200" y="2880360"/>
            <a:ext cx="1691640" cy="731520"/>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468112" y="3447288"/>
            <a:ext cx="274320" cy="320040"/>
          </a:xfrm>
          <a:prstGeom prst="rect">
            <a:avLst/>
          </a:prstGeom>
          <a:noFill/>
        </p:spPr>
        <p:txBody>
          <a:bodyPr wrap="square" lIns="18288" rIns="18288" tIns="18288" bIns="18288">
            <a:spAutoFit/>
          </a:bodyPr>
          <a:lstStyle/>
          <a:p>
            <a:pPr>
              <a:spcAft>
                <a:spcPts val="800"/>
              </a:spcAft>
              <a:defRPr sz="2500" b="1">
                <a:solidFill>
                  <a:srgbClr val="1677FF"/>
                </a:solidFill>
                <a:latin typeface="Arial"/>
              </a:defRPr>
            </a:pPr>
            <a:r>
              <a:t>›</a:t>
            </a:r>
          </a:p>
        </p:txBody>
      </p:sp>
      <p:cxnSp>
        <p:nvCxnSpPr>
          <p:cNvPr id="15" name="Connector 14"/>
          <p:cNvCxnSpPr/>
          <p:nvPr/>
        </p:nvCxnSpPr>
        <p:spPr>
          <a:xfrm flipV="1">
            <a:off x="3886200" y="3611880"/>
            <a:ext cx="1691640" cy="822960"/>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5468112" y="3447288"/>
            <a:ext cx="274320" cy="320040"/>
          </a:xfrm>
          <a:prstGeom prst="rect">
            <a:avLst/>
          </a:prstGeom>
          <a:noFill/>
        </p:spPr>
        <p:txBody>
          <a:bodyPr wrap="square" lIns="18288" rIns="18288" tIns="18288" bIns="18288">
            <a:spAutoFit/>
          </a:bodyPr>
          <a:lstStyle/>
          <a:p>
            <a:pPr>
              <a:spcAft>
                <a:spcPts val="800"/>
              </a:spcAft>
              <a:defRPr sz="2500" b="1">
                <a:solidFill>
                  <a:srgbClr val="1677FF"/>
                </a:solidFill>
                <a:latin typeface="Arial"/>
              </a:defRPr>
            </a:pPr>
            <a:r>
              <a:t>›</a:t>
            </a:r>
          </a:p>
        </p:txBody>
      </p:sp>
      <p:sp>
        <p:nvSpPr>
          <p:cNvPr id="17" name="Rounded Rectangle 16"/>
          <p:cNvSpPr/>
          <p:nvPr/>
        </p:nvSpPr>
        <p:spPr>
          <a:xfrm>
            <a:off x="5577840" y="3063240"/>
            <a:ext cx="5349240" cy="128016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669279" y="3218688"/>
            <a:ext cx="5166359" cy="1051560"/>
          </a:xfrm>
          <a:prstGeom prst="rect">
            <a:avLst/>
          </a:prstGeom>
          <a:noFill/>
        </p:spPr>
        <p:txBody>
          <a:bodyPr wrap="square" lIns="18288" rIns="18288" tIns="18288" bIns="18288">
            <a:spAutoFit/>
          </a:bodyPr>
          <a:lstStyle/>
          <a:p>
            <a:pPr algn="ctr">
              <a:spcAft>
                <a:spcPts val="800"/>
              </a:spcAft>
              <a:defRPr sz="1800" b="1">
                <a:solidFill>
                  <a:srgbClr val="1677FF"/>
                </a:solidFill>
                <a:latin typeface="Arial"/>
              </a:defRPr>
            </a:pPr>
            <a:r>
              <a:t>Một hồ sơ được giữ lại</a:t>
            </a:r>
          </a:p>
          <a:p>
            <a:pPr algn="ctr">
              <a:spcAft>
                <a:spcPts val="800"/>
              </a:spcAft>
              <a:defRPr sz="1800" b="1">
                <a:solidFill>
                  <a:srgbClr val="1677FF"/>
                </a:solidFill>
                <a:latin typeface="Arial"/>
              </a:defRPr>
            </a:pPr>
            <a:r>
              <a:t>Quan hệ và lịch sử được chuyển về</a:t>
            </a:r>
          </a:p>
        </p:txBody>
      </p:sp>
      <p:sp>
        <p:nvSpPr>
          <p:cNvPr id="19" name="TextBox 18"/>
          <p:cNvSpPr txBox="1"/>
          <p:nvPr/>
        </p:nvSpPr>
        <p:spPr>
          <a:xfrm>
            <a:off x="822960" y="5422392"/>
            <a:ext cx="10241280" cy="438912"/>
          </a:xfrm>
          <a:prstGeom prst="rect">
            <a:avLst/>
          </a:prstGeom>
          <a:noFill/>
        </p:spPr>
        <p:txBody>
          <a:bodyPr wrap="square" lIns="18288" rIns="18288" tIns="18288" bIns="18288">
            <a:spAutoFit/>
          </a:bodyPr>
          <a:lstStyle/>
          <a:p>
            <a:pPr>
              <a:spcAft>
                <a:spcPts val="800"/>
              </a:spcAft>
              <a:defRPr sz="1900" b="1">
                <a:solidFill>
                  <a:srgbClr val="132D50"/>
                </a:solidFill>
                <a:latin typeface="Arial"/>
              </a:defRPr>
            </a:pPr>
            <a:r>
              <a:t>So sánh trước khi gộp · Kiểm tra quyền · Không tạo vòng quan hệ mẹ / con</a:t>
            </a:r>
          </a:p>
        </p:txBody>
      </p:sp>
      <p:sp>
        <p:nvSpPr>
          <p:cNvPr id="20" name="Rounded Rectangle 19"/>
          <p:cNvSpPr/>
          <p:nvPr/>
        </p:nvSpPr>
        <p:spPr>
          <a:xfrm>
            <a:off x="621792" y="5897880"/>
            <a:ext cx="10936224" cy="502920"/>
          </a:xfrm>
          <a:prstGeom prst="roundRect">
            <a:avLst>
              <a:gd name="adj" fmla="val 12000"/>
            </a:avLst>
          </a:prstGeom>
          <a:solidFill>
            <a:srgbClr val="EAF3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77240" y="5980176"/>
            <a:ext cx="10607040" cy="320040"/>
          </a:xfrm>
          <a:prstGeom prst="rect">
            <a:avLst/>
          </a:prstGeom>
          <a:noFill/>
        </p:spPr>
        <p:txBody>
          <a:bodyPr wrap="square" lIns="18288" rIns="18288" tIns="18288" bIns="18288">
            <a:spAutoFit/>
          </a:bodyPr>
          <a:lstStyle/>
          <a:p>
            <a:pPr>
              <a:spcAft>
                <a:spcPts val="800"/>
              </a:spcAft>
              <a:defRPr sz="1400" b="1">
                <a:solidFill>
                  <a:srgbClr val="1677FF"/>
                </a:solidFill>
                <a:latin typeface="Arial"/>
              </a:defRPr>
            </a:pPr>
            <a:r>
              <a:t>Import trùng hoàn toàn bị chặn; không dùng nhập lại để tạo thêm khách hàng giống hệt.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SPRINT 4</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Sprint 4 — Từ nguồn lead đến người phụ trách</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Mục tiêu: tiếp nhận có nguồn, ưu tiên rõ và phản hồi đúng hạn.</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16</a:t>
            </a:r>
          </a:p>
        </p:txBody>
      </p:sp>
      <p:sp>
        <p:nvSpPr>
          <p:cNvPr id="9" name="Rounded Rectangle 8"/>
          <p:cNvSpPr/>
          <p:nvPr/>
        </p:nvSpPr>
        <p:spPr>
          <a:xfrm>
            <a:off x="640080" y="2286000"/>
            <a:ext cx="2542032" cy="24688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04671" y="2532888"/>
            <a:ext cx="2212848" cy="365760"/>
          </a:xfrm>
          <a:prstGeom prst="rect">
            <a:avLst/>
          </a:prstGeom>
          <a:noFill/>
        </p:spPr>
        <p:txBody>
          <a:bodyPr wrap="square" lIns="18288" rIns="18288" tIns="18288" bIns="18288">
            <a:spAutoFit/>
          </a:bodyPr>
          <a:lstStyle/>
          <a:p>
            <a:pPr>
              <a:spcAft>
                <a:spcPts val="800"/>
              </a:spcAft>
              <a:defRPr sz="1400" b="1">
                <a:solidFill>
                  <a:srgbClr val="1677FF"/>
                </a:solidFill>
                <a:latin typeface="Arial"/>
              </a:defRPr>
            </a:pPr>
            <a:r>
              <a:t>TIẾP NHẬN</a:t>
            </a:r>
          </a:p>
        </p:txBody>
      </p:sp>
      <p:sp>
        <p:nvSpPr>
          <p:cNvPr id="11" name="TextBox 10"/>
          <p:cNvSpPr txBox="1"/>
          <p:nvPr/>
        </p:nvSpPr>
        <p:spPr>
          <a:xfrm>
            <a:off x="804671" y="3273552"/>
            <a:ext cx="2212848" cy="1051560"/>
          </a:xfrm>
          <a:prstGeom prst="rect">
            <a:avLst/>
          </a:prstGeom>
          <a:noFill/>
        </p:spPr>
        <p:txBody>
          <a:bodyPr wrap="square" lIns="18288" rIns="18288" tIns="18288" bIns="18288">
            <a:spAutoFit/>
          </a:bodyPr>
          <a:lstStyle/>
          <a:p>
            <a:pPr>
              <a:spcAft>
                <a:spcPts val="800"/>
              </a:spcAft>
              <a:defRPr sz="2300" b="1">
                <a:solidFill>
                  <a:srgbClr val="132D50"/>
                </a:solidFill>
                <a:latin typeface="Arial"/>
              </a:defRPr>
            </a:pPr>
            <a:r>
              <a:t>Website / thủ công / Excel</a:t>
            </a:r>
          </a:p>
        </p:txBody>
      </p:sp>
      <p:cxnSp>
        <p:nvCxnSpPr>
          <p:cNvPr id="12" name="Connector 11"/>
          <p:cNvCxnSpPr/>
          <p:nvPr/>
        </p:nvCxnSpPr>
        <p:spPr>
          <a:xfrm>
            <a:off x="3182111" y="3566160"/>
            <a:ext cx="219457" cy="0"/>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3291839" y="3401568"/>
            <a:ext cx="274320" cy="320040"/>
          </a:xfrm>
          <a:prstGeom prst="rect">
            <a:avLst/>
          </a:prstGeom>
          <a:noFill/>
        </p:spPr>
        <p:txBody>
          <a:bodyPr wrap="square" lIns="18288" rIns="18288" tIns="18288" bIns="18288">
            <a:spAutoFit/>
          </a:bodyPr>
          <a:lstStyle/>
          <a:p>
            <a:pPr>
              <a:spcAft>
                <a:spcPts val="800"/>
              </a:spcAft>
              <a:defRPr sz="2500" b="1">
                <a:solidFill>
                  <a:srgbClr val="1677FF"/>
                </a:solidFill>
                <a:latin typeface="Arial"/>
              </a:defRPr>
            </a:pPr>
            <a:r>
              <a:t>›</a:t>
            </a:r>
          </a:p>
        </p:txBody>
      </p:sp>
      <p:sp>
        <p:nvSpPr>
          <p:cNvPr id="14" name="Rounded Rectangle 13"/>
          <p:cNvSpPr/>
          <p:nvPr/>
        </p:nvSpPr>
        <p:spPr>
          <a:xfrm>
            <a:off x="3410711" y="2286000"/>
            <a:ext cx="2542032" cy="24688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575303" y="2532888"/>
            <a:ext cx="2212848" cy="365760"/>
          </a:xfrm>
          <a:prstGeom prst="rect">
            <a:avLst/>
          </a:prstGeom>
          <a:noFill/>
        </p:spPr>
        <p:txBody>
          <a:bodyPr wrap="square" lIns="18288" rIns="18288" tIns="18288" bIns="18288">
            <a:spAutoFit/>
          </a:bodyPr>
          <a:lstStyle/>
          <a:p>
            <a:pPr>
              <a:spcAft>
                <a:spcPts val="800"/>
              </a:spcAft>
              <a:defRPr sz="1400" b="1">
                <a:solidFill>
                  <a:srgbClr val="1677FF"/>
                </a:solidFill>
                <a:latin typeface="Arial"/>
              </a:defRPr>
            </a:pPr>
            <a:r>
              <a:t>LÀM SẠCH</a:t>
            </a:r>
          </a:p>
        </p:txBody>
      </p:sp>
      <p:sp>
        <p:nvSpPr>
          <p:cNvPr id="16" name="TextBox 15"/>
          <p:cNvSpPr txBox="1"/>
          <p:nvPr/>
        </p:nvSpPr>
        <p:spPr>
          <a:xfrm>
            <a:off x="3575303" y="3273552"/>
            <a:ext cx="2212848" cy="1051560"/>
          </a:xfrm>
          <a:prstGeom prst="rect">
            <a:avLst/>
          </a:prstGeom>
          <a:noFill/>
        </p:spPr>
        <p:txBody>
          <a:bodyPr wrap="square" lIns="18288" rIns="18288" tIns="18288" bIns="18288">
            <a:spAutoFit/>
          </a:bodyPr>
          <a:lstStyle/>
          <a:p>
            <a:pPr>
              <a:spcAft>
                <a:spcPts val="800"/>
              </a:spcAft>
              <a:defRPr sz="2300" b="1">
                <a:solidFill>
                  <a:srgbClr val="132D50"/>
                </a:solidFill>
                <a:latin typeface="Arial"/>
              </a:defRPr>
            </a:pPr>
            <a:r>
              <a:t>Nguồn / chiến dịch / trùng</a:t>
            </a:r>
          </a:p>
        </p:txBody>
      </p:sp>
      <p:cxnSp>
        <p:nvCxnSpPr>
          <p:cNvPr id="17" name="Connector 16"/>
          <p:cNvCxnSpPr/>
          <p:nvPr/>
        </p:nvCxnSpPr>
        <p:spPr>
          <a:xfrm>
            <a:off x="5952744" y="3566160"/>
            <a:ext cx="219456" cy="0"/>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6062472" y="3401568"/>
            <a:ext cx="274320" cy="320040"/>
          </a:xfrm>
          <a:prstGeom prst="rect">
            <a:avLst/>
          </a:prstGeom>
          <a:noFill/>
        </p:spPr>
        <p:txBody>
          <a:bodyPr wrap="square" lIns="18288" rIns="18288" tIns="18288" bIns="18288">
            <a:spAutoFit/>
          </a:bodyPr>
          <a:lstStyle/>
          <a:p>
            <a:pPr>
              <a:spcAft>
                <a:spcPts val="800"/>
              </a:spcAft>
              <a:defRPr sz="2500" b="1">
                <a:solidFill>
                  <a:srgbClr val="1677FF"/>
                </a:solidFill>
                <a:latin typeface="Arial"/>
              </a:defRPr>
            </a:pPr>
            <a:r>
              <a:t>›</a:t>
            </a:r>
          </a:p>
        </p:txBody>
      </p:sp>
      <p:sp>
        <p:nvSpPr>
          <p:cNvPr id="19" name="Rounded Rectangle 18"/>
          <p:cNvSpPr/>
          <p:nvPr/>
        </p:nvSpPr>
        <p:spPr>
          <a:xfrm>
            <a:off x="6181344" y="2286000"/>
            <a:ext cx="2542032" cy="24688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345936" y="2532888"/>
            <a:ext cx="2212848" cy="365760"/>
          </a:xfrm>
          <a:prstGeom prst="rect">
            <a:avLst/>
          </a:prstGeom>
          <a:noFill/>
        </p:spPr>
        <p:txBody>
          <a:bodyPr wrap="square" lIns="18288" rIns="18288" tIns="18288" bIns="18288">
            <a:spAutoFit/>
          </a:bodyPr>
          <a:lstStyle/>
          <a:p>
            <a:pPr>
              <a:spcAft>
                <a:spcPts val="800"/>
              </a:spcAft>
              <a:defRPr sz="1400" b="1">
                <a:solidFill>
                  <a:srgbClr val="1677FF"/>
                </a:solidFill>
                <a:latin typeface="Arial"/>
              </a:defRPr>
            </a:pPr>
            <a:r>
              <a:t>ƯU TIÊN</a:t>
            </a:r>
          </a:p>
        </p:txBody>
      </p:sp>
      <p:sp>
        <p:nvSpPr>
          <p:cNvPr id="21" name="TextBox 20"/>
          <p:cNvSpPr txBox="1"/>
          <p:nvPr/>
        </p:nvSpPr>
        <p:spPr>
          <a:xfrm>
            <a:off x="6345936" y="3273552"/>
            <a:ext cx="2212848" cy="1051560"/>
          </a:xfrm>
          <a:prstGeom prst="rect">
            <a:avLst/>
          </a:prstGeom>
          <a:noFill/>
        </p:spPr>
        <p:txBody>
          <a:bodyPr wrap="square" lIns="18288" rIns="18288" tIns="18288" bIns="18288">
            <a:spAutoFit/>
          </a:bodyPr>
          <a:lstStyle/>
          <a:p>
            <a:pPr>
              <a:spcAft>
                <a:spcPts val="800"/>
              </a:spcAft>
              <a:defRPr sz="2300" b="1">
                <a:solidFill>
                  <a:srgbClr val="132D50"/>
                </a:solidFill>
                <a:latin typeface="Arial"/>
              </a:defRPr>
            </a:pPr>
            <a:r>
              <a:t>Điểm và phân loại</a:t>
            </a:r>
          </a:p>
        </p:txBody>
      </p:sp>
      <p:cxnSp>
        <p:nvCxnSpPr>
          <p:cNvPr id="22" name="Connector 21"/>
          <p:cNvCxnSpPr/>
          <p:nvPr/>
        </p:nvCxnSpPr>
        <p:spPr>
          <a:xfrm>
            <a:off x="8723376" y="3566160"/>
            <a:ext cx="219456" cy="0"/>
          </a:xfrm>
          <a:prstGeom prst="line">
            <a:avLst/>
          </a:prstGeom>
          <a:ln w="25400">
            <a:solidFill>
              <a:srgbClr val="1677FF"/>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8833104" y="3401568"/>
            <a:ext cx="274320" cy="320040"/>
          </a:xfrm>
          <a:prstGeom prst="rect">
            <a:avLst/>
          </a:prstGeom>
          <a:noFill/>
        </p:spPr>
        <p:txBody>
          <a:bodyPr wrap="square" lIns="18288" rIns="18288" tIns="18288" bIns="18288">
            <a:spAutoFit/>
          </a:bodyPr>
          <a:lstStyle/>
          <a:p>
            <a:pPr>
              <a:spcAft>
                <a:spcPts val="800"/>
              </a:spcAft>
              <a:defRPr sz="2500" b="1">
                <a:solidFill>
                  <a:srgbClr val="1677FF"/>
                </a:solidFill>
                <a:latin typeface="Arial"/>
              </a:defRPr>
            </a:pPr>
            <a:r>
              <a:t>›</a:t>
            </a:r>
          </a:p>
        </p:txBody>
      </p:sp>
      <p:sp>
        <p:nvSpPr>
          <p:cNvPr id="24" name="Rounded Rectangle 23"/>
          <p:cNvSpPr/>
          <p:nvPr/>
        </p:nvSpPr>
        <p:spPr>
          <a:xfrm>
            <a:off x="8951976" y="2286000"/>
            <a:ext cx="2542032" cy="24688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9116567" y="2532888"/>
            <a:ext cx="2212848" cy="365760"/>
          </a:xfrm>
          <a:prstGeom prst="rect">
            <a:avLst/>
          </a:prstGeom>
          <a:noFill/>
        </p:spPr>
        <p:txBody>
          <a:bodyPr wrap="square" lIns="18288" rIns="18288" tIns="18288" bIns="18288">
            <a:spAutoFit/>
          </a:bodyPr>
          <a:lstStyle/>
          <a:p>
            <a:pPr>
              <a:spcAft>
                <a:spcPts val="800"/>
              </a:spcAft>
              <a:defRPr sz="1400" b="1">
                <a:solidFill>
                  <a:srgbClr val="1677FF"/>
                </a:solidFill>
                <a:latin typeface="Arial"/>
              </a:defRPr>
            </a:pPr>
            <a:r>
              <a:t>GIAO VIỆC</a:t>
            </a:r>
          </a:p>
        </p:txBody>
      </p:sp>
      <p:sp>
        <p:nvSpPr>
          <p:cNvPr id="26" name="TextBox 25"/>
          <p:cNvSpPr txBox="1"/>
          <p:nvPr/>
        </p:nvSpPr>
        <p:spPr>
          <a:xfrm>
            <a:off x="9116567" y="3273552"/>
            <a:ext cx="2212848" cy="1051560"/>
          </a:xfrm>
          <a:prstGeom prst="rect">
            <a:avLst/>
          </a:prstGeom>
          <a:noFill/>
        </p:spPr>
        <p:txBody>
          <a:bodyPr wrap="square" lIns="18288" rIns="18288" tIns="18288" bIns="18288">
            <a:spAutoFit/>
          </a:bodyPr>
          <a:lstStyle/>
          <a:p>
            <a:pPr>
              <a:spcAft>
                <a:spcPts val="800"/>
              </a:spcAft>
              <a:defRPr sz="2300" b="1">
                <a:solidFill>
                  <a:srgbClr val="132D50"/>
                </a:solidFill>
                <a:latin typeface="Arial"/>
              </a:defRPr>
            </a:pPr>
            <a:r>
              <a:t>Quy tắc / hàng chờ / SLA</a:t>
            </a:r>
          </a:p>
        </p:txBody>
      </p:sp>
      <p:sp>
        <p:nvSpPr>
          <p:cNvPr id="27" name="Rounded Rectangle 26"/>
          <p:cNvSpPr/>
          <p:nvPr/>
        </p:nvSpPr>
        <p:spPr>
          <a:xfrm>
            <a:off x="621792" y="5230368"/>
            <a:ext cx="10936224" cy="502920"/>
          </a:xfrm>
          <a:prstGeom prst="roundRect">
            <a:avLst>
              <a:gd name="adj" fmla="val 12000"/>
            </a:avLst>
          </a:prstGeom>
          <a:solidFill>
            <a:srgbClr val="EAF3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77240" y="5312664"/>
            <a:ext cx="10607040" cy="320040"/>
          </a:xfrm>
          <a:prstGeom prst="rect">
            <a:avLst/>
          </a:prstGeom>
          <a:noFill/>
        </p:spPr>
        <p:txBody>
          <a:bodyPr wrap="square" lIns="18288" rIns="18288" tIns="18288" bIns="18288">
            <a:spAutoFit/>
          </a:bodyPr>
          <a:lstStyle/>
          <a:p>
            <a:pPr>
              <a:spcAft>
                <a:spcPts val="800"/>
              </a:spcAft>
              <a:defRPr sz="1400" b="1">
                <a:solidFill>
                  <a:srgbClr val="1677FF"/>
                </a:solidFill>
                <a:latin typeface="Arial"/>
              </a:defRPr>
            </a:pPr>
            <a:r>
              <a:t>Lead đủ điều kiện → khách hàng doanh nghiệp + người liên hệ + cơ hội bán hàng</a:t>
            </a:r>
          </a:p>
        </p:txBody>
      </p:sp>
      <p:sp>
        <p:nvSpPr>
          <p:cNvPr id="29" name="TextBox 28"/>
          <p:cNvSpPr txBox="1"/>
          <p:nvPr/>
        </p:nvSpPr>
        <p:spPr>
          <a:xfrm>
            <a:off x="777240" y="5852160"/>
            <a:ext cx="10698480" cy="320040"/>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S4-01…09 · Có chức năng và test đã ghi nhận; Jira snapshot vẫn To Do, chưa đồng nghĩa nghiệm thu.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SPRINT 4 / CHẤM ĐIỂM</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Điểm lead là quy tắc, không phải ô nhập tay</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Giám đốc / Admin cấu hình tiêu chí; hệ thống tính lại khi dữ liệu lead thay đổi.</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17</a:t>
            </a:r>
          </a:p>
        </p:txBody>
      </p:sp>
      <p:sp>
        <p:nvSpPr>
          <p:cNvPr id="9" name="Rounded Rectangle 8"/>
          <p:cNvSpPr/>
          <p:nvPr/>
        </p:nvSpPr>
        <p:spPr>
          <a:xfrm>
            <a:off x="658368" y="2377440"/>
            <a:ext cx="1965960" cy="15544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49808" y="2587752"/>
            <a:ext cx="1783080" cy="457200"/>
          </a:xfrm>
          <a:prstGeom prst="rect">
            <a:avLst/>
          </a:prstGeom>
          <a:noFill/>
        </p:spPr>
        <p:txBody>
          <a:bodyPr wrap="square" lIns="18288" rIns="18288" tIns="18288" bIns="18288">
            <a:spAutoFit/>
          </a:bodyPr>
          <a:lstStyle/>
          <a:p>
            <a:pPr algn="ctr">
              <a:spcAft>
                <a:spcPts val="800"/>
              </a:spcAft>
              <a:defRPr sz="1600" b="1">
                <a:solidFill>
                  <a:srgbClr val="132D50"/>
                </a:solidFill>
                <a:latin typeface="Arial"/>
              </a:defRPr>
            </a:pPr>
            <a:r>
              <a:t>Ngành phù hợp</a:t>
            </a:r>
          </a:p>
        </p:txBody>
      </p:sp>
      <p:sp>
        <p:nvSpPr>
          <p:cNvPr id="11" name="TextBox 10"/>
          <p:cNvSpPr txBox="1"/>
          <p:nvPr/>
        </p:nvSpPr>
        <p:spPr>
          <a:xfrm>
            <a:off x="749808" y="3081528"/>
            <a:ext cx="1783080" cy="594360"/>
          </a:xfrm>
          <a:prstGeom prst="rect">
            <a:avLst/>
          </a:prstGeom>
          <a:noFill/>
        </p:spPr>
        <p:txBody>
          <a:bodyPr wrap="square" lIns="18288" rIns="18288" tIns="18288" bIns="18288">
            <a:spAutoFit/>
          </a:bodyPr>
          <a:lstStyle/>
          <a:p>
            <a:pPr algn="ctr">
              <a:spcAft>
                <a:spcPts val="800"/>
              </a:spcAft>
              <a:defRPr sz="3000" b="1">
                <a:solidFill>
                  <a:srgbClr val="1677FF"/>
                </a:solidFill>
                <a:latin typeface="Arial"/>
              </a:defRPr>
            </a:pPr>
            <a:r>
              <a:t>+20</a:t>
            </a:r>
          </a:p>
        </p:txBody>
      </p:sp>
      <p:sp>
        <p:nvSpPr>
          <p:cNvPr id="12" name="Rounded Rectangle 11"/>
          <p:cNvSpPr/>
          <p:nvPr/>
        </p:nvSpPr>
        <p:spPr>
          <a:xfrm>
            <a:off x="2834639" y="2377440"/>
            <a:ext cx="1965960" cy="15544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2926079" y="2587752"/>
            <a:ext cx="1783080" cy="457200"/>
          </a:xfrm>
          <a:prstGeom prst="rect">
            <a:avLst/>
          </a:prstGeom>
          <a:noFill/>
        </p:spPr>
        <p:txBody>
          <a:bodyPr wrap="square" lIns="18288" rIns="18288" tIns="18288" bIns="18288">
            <a:spAutoFit/>
          </a:bodyPr>
          <a:lstStyle/>
          <a:p>
            <a:pPr algn="ctr">
              <a:spcAft>
                <a:spcPts val="800"/>
              </a:spcAft>
              <a:defRPr sz="1600" b="1">
                <a:solidFill>
                  <a:srgbClr val="132D50"/>
                </a:solidFill>
                <a:latin typeface="Arial"/>
              </a:defRPr>
            </a:pPr>
            <a:r>
              <a:t>Quy mô</a:t>
            </a:r>
          </a:p>
        </p:txBody>
      </p:sp>
      <p:sp>
        <p:nvSpPr>
          <p:cNvPr id="14" name="TextBox 13"/>
          <p:cNvSpPr txBox="1"/>
          <p:nvPr/>
        </p:nvSpPr>
        <p:spPr>
          <a:xfrm>
            <a:off x="2926079" y="3081528"/>
            <a:ext cx="1783080" cy="594360"/>
          </a:xfrm>
          <a:prstGeom prst="rect">
            <a:avLst/>
          </a:prstGeom>
          <a:noFill/>
        </p:spPr>
        <p:txBody>
          <a:bodyPr wrap="square" lIns="18288" rIns="18288" tIns="18288" bIns="18288">
            <a:spAutoFit/>
          </a:bodyPr>
          <a:lstStyle/>
          <a:p>
            <a:pPr algn="ctr">
              <a:spcAft>
                <a:spcPts val="800"/>
              </a:spcAft>
              <a:defRPr sz="3000" b="1">
                <a:solidFill>
                  <a:srgbClr val="1677FF"/>
                </a:solidFill>
                <a:latin typeface="Arial"/>
              </a:defRPr>
            </a:pPr>
            <a:r>
              <a:t>+10</a:t>
            </a:r>
          </a:p>
        </p:txBody>
      </p:sp>
      <p:sp>
        <p:nvSpPr>
          <p:cNvPr id="15" name="Rounded Rectangle 14"/>
          <p:cNvSpPr/>
          <p:nvPr/>
        </p:nvSpPr>
        <p:spPr>
          <a:xfrm>
            <a:off x="5010912" y="2377440"/>
            <a:ext cx="1965960" cy="15544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102351" y="2587752"/>
            <a:ext cx="1783080" cy="457200"/>
          </a:xfrm>
          <a:prstGeom prst="rect">
            <a:avLst/>
          </a:prstGeom>
          <a:noFill/>
        </p:spPr>
        <p:txBody>
          <a:bodyPr wrap="square" lIns="18288" rIns="18288" tIns="18288" bIns="18288">
            <a:spAutoFit/>
          </a:bodyPr>
          <a:lstStyle/>
          <a:p>
            <a:pPr algn="ctr">
              <a:spcAft>
                <a:spcPts val="800"/>
              </a:spcAft>
              <a:defRPr sz="1600" b="1">
                <a:solidFill>
                  <a:srgbClr val="132D50"/>
                </a:solidFill>
                <a:latin typeface="Arial"/>
              </a:defRPr>
            </a:pPr>
            <a:r>
              <a:t>Nguồn</a:t>
            </a:r>
          </a:p>
        </p:txBody>
      </p:sp>
      <p:sp>
        <p:nvSpPr>
          <p:cNvPr id="17" name="TextBox 16"/>
          <p:cNvSpPr txBox="1"/>
          <p:nvPr/>
        </p:nvSpPr>
        <p:spPr>
          <a:xfrm>
            <a:off x="5102351" y="3081528"/>
            <a:ext cx="1783080" cy="594360"/>
          </a:xfrm>
          <a:prstGeom prst="rect">
            <a:avLst/>
          </a:prstGeom>
          <a:noFill/>
        </p:spPr>
        <p:txBody>
          <a:bodyPr wrap="square" lIns="18288" rIns="18288" tIns="18288" bIns="18288">
            <a:spAutoFit/>
          </a:bodyPr>
          <a:lstStyle/>
          <a:p>
            <a:pPr algn="ctr">
              <a:spcAft>
                <a:spcPts val="800"/>
              </a:spcAft>
              <a:defRPr sz="3000" b="1">
                <a:solidFill>
                  <a:srgbClr val="1677FF"/>
                </a:solidFill>
                <a:latin typeface="Arial"/>
              </a:defRPr>
            </a:pPr>
            <a:r>
              <a:t>+15</a:t>
            </a:r>
          </a:p>
        </p:txBody>
      </p:sp>
      <p:sp>
        <p:nvSpPr>
          <p:cNvPr id="18" name="Rounded Rectangle 17"/>
          <p:cNvSpPr/>
          <p:nvPr/>
        </p:nvSpPr>
        <p:spPr>
          <a:xfrm>
            <a:off x="7187183" y="2377440"/>
            <a:ext cx="1965960" cy="15544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278623" y="2587752"/>
            <a:ext cx="1783080" cy="457200"/>
          </a:xfrm>
          <a:prstGeom prst="rect">
            <a:avLst/>
          </a:prstGeom>
          <a:noFill/>
        </p:spPr>
        <p:txBody>
          <a:bodyPr wrap="square" lIns="18288" rIns="18288" tIns="18288" bIns="18288">
            <a:spAutoFit/>
          </a:bodyPr>
          <a:lstStyle/>
          <a:p>
            <a:pPr algn="ctr">
              <a:spcAft>
                <a:spcPts val="800"/>
              </a:spcAft>
              <a:defRPr sz="1600" b="1">
                <a:solidFill>
                  <a:srgbClr val="132D50"/>
                </a:solidFill>
                <a:latin typeface="Arial"/>
              </a:defRPr>
            </a:pPr>
            <a:r>
              <a:t>Mức quan tâm</a:t>
            </a:r>
          </a:p>
        </p:txBody>
      </p:sp>
      <p:sp>
        <p:nvSpPr>
          <p:cNvPr id="20" name="TextBox 19"/>
          <p:cNvSpPr txBox="1"/>
          <p:nvPr/>
        </p:nvSpPr>
        <p:spPr>
          <a:xfrm>
            <a:off x="7278623" y="3081528"/>
            <a:ext cx="1783080" cy="594360"/>
          </a:xfrm>
          <a:prstGeom prst="rect">
            <a:avLst/>
          </a:prstGeom>
          <a:noFill/>
        </p:spPr>
        <p:txBody>
          <a:bodyPr wrap="square" lIns="18288" rIns="18288" tIns="18288" bIns="18288">
            <a:spAutoFit/>
          </a:bodyPr>
          <a:lstStyle/>
          <a:p>
            <a:pPr algn="ctr">
              <a:spcAft>
                <a:spcPts val="800"/>
              </a:spcAft>
              <a:defRPr sz="3000" b="1">
                <a:solidFill>
                  <a:srgbClr val="1677FF"/>
                </a:solidFill>
                <a:latin typeface="Arial"/>
              </a:defRPr>
            </a:pPr>
            <a:r>
              <a:t>+5</a:t>
            </a:r>
          </a:p>
        </p:txBody>
      </p:sp>
      <p:sp>
        <p:nvSpPr>
          <p:cNvPr id="21" name="Rounded Rectangle 20"/>
          <p:cNvSpPr/>
          <p:nvPr/>
        </p:nvSpPr>
        <p:spPr>
          <a:xfrm>
            <a:off x="9555480" y="2377440"/>
            <a:ext cx="1965960" cy="1554480"/>
          </a:xfrm>
          <a:prstGeom prst="roundRect">
            <a:avLst>
              <a:gd name="adj" fmla="val 12000"/>
            </a:avLst>
          </a:prstGeom>
          <a:solidFill>
            <a:srgbClr val="1677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646920" y="2606040"/>
            <a:ext cx="1783080" cy="320040"/>
          </a:xfrm>
          <a:prstGeom prst="rect">
            <a:avLst/>
          </a:prstGeom>
          <a:noFill/>
        </p:spPr>
        <p:txBody>
          <a:bodyPr wrap="square" lIns="18288" rIns="18288" tIns="18288" bIns="18288">
            <a:spAutoFit/>
          </a:bodyPr>
          <a:lstStyle/>
          <a:p>
            <a:pPr algn="ctr">
              <a:spcAft>
                <a:spcPts val="800"/>
              </a:spcAft>
              <a:defRPr sz="1100" b="1">
                <a:solidFill>
                  <a:srgbClr val="FFFFFF"/>
                </a:solidFill>
                <a:latin typeface="Arial"/>
              </a:defRPr>
            </a:pPr>
            <a:r>
              <a:t>TỔNG MINH HỌA</a:t>
            </a:r>
          </a:p>
        </p:txBody>
      </p:sp>
      <p:sp>
        <p:nvSpPr>
          <p:cNvPr id="23" name="TextBox 22"/>
          <p:cNvSpPr txBox="1"/>
          <p:nvPr/>
        </p:nvSpPr>
        <p:spPr>
          <a:xfrm>
            <a:off x="9646920" y="3063240"/>
            <a:ext cx="1783080" cy="594360"/>
          </a:xfrm>
          <a:prstGeom prst="rect">
            <a:avLst/>
          </a:prstGeom>
          <a:noFill/>
        </p:spPr>
        <p:txBody>
          <a:bodyPr wrap="square" lIns="18288" rIns="18288" tIns="18288" bIns="18288">
            <a:spAutoFit/>
          </a:bodyPr>
          <a:lstStyle/>
          <a:p>
            <a:pPr algn="ctr">
              <a:spcAft>
                <a:spcPts val="800"/>
              </a:spcAft>
              <a:defRPr sz="3200" b="1">
                <a:solidFill>
                  <a:srgbClr val="FFFFFF"/>
                </a:solidFill>
                <a:latin typeface="Arial"/>
              </a:defRPr>
            </a:pPr>
            <a:r>
              <a:t>50</a:t>
            </a:r>
          </a:p>
        </p:txBody>
      </p:sp>
      <p:sp>
        <p:nvSpPr>
          <p:cNvPr id="24" name="TextBox 23"/>
          <p:cNvSpPr txBox="1"/>
          <p:nvPr/>
        </p:nvSpPr>
        <p:spPr>
          <a:xfrm>
            <a:off x="822960" y="4434840"/>
            <a:ext cx="10515600" cy="822960"/>
          </a:xfrm>
          <a:prstGeom prst="rect">
            <a:avLst/>
          </a:prstGeom>
          <a:noFill/>
        </p:spPr>
        <p:txBody>
          <a:bodyPr wrap="square" lIns="18288" rIns="18288" tIns="18288" bIns="18288">
            <a:spAutoFit/>
          </a:bodyPr>
          <a:lstStyle/>
          <a:p>
            <a:pPr>
              <a:spcAft>
                <a:spcPts val="800"/>
              </a:spcAft>
              <a:defRPr sz="2400" b="1">
                <a:solidFill>
                  <a:srgbClr val="132D50"/>
                </a:solidFill>
                <a:latin typeface="Arial"/>
              </a:defRPr>
            </a:pPr>
            <a:r>
              <a:t>Ngưỡng cấu hình → Lạnh / Ấm / Nóng</a:t>
            </a:r>
          </a:p>
          <a:p>
            <a:pPr>
              <a:spcAft>
                <a:spcPts val="800"/>
              </a:spcAft>
              <a:defRPr sz="2400" b="1">
                <a:solidFill>
                  <a:srgbClr val="132D50"/>
                </a:solidFill>
                <a:latin typeface="Arial"/>
              </a:defRPr>
            </a:pPr>
            <a:r>
              <a:t>Điểm chỉ sắp xếp ưu tiên, không tự động loại lead.</a:t>
            </a:r>
          </a:p>
        </p:txBody>
      </p:sp>
      <p:sp>
        <p:nvSpPr>
          <p:cNvPr id="25" name="Rounded Rectangle 24"/>
          <p:cNvSpPr/>
          <p:nvPr/>
        </p:nvSpPr>
        <p:spPr>
          <a:xfrm>
            <a:off x="621792" y="5715000"/>
            <a:ext cx="10936224" cy="502920"/>
          </a:xfrm>
          <a:prstGeom prst="roundRect">
            <a:avLst>
              <a:gd name="adj" fmla="val 12000"/>
            </a:avLst>
          </a:prstGeom>
          <a:solidFill>
            <a:srgbClr val="FFF3D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77240" y="5797296"/>
            <a:ext cx="10607040" cy="320040"/>
          </a:xfrm>
          <a:prstGeom prst="rect">
            <a:avLst/>
          </a:prstGeom>
          <a:noFill/>
        </p:spPr>
        <p:txBody>
          <a:bodyPr wrap="square" lIns="18288" rIns="18288" tIns="18288" bIns="18288">
            <a:spAutoFit/>
          </a:bodyPr>
          <a:lstStyle/>
          <a:p>
            <a:pPr>
              <a:spcAft>
                <a:spcPts val="800"/>
              </a:spcAft>
              <a:defRPr sz="1400" b="1">
                <a:solidFill>
                  <a:srgbClr val="F7AA3B"/>
                </a:solidFill>
                <a:latin typeface="Arial"/>
              </a:defRPr>
            </a:pPr>
            <a:r>
              <a:t>Các số trên chỉ là ví dụ giải thích; không khẳng định đây là cấu hình đang chạy.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SPRINT 4 / PHÂN BỔ</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Phân bổ và SLA tạo trách nhiệm xử lý</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Quy tắc đầu tiên khớp được ưu tiên; không khớp thì chuyển vào hàng chờ.</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18</a:t>
            </a:r>
          </a:p>
        </p:txBody>
      </p:sp>
      <p:sp>
        <p:nvSpPr>
          <p:cNvPr id="9" name="Rounded Rectangle 8"/>
          <p:cNvSpPr/>
          <p:nvPr/>
        </p:nvSpPr>
        <p:spPr>
          <a:xfrm>
            <a:off x="621792" y="2103120"/>
            <a:ext cx="3520440" cy="329184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22960" y="227685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01 / GIAO ĐÚNG NGƯỜI</a:t>
            </a:r>
          </a:p>
        </p:txBody>
      </p:sp>
      <p:sp>
        <p:nvSpPr>
          <p:cNvPr id="11" name="TextBox 10"/>
          <p:cNvSpPr txBox="1"/>
          <p:nvPr/>
        </p:nvSpPr>
        <p:spPr>
          <a:xfrm>
            <a:off x="822960" y="271576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Khu vực / ngành / xoay vòng</a:t>
            </a:r>
          </a:p>
        </p:txBody>
      </p:sp>
      <p:sp>
        <p:nvSpPr>
          <p:cNvPr id="12" name="TextBox 11"/>
          <p:cNvSpPr txBox="1"/>
          <p:nvPr/>
        </p:nvSpPr>
        <p:spPr>
          <a:xfrm>
            <a:off x="822960" y="3611879"/>
            <a:ext cx="3118104" cy="1664208"/>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Quy tắc có thứ tự ưu tiên.</a:t>
            </a:r>
          </a:p>
          <a:p>
            <a:pPr>
              <a:spcAft>
                <a:spcPts val="800"/>
              </a:spcAft>
              <a:defRPr sz="1700" b="0">
                <a:solidFill>
                  <a:srgbClr val="233B59"/>
                </a:solidFill>
                <a:latin typeface="Arial"/>
              </a:defRPr>
            </a:pPr>
            <a:r>
              <a:t>Không khớp: trưởng nhóm phân tay.</a:t>
            </a:r>
          </a:p>
        </p:txBody>
      </p:sp>
      <p:sp>
        <p:nvSpPr>
          <p:cNvPr id="13" name="Rounded Rectangle 12"/>
          <p:cNvSpPr/>
          <p:nvPr/>
        </p:nvSpPr>
        <p:spPr>
          <a:xfrm>
            <a:off x="4334256" y="2103120"/>
            <a:ext cx="3520440" cy="329184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35424" y="227685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02 / PHẢN HỒI</a:t>
            </a:r>
          </a:p>
        </p:txBody>
      </p:sp>
      <p:sp>
        <p:nvSpPr>
          <p:cNvPr id="15" name="TextBox 14"/>
          <p:cNvSpPr txBox="1"/>
          <p:nvPr/>
        </p:nvSpPr>
        <p:spPr>
          <a:xfrm>
            <a:off x="4535424" y="271576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Nhận hoặc từ chối</a:t>
            </a:r>
          </a:p>
        </p:txBody>
      </p:sp>
      <p:sp>
        <p:nvSpPr>
          <p:cNvPr id="16" name="TextBox 15"/>
          <p:cNvSpPr txBox="1"/>
          <p:nvPr/>
        </p:nvSpPr>
        <p:spPr>
          <a:xfrm>
            <a:off x="4535424" y="3611879"/>
            <a:ext cx="3118104" cy="1664208"/>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Nhận: chuyển chăm sóc.</a:t>
            </a:r>
          </a:p>
          <a:p>
            <a:pPr>
              <a:spcAft>
                <a:spcPts val="800"/>
              </a:spcAft>
              <a:defRPr sz="1700" b="0">
                <a:solidFill>
                  <a:srgbClr val="233B59"/>
                </a:solidFill>
                <a:latin typeface="Arial"/>
              </a:defRPr>
            </a:pPr>
            <a:r>
              <a:t>Từ chối: phải có lý do và trả về hàng chờ.</a:t>
            </a:r>
          </a:p>
        </p:txBody>
      </p:sp>
      <p:sp>
        <p:nvSpPr>
          <p:cNvPr id="17" name="Rounded Rectangle 16"/>
          <p:cNvSpPr/>
          <p:nvPr/>
        </p:nvSpPr>
        <p:spPr>
          <a:xfrm>
            <a:off x="8046720" y="2103120"/>
            <a:ext cx="3520440" cy="329184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47888" y="227685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03 / THEO DÕI</a:t>
            </a:r>
          </a:p>
        </p:txBody>
      </p:sp>
      <p:sp>
        <p:nvSpPr>
          <p:cNvPr id="19" name="TextBox 18"/>
          <p:cNvSpPr txBox="1"/>
          <p:nvPr/>
        </p:nvSpPr>
        <p:spPr>
          <a:xfrm>
            <a:off x="8247888" y="271576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Quá hạn phải nổi bật</a:t>
            </a:r>
          </a:p>
        </p:txBody>
      </p:sp>
      <p:sp>
        <p:nvSpPr>
          <p:cNvPr id="20" name="TextBox 19"/>
          <p:cNvSpPr txBox="1"/>
          <p:nvPr/>
        </p:nvSpPr>
        <p:spPr>
          <a:xfrm>
            <a:off x="8247888" y="3611879"/>
            <a:ext cx="3118104" cy="1664208"/>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SLA cấu hình theo nghiệp vụ.</a:t>
            </a:r>
          </a:p>
          <a:p>
            <a:pPr>
              <a:spcAft>
                <a:spcPts val="800"/>
              </a:spcAft>
              <a:defRPr sz="1700" b="0">
                <a:solidFill>
                  <a:srgbClr val="233B59"/>
                </a:solidFill>
                <a:latin typeface="Arial"/>
              </a:defRPr>
            </a:pPr>
            <a:r>
              <a:t>Gắn cờ và thông báo cho người quản lý.</a:t>
            </a:r>
          </a:p>
        </p:txBody>
      </p:sp>
      <p:sp>
        <p:nvSpPr>
          <p:cNvPr id="21" name="Rounded Rectangle 20"/>
          <p:cNvSpPr/>
          <p:nvPr/>
        </p:nvSpPr>
        <p:spPr>
          <a:xfrm>
            <a:off x="621792" y="5733288"/>
            <a:ext cx="10936224" cy="502920"/>
          </a:xfrm>
          <a:prstGeom prst="roundRect">
            <a:avLst>
              <a:gd name="adj" fmla="val 12000"/>
            </a:avLst>
          </a:prstGeom>
          <a:solidFill>
            <a:srgbClr val="FFF3D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77240" y="5815583"/>
            <a:ext cx="10607040" cy="320040"/>
          </a:xfrm>
          <a:prstGeom prst="rect">
            <a:avLst/>
          </a:prstGeom>
          <a:noFill/>
        </p:spPr>
        <p:txBody>
          <a:bodyPr wrap="square" lIns="18288" rIns="18288" tIns="18288" bIns="18288">
            <a:spAutoFit/>
          </a:bodyPr>
          <a:lstStyle/>
          <a:p>
            <a:pPr>
              <a:spcAft>
                <a:spcPts val="800"/>
              </a:spcAft>
              <a:defRPr sz="1400" b="1">
                <a:solidFill>
                  <a:srgbClr val="F7AA3B"/>
                </a:solidFill>
                <a:latin typeface="Arial"/>
              </a:defRPr>
            </a:pPr>
            <a:r>
              <a:t>AC phân bổ: hoàn tất trong 5 phút; cần đo thời gian ở tải thực tế trước khi kết luận đạt.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TIẾN ĐỘ / NGUỒN JIRA</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Trạng thái Jira: ảnh chụp ngày 18/10</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Chỉ đếm 38 story chính được gắn S1–S4; không cộng subtask hoặc technical task.</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19</a:t>
            </a:r>
          </a:p>
        </p:txBody>
      </p:sp>
      <p:sp>
        <p:nvSpPr>
          <p:cNvPr id="9" name="TextBox 8"/>
          <p:cNvSpPr txBox="1"/>
          <p:nvPr/>
        </p:nvSpPr>
        <p:spPr>
          <a:xfrm>
            <a:off x="777240" y="2057400"/>
            <a:ext cx="1828800" cy="320040"/>
          </a:xfrm>
          <a:prstGeom prst="rect">
            <a:avLst/>
          </a:prstGeom>
          <a:noFill/>
        </p:spPr>
        <p:txBody>
          <a:bodyPr wrap="square" lIns="18288" rIns="18288" tIns="18288" bIns="18288">
            <a:spAutoFit/>
          </a:bodyPr>
          <a:lstStyle/>
          <a:p>
            <a:pPr>
              <a:spcAft>
                <a:spcPts val="800"/>
              </a:spcAft>
              <a:defRPr sz="1500" b="1">
                <a:solidFill>
                  <a:srgbClr val="657A92"/>
                </a:solidFill>
                <a:latin typeface="Arial"/>
              </a:defRPr>
            </a:pPr>
            <a:r>
              <a:t>Sprint</a:t>
            </a:r>
          </a:p>
        </p:txBody>
      </p:sp>
      <p:sp>
        <p:nvSpPr>
          <p:cNvPr id="10" name="TextBox 9"/>
          <p:cNvSpPr txBox="1"/>
          <p:nvPr/>
        </p:nvSpPr>
        <p:spPr>
          <a:xfrm>
            <a:off x="8229600" y="2057400"/>
            <a:ext cx="3291840" cy="320040"/>
          </a:xfrm>
          <a:prstGeom prst="rect">
            <a:avLst/>
          </a:prstGeom>
          <a:noFill/>
        </p:spPr>
        <p:txBody>
          <a:bodyPr wrap="square" lIns="18288" rIns="18288" tIns="18288" bIns="18288">
            <a:spAutoFit/>
          </a:bodyPr>
          <a:lstStyle/>
          <a:p>
            <a:pPr>
              <a:spcAft>
                <a:spcPts val="800"/>
              </a:spcAft>
              <a:defRPr sz="1400" b="1">
                <a:solidFill>
                  <a:srgbClr val="657A92"/>
                </a:solidFill>
                <a:latin typeface="Arial"/>
              </a:defRPr>
            </a:pPr>
            <a:r>
              <a:t>Done / In Progress / To Do</a:t>
            </a:r>
          </a:p>
        </p:txBody>
      </p:sp>
      <p:sp>
        <p:nvSpPr>
          <p:cNvPr id="11" name="TextBox 10"/>
          <p:cNvSpPr txBox="1"/>
          <p:nvPr/>
        </p:nvSpPr>
        <p:spPr>
          <a:xfrm>
            <a:off x="777240" y="2697480"/>
            <a:ext cx="1554480" cy="365760"/>
          </a:xfrm>
          <a:prstGeom prst="rect">
            <a:avLst/>
          </a:prstGeom>
          <a:noFill/>
        </p:spPr>
        <p:txBody>
          <a:bodyPr wrap="square" lIns="18288" rIns="18288" tIns="18288" bIns="18288">
            <a:spAutoFit/>
          </a:bodyPr>
          <a:lstStyle/>
          <a:p>
            <a:pPr>
              <a:spcAft>
                <a:spcPts val="800"/>
              </a:spcAft>
              <a:defRPr sz="2000" b="1">
                <a:solidFill>
                  <a:srgbClr val="132D50"/>
                </a:solidFill>
                <a:latin typeface="Arial"/>
              </a:defRPr>
            </a:pPr>
            <a:r>
              <a:t>Sprint 1</a:t>
            </a:r>
          </a:p>
        </p:txBody>
      </p:sp>
      <p:sp>
        <p:nvSpPr>
          <p:cNvPr id="12" name="Rectangle 11"/>
          <p:cNvSpPr/>
          <p:nvPr/>
        </p:nvSpPr>
        <p:spPr>
          <a:xfrm>
            <a:off x="2560320" y="2734056"/>
            <a:ext cx="4242816" cy="329184"/>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6803136" y="2734056"/>
            <a:ext cx="1060704" cy="329184"/>
          </a:xfrm>
          <a:prstGeom prst="rect">
            <a:avLst/>
          </a:prstGeom>
          <a:solidFill>
            <a:srgbClr val="F7AA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503920" y="2697480"/>
            <a:ext cx="2560320" cy="365760"/>
          </a:xfrm>
          <a:prstGeom prst="rect">
            <a:avLst/>
          </a:prstGeom>
          <a:noFill/>
        </p:spPr>
        <p:txBody>
          <a:bodyPr wrap="square" lIns="18288" rIns="18288" tIns="18288" bIns="18288">
            <a:spAutoFit/>
          </a:bodyPr>
          <a:lstStyle/>
          <a:p>
            <a:pPr>
              <a:spcAft>
                <a:spcPts val="800"/>
              </a:spcAft>
              <a:defRPr sz="2000" b="1">
                <a:solidFill>
                  <a:srgbClr val="132D50"/>
                </a:solidFill>
                <a:latin typeface="Arial"/>
              </a:defRPr>
            </a:pPr>
            <a:r>
              <a:t>8  /  2  /  0</a:t>
            </a:r>
          </a:p>
        </p:txBody>
      </p:sp>
      <p:sp>
        <p:nvSpPr>
          <p:cNvPr id="15" name="TextBox 14"/>
          <p:cNvSpPr txBox="1"/>
          <p:nvPr/>
        </p:nvSpPr>
        <p:spPr>
          <a:xfrm>
            <a:off x="777240" y="3392424"/>
            <a:ext cx="1554480" cy="365760"/>
          </a:xfrm>
          <a:prstGeom prst="rect">
            <a:avLst/>
          </a:prstGeom>
          <a:noFill/>
        </p:spPr>
        <p:txBody>
          <a:bodyPr wrap="square" lIns="18288" rIns="18288" tIns="18288" bIns="18288">
            <a:spAutoFit/>
          </a:bodyPr>
          <a:lstStyle/>
          <a:p>
            <a:pPr>
              <a:spcAft>
                <a:spcPts val="800"/>
              </a:spcAft>
              <a:defRPr sz="2000" b="1">
                <a:solidFill>
                  <a:srgbClr val="132D50"/>
                </a:solidFill>
                <a:latin typeface="Arial"/>
              </a:defRPr>
            </a:pPr>
            <a:r>
              <a:t>Sprint 2</a:t>
            </a:r>
          </a:p>
        </p:txBody>
      </p:sp>
      <p:sp>
        <p:nvSpPr>
          <p:cNvPr id="16" name="Rectangle 15"/>
          <p:cNvSpPr/>
          <p:nvPr/>
        </p:nvSpPr>
        <p:spPr>
          <a:xfrm>
            <a:off x="2560320" y="3429000"/>
            <a:ext cx="5303520" cy="329184"/>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503920" y="3392424"/>
            <a:ext cx="2560320" cy="365760"/>
          </a:xfrm>
          <a:prstGeom prst="rect">
            <a:avLst/>
          </a:prstGeom>
          <a:noFill/>
        </p:spPr>
        <p:txBody>
          <a:bodyPr wrap="square" lIns="18288" rIns="18288" tIns="18288" bIns="18288">
            <a:spAutoFit/>
          </a:bodyPr>
          <a:lstStyle/>
          <a:p>
            <a:pPr>
              <a:spcAft>
                <a:spcPts val="800"/>
              </a:spcAft>
              <a:defRPr sz="2000" b="1">
                <a:solidFill>
                  <a:srgbClr val="132D50"/>
                </a:solidFill>
                <a:latin typeface="Arial"/>
              </a:defRPr>
            </a:pPr>
            <a:r>
              <a:t>10  /  0  /  0</a:t>
            </a:r>
          </a:p>
        </p:txBody>
      </p:sp>
      <p:sp>
        <p:nvSpPr>
          <p:cNvPr id="18" name="TextBox 17"/>
          <p:cNvSpPr txBox="1"/>
          <p:nvPr/>
        </p:nvSpPr>
        <p:spPr>
          <a:xfrm>
            <a:off x="777240" y="4087368"/>
            <a:ext cx="1554480" cy="365760"/>
          </a:xfrm>
          <a:prstGeom prst="rect">
            <a:avLst/>
          </a:prstGeom>
          <a:noFill/>
        </p:spPr>
        <p:txBody>
          <a:bodyPr wrap="square" lIns="18288" rIns="18288" tIns="18288" bIns="18288">
            <a:spAutoFit/>
          </a:bodyPr>
          <a:lstStyle/>
          <a:p>
            <a:pPr>
              <a:spcAft>
                <a:spcPts val="800"/>
              </a:spcAft>
              <a:defRPr sz="2000" b="1">
                <a:solidFill>
                  <a:srgbClr val="132D50"/>
                </a:solidFill>
                <a:latin typeface="Arial"/>
              </a:defRPr>
            </a:pPr>
            <a:r>
              <a:t>Sprint 3</a:t>
            </a:r>
          </a:p>
        </p:txBody>
      </p:sp>
      <p:sp>
        <p:nvSpPr>
          <p:cNvPr id="19" name="Rectangle 18"/>
          <p:cNvSpPr/>
          <p:nvPr/>
        </p:nvSpPr>
        <p:spPr>
          <a:xfrm>
            <a:off x="2560320" y="4123944"/>
            <a:ext cx="1767839" cy="329184"/>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4328159" y="4123944"/>
            <a:ext cx="3535679" cy="329184"/>
          </a:xfrm>
          <a:prstGeom prst="rect">
            <a:avLst/>
          </a:prstGeom>
          <a:solidFill>
            <a:srgbClr val="F7AA3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503920" y="4087368"/>
            <a:ext cx="2560320" cy="365760"/>
          </a:xfrm>
          <a:prstGeom prst="rect">
            <a:avLst/>
          </a:prstGeom>
          <a:noFill/>
        </p:spPr>
        <p:txBody>
          <a:bodyPr wrap="square" lIns="18288" rIns="18288" tIns="18288" bIns="18288">
            <a:spAutoFit/>
          </a:bodyPr>
          <a:lstStyle/>
          <a:p>
            <a:pPr>
              <a:spcAft>
                <a:spcPts val="800"/>
              </a:spcAft>
              <a:defRPr sz="2000" b="1">
                <a:solidFill>
                  <a:srgbClr val="132D50"/>
                </a:solidFill>
                <a:latin typeface="Arial"/>
              </a:defRPr>
            </a:pPr>
            <a:r>
              <a:t>3  /  6  /  0</a:t>
            </a:r>
          </a:p>
        </p:txBody>
      </p:sp>
      <p:sp>
        <p:nvSpPr>
          <p:cNvPr id="22" name="TextBox 21"/>
          <p:cNvSpPr txBox="1"/>
          <p:nvPr/>
        </p:nvSpPr>
        <p:spPr>
          <a:xfrm>
            <a:off x="777240" y="4782312"/>
            <a:ext cx="1554480" cy="365760"/>
          </a:xfrm>
          <a:prstGeom prst="rect">
            <a:avLst/>
          </a:prstGeom>
          <a:noFill/>
        </p:spPr>
        <p:txBody>
          <a:bodyPr wrap="square" lIns="18288" rIns="18288" tIns="18288" bIns="18288">
            <a:spAutoFit/>
          </a:bodyPr>
          <a:lstStyle/>
          <a:p>
            <a:pPr>
              <a:spcAft>
                <a:spcPts val="800"/>
              </a:spcAft>
              <a:defRPr sz="2000" b="1">
                <a:solidFill>
                  <a:srgbClr val="132D50"/>
                </a:solidFill>
                <a:latin typeface="Arial"/>
              </a:defRPr>
            </a:pPr>
            <a:r>
              <a:t>Sprint 4</a:t>
            </a:r>
          </a:p>
        </p:txBody>
      </p:sp>
      <p:sp>
        <p:nvSpPr>
          <p:cNvPr id="23" name="Rectangle 22"/>
          <p:cNvSpPr/>
          <p:nvPr/>
        </p:nvSpPr>
        <p:spPr>
          <a:xfrm>
            <a:off x="2560320" y="4818888"/>
            <a:ext cx="5303520" cy="329184"/>
          </a:xfrm>
          <a:prstGeom prst="rect">
            <a:avLst/>
          </a:prstGeom>
          <a:solidFill>
            <a:srgbClr val="C9D5E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503920" y="4782312"/>
            <a:ext cx="2560320" cy="365760"/>
          </a:xfrm>
          <a:prstGeom prst="rect">
            <a:avLst/>
          </a:prstGeom>
          <a:noFill/>
        </p:spPr>
        <p:txBody>
          <a:bodyPr wrap="square" lIns="18288" rIns="18288" tIns="18288" bIns="18288">
            <a:spAutoFit/>
          </a:bodyPr>
          <a:lstStyle/>
          <a:p>
            <a:pPr>
              <a:spcAft>
                <a:spcPts val="800"/>
              </a:spcAft>
              <a:defRPr sz="2000" b="1">
                <a:solidFill>
                  <a:srgbClr val="132D50"/>
                </a:solidFill>
                <a:latin typeface="Arial"/>
              </a:defRPr>
            </a:pPr>
            <a:r>
              <a:t>0  /  0  /  9</a:t>
            </a:r>
          </a:p>
        </p:txBody>
      </p:sp>
      <p:sp>
        <p:nvSpPr>
          <p:cNvPr id="25" name="TextBox 24"/>
          <p:cNvSpPr txBox="1"/>
          <p:nvPr/>
        </p:nvSpPr>
        <p:spPr>
          <a:xfrm>
            <a:off x="777240" y="5623560"/>
            <a:ext cx="10607040" cy="548640"/>
          </a:xfrm>
          <a:prstGeom prst="rect">
            <a:avLst/>
          </a:prstGeom>
          <a:noFill/>
        </p:spPr>
        <p:txBody>
          <a:bodyPr wrap="square" lIns="18288" rIns="18288" tIns="18288" bIns="18288">
            <a:spAutoFit/>
          </a:bodyPr>
          <a:lstStyle/>
          <a:p>
            <a:pPr>
              <a:spcAft>
                <a:spcPts val="800"/>
              </a:spcAft>
              <a:defRPr sz="1800" b="0">
                <a:solidFill>
                  <a:srgbClr val="657A92"/>
                </a:solidFill>
                <a:latin typeface="Arial"/>
              </a:defRPr>
            </a:pPr>
            <a:r>
              <a:t>21 Done · 8 In Progress · 9 To Do. Không phải trạng thái Jira live ngày 21/10.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KIỂM THỬ</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Kiểm thử có bằng chứng, có phạm vi</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Các kết quả dưới đây đã được ghi nhận trên những phiên bản tương ứng, không phải lần chạy lại hôm nay.</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20</a:t>
            </a:r>
          </a:p>
        </p:txBody>
      </p:sp>
      <p:sp>
        <p:nvSpPr>
          <p:cNvPr id="9" name="Rounded Rectangle 8"/>
          <p:cNvSpPr/>
          <p:nvPr/>
        </p:nvSpPr>
        <p:spPr>
          <a:xfrm>
            <a:off x="621792" y="2103120"/>
            <a:ext cx="3520440" cy="33832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22960" y="227685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CRM / BACKEND</a:t>
            </a:r>
          </a:p>
        </p:txBody>
      </p:sp>
      <p:sp>
        <p:nvSpPr>
          <p:cNvPr id="11" name="TextBox 10"/>
          <p:cNvSpPr txBox="1"/>
          <p:nvPr/>
        </p:nvSpPr>
        <p:spPr>
          <a:xfrm>
            <a:off x="822960" y="271576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121 / 121 test</a:t>
            </a:r>
          </a:p>
        </p:txBody>
      </p:sp>
      <p:sp>
        <p:nvSpPr>
          <p:cNvPr id="12" name="TextBox 11"/>
          <p:cNvSpPr txBox="1"/>
          <p:nvPr/>
        </p:nvSpPr>
        <p:spPr>
          <a:xfrm>
            <a:off x="822960" y="3611879"/>
            <a:ext cx="3118104" cy="1755648"/>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14 suite trên DB test.</a:t>
            </a:r>
          </a:p>
          <a:p>
            <a:pPr>
              <a:spcAft>
                <a:spcPts val="800"/>
              </a:spcAft>
              <a:defRPr sz="1700" b="0">
                <a:solidFill>
                  <a:srgbClr val="233B59"/>
                </a:solidFill>
                <a:latin typeface="Arial"/>
              </a:defRPr>
            </a:pPr>
            <a:r>
              <a:t>Đã kiểm tra MySQL và MariaDB.</a:t>
            </a:r>
          </a:p>
          <a:p>
            <a:pPr>
              <a:spcAft>
                <a:spcPts val="800"/>
              </a:spcAft>
              <a:defRPr sz="1700" b="0">
                <a:solidFill>
                  <a:srgbClr val="233B59"/>
                </a:solidFill>
                <a:latin typeface="Arial"/>
              </a:defRPr>
            </a:pPr>
            <a:r>
              <a:t>Nguồn: log bản sửa login 15 giây.</a:t>
            </a:r>
          </a:p>
        </p:txBody>
      </p:sp>
      <p:sp>
        <p:nvSpPr>
          <p:cNvPr id="13" name="Rounded Rectangle 12"/>
          <p:cNvSpPr/>
          <p:nvPr/>
        </p:nvSpPr>
        <p:spPr>
          <a:xfrm>
            <a:off x="4334256" y="2103120"/>
            <a:ext cx="3520440" cy="33832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35424" y="227685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CRM / TRÌNH DUYỆT</a:t>
            </a:r>
          </a:p>
        </p:txBody>
      </p:sp>
      <p:sp>
        <p:nvSpPr>
          <p:cNvPr id="15" name="TextBox 14"/>
          <p:cNvSpPr txBox="1"/>
          <p:nvPr/>
        </p:nvSpPr>
        <p:spPr>
          <a:xfrm>
            <a:off x="4535424" y="271576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50 / 50 test</a:t>
            </a:r>
          </a:p>
        </p:txBody>
      </p:sp>
      <p:sp>
        <p:nvSpPr>
          <p:cNvPr id="16" name="TextBox 15"/>
          <p:cNvSpPr txBox="1"/>
          <p:nvPr/>
        </p:nvSpPr>
        <p:spPr>
          <a:xfrm>
            <a:off x="4535424" y="3611879"/>
            <a:ext cx="3118104" cy="1755648"/>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Luồng UI trên DB test.</a:t>
            </a:r>
          </a:p>
          <a:p>
            <a:pPr>
              <a:spcAft>
                <a:spcPts val="800"/>
              </a:spcAft>
              <a:defRPr sz="1700" b="0">
                <a:solidFill>
                  <a:srgbClr val="233B59"/>
                </a:solidFill>
                <a:latin typeface="Arial"/>
              </a:defRPr>
            </a:pPr>
            <a:r>
              <a:t>Đã sửa đường dẫn CI và cô lập giới hạn login giữa test.</a:t>
            </a:r>
          </a:p>
        </p:txBody>
      </p:sp>
      <p:sp>
        <p:nvSpPr>
          <p:cNvPr id="17" name="Rounded Rectangle 16"/>
          <p:cNvSpPr/>
          <p:nvPr/>
        </p:nvSpPr>
        <p:spPr>
          <a:xfrm>
            <a:off x="8046720" y="2103120"/>
            <a:ext cx="3520440" cy="33832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47888" y="227685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BẢN MẪU NHẬP USER</a:t>
            </a:r>
          </a:p>
        </p:txBody>
      </p:sp>
      <p:sp>
        <p:nvSpPr>
          <p:cNvPr id="19" name="TextBox 18"/>
          <p:cNvSpPr txBox="1"/>
          <p:nvPr/>
        </p:nvSpPr>
        <p:spPr>
          <a:xfrm>
            <a:off x="8247888" y="271576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11 / 11 test</a:t>
            </a:r>
          </a:p>
        </p:txBody>
      </p:sp>
      <p:sp>
        <p:nvSpPr>
          <p:cNvPr id="20" name="TextBox 19"/>
          <p:cNvSpPr txBox="1"/>
          <p:nvPr/>
        </p:nvSpPr>
        <p:spPr>
          <a:xfrm>
            <a:off x="8247888" y="3611879"/>
            <a:ext cx="3118104" cy="1755648"/>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Preview, lỗi từng dòng, trùng.</a:t>
            </a:r>
          </a:p>
          <a:p>
            <a:pPr>
              <a:spcAft>
                <a:spcPts val="800"/>
              </a:spcAft>
              <a:defRPr sz="1700" b="0">
                <a:solidFill>
                  <a:srgbClr val="233B59"/>
                </a:solidFill>
                <a:latin typeface="Arial"/>
              </a:defRPr>
            </a:pPr>
            <a:r>
              <a:t>Nhập lại / đồng thời, báo cáo.</a:t>
            </a:r>
          </a:p>
          <a:p>
            <a:pPr>
              <a:spcAft>
                <a:spcPts val="800"/>
              </a:spcAft>
              <a:defRPr sz="1700" b="0">
                <a:solidFill>
                  <a:srgbClr val="233B59"/>
                </a:solidFill>
                <a:latin typeface="Arial"/>
              </a:defRPr>
            </a:pPr>
            <a:r>
              <a:t>Tách riêng với test CRM.</a:t>
            </a:r>
          </a:p>
        </p:txBody>
      </p:sp>
      <p:sp>
        <p:nvSpPr>
          <p:cNvPr id="21" name="Rounded Rectangle 20"/>
          <p:cNvSpPr/>
          <p:nvPr/>
        </p:nvSpPr>
        <p:spPr>
          <a:xfrm>
            <a:off x="621792" y="5715000"/>
            <a:ext cx="10936224" cy="502920"/>
          </a:xfrm>
          <a:prstGeom prst="roundRect">
            <a:avLst>
              <a:gd name="adj" fmla="val 12000"/>
            </a:avLst>
          </a:prstGeom>
          <a:solidFill>
            <a:srgbClr val="EAF3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77240" y="5797296"/>
            <a:ext cx="10607040" cy="320040"/>
          </a:xfrm>
          <a:prstGeom prst="rect">
            <a:avLst/>
          </a:prstGeom>
          <a:noFill/>
        </p:spPr>
        <p:txBody>
          <a:bodyPr wrap="square" lIns="18288" rIns="18288" tIns="18288" bIns="18288">
            <a:spAutoFit/>
          </a:bodyPr>
          <a:lstStyle/>
          <a:p>
            <a:pPr>
              <a:spcAft>
                <a:spcPts val="800"/>
              </a:spcAft>
              <a:defRPr sz="1400" b="1">
                <a:solidFill>
                  <a:srgbClr val="1677FF"/>
                </a:solidFill>
                <a:latin typeface="Arial"/>
              </a:defRPr>
            </a:pPr>
            <a:r>
              <a:t>Pass test tự động ≠ mọi AC đã nghiệm thu. Hiệu năng, triển khai và SMTP cần chứng cứ riêng.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DEMO</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Kịch bản demo hệ thống trong 7 phút</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Mỗi bước gắn với một điều cần chứng minh, không chỉ bấm qua màn hình.</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21</a:t>
            </a:r>
          </a:p>
        </p:txBody>
      </p:sp>
      <p:sp>
        <p:nvSpPr>
          <p:cNvPr id="9" name="Rounded Rectangle 8"/>
          <p:cNvSpPr/>
          <p:nvPr/>
        </p:nvSpPr>
        <p:spPr>
          <a:xfrm>
            <a:off x="658368" y="2084831"/>
            <a:ext cx="10835640" cy="6400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22960" y="2203703"/>
            <a:ext cx="457200" cy="320040"/>
          </a:xfrm>
          <a:prstGeom prst="rect">
            <a:avLst/>
          </a:prstGeom>
          <a:noFill/>
        </p:spPr>
        <p:txBody>
          <a:bodyPr wrap="square" lIns="18288" rIns="18288" tIns="18288" bIns="18288">
            <a:spAutoFit/>
          </a:bodyPr>
          <a:lstStyle/>
          <a:p>
            <a:pPr>
              <a:spcAft>
                <a:spcPts val="800"/>
              </a:spcAft>
              <a:defRPr sz="1700" b="1">
                <a:solidFill>
                  <a:srgbClr val="1677FF"/>
                </a:solidFill>
                <a:latin typeface="Arial"/>
              </a:defRPr>
            </a:pPr>
            <a:r>
              <a:t>01</a:t>
            </a:r>
          </a:p>
        </p:txBody>
      </p:sp>
      <p:sp>
        <p:nvSpPr>
          <p:cNvPr id="11" name="TextBox 10"/>
          <p:cNvSpPr txBox="1"/>
          <p:nvPr/>
        </p:nvSpPr>
        <p:spPr>
          <a:xfrm>
            <a:off x="1508760" y="2203703"/>
            <a:ext cx="960120" cy="320040"/>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1 phút</a:t>
            </a:r>
          </a:p>
        </p:txBody>
      </p:sp>
      <p:sp>
        <p:nvSpPr>
          <p:cNvPr id="12" name="TextBox 11"/>
          <p:cNvSpPr txBox="1"/>
          <p:nvPr/>
        </p:nvSpPr>
        <p:spPr>
          <a:xfrm>
            <a:off x="2743200" y="2203703"/>
            <a:ext cx="3383280" cy="347472"/>
          </a:xfrm>
          <a:prstGeom prst="rect">
            <a:avLst/>
          </a:prstGeom>
          <a:noFill/>
        </p:spPr>
        <p:txBody>
          <a:bodyPr wrap="square" lIns="18288" rIns="18288" tIns="18288" bIns="18288">
            <a:spAutoFit/>
          </a:bodyPr>
          <a:lstStyle/>
          <a:p>
            <a:pPr>
              <a:spcAft>
                <a:spcPts val="800"/>
              </a:spcAft>
              <a:defRPr sz="1800" b="1">
                <a:solidFill>
                  <a:srgbClr val="132D50"/>
                </a:solidFill>
                <a:latin typeface="Arial"/>
              </a:defRPr>
            </a:pPr>
            <a:r>
              <a:t>Đăng nhập A/B</a:t>
            </a:r>
          </a:p>
        </p:txBody>
      </p:sp>
      <p:sp>
        <p:nvSpPr>
          <p:cNvPr id="13" name="TextBox 12"/>
          <p:cNvSpPr txBox="1"/>
          <p:nvPr/>
        </p:nvSpPr>
        <p:spPr>
          <a:xfrm>
            <a:off x="6309360" y="2203703"/>
            <a:ext cx="4754880" cy="347472"/>
          </a:xfrm>
          <a:prstGeom prst="rect">
            <a:avLst/>
          </a:prstGeom>
          <a:noFill/>
        </p:spPr>
        <p:txBody>
          <a:bodyPr wrap="square" lIns="18288" rIns="18288" tIns="18288" bIns="18288">
            <a:spAutoFit/>
          </a:bodyPr>
          <a:lstStyle/>
          <a:p>
            <a:pPr>
              <a:spcAft>
                <a:spcPts val="800"/>
              </a:spcAft>
              <a:defRPr sz="1600" b="0">
                <a:solidFill>
                  <a:srgbClr val="233B59"/>
                </a:solidFill>
                <a:latin typeface="Arial"/>
              </a:defRPr>
            </a:pPr>
            <a:r>
              <a:t>Chặn xem khách ngoài phạm vi</a:t>
            </a:r>
          </a:p>
        </p:txBody>
      </p:sp>
      <p:sp>
        <p:nvSpPr>
          <p:cNvPr id="14" name="Rounded Rectangle 13"/>
          <p:cNvSpPr/>
          <p:nvPr/>
        </p:nvSpPr>
        <p:spPr>
          <a:xfrm>
            <a:off x="658368" y="2852927"/>
            <a:ext cx="10835640" cy="6400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22960" y="2971799"/>
            <a:ext cx="457200" cy="320040"/>
          </a:xfrm>
          <a:prstGeom prst="rect">
            <a:avLst/>
          </a:prstGeom>
          <a:noFill/>
        </p:spPr>
        <p:txBody>
          <a:bodyPr wrap="square" lIns="18288" rIns="18288" tIns="18288" bIns="18288">
            <a:spAutoFit/>
          </a:bodyPr>
          <a:lstStyle/>
          <a:p>
            <a:pPr>
              <a:spcAft>
                <a:spcPts val="800"/>
              </a:spcAft>
              <a:defRPr sz="1700" b="1">
                <a:solidFill>
                  <a:srgbClr val="1677FF"/>
                </a:solidFill>
                <a:latin typeface="Arial"/>
              </a:defRPr>
            </a:pPr>
            <a:r>
              <a:t>02</a:t>
            </a:r>
          </a:p>
        </p:txBody>
      </p:sp>
      <p:sp>
        <p:nvSpPr>
          <p:cNvPr id="16" name="TextBox 15"/>
          <p:cNvSpPr txBox="1"/>
          <p:nvPr/>
        </p:nvSpPr>
        <p:spPr>
          <a:xfrm>
            <a:off x="1508760" y="2971799"/>
            <a:ext cx="960120" cy="320040"/>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1 phút</a:t>
            </a:r>
          </a:p>
        </p:txBody>
      </p:sp>
      <p:sp>
        <p:nvSpPr>
          <p:cNvPr id="17" name="TextBox 16"/>
          <p:cNvSpPr txBox="1"/>
          <p:nvPr/>
        </p:nvSpPr>
        <p:spPr>
          <a:xfrm>
            <a:off x="2743200" y="2971799"/>
            <a:ext cx="3383280" cy="347472"/>
          </a:xfrm>
          <a:prstGeom prst="rect">
            <a:avLst/>
          </a:prstGeom>
          <a:noFill/>
        </p:spPr>
        <p:txBody>
          <a:bodyPr wrap="square" lIns="18288" rIns="18288" tIns="18288" bIns="18288">
            <a:spAutoFit/>
          </a:bodyPr>
          <a:lstStyle/>
          <a:p>
            <a:pPr>
              <a:spcAft>
                <a:spcPts val="800"/>
              </a:spcAft>
              <a:defRPr sz="1800" b="1">
                <a:solidFill>
                  <a:srgbClr val="132D50"/>
                </a:solidFill>
                <a:latin typeface="Arial"/>
              </a:defRPr>
            </a:pPr>
            <a:r>
              <a:t>Cây nhóm và danh mục</a:t>
            </a:r>
          </a:p>
        </p:txBody>
      </p:sp>
      <p:sp>
        <p:nvSpPr>
          <p:cNvPr id="18" name="TextBox 17"/>
          <p:cNvSpPr txBox="1"/>
          <p:nvPr/>
        </p:nvSpPr>
        <p:spPr>
          <a:xfrm>
            <a:off x="6309360" y="2971799"/>
            <a:ext cx="4754880" cy="347472"/>
          </a:xfrm>
          <a:prstGeom prst="rect">
            <a:avLst/>
          </a:prstGeom>
          <a:noFill/>
        </p:spPr>
        <p:txBody>
          <a:bodyPr wrap="square" lIns="18288" rIns="18288" tIns="18288" bIns="18288">
            <a:spAutoFit/>
          </a:bodyPr>
          <a:lstStyle/>
          <a:p>
            <a:pPr>
              <a:spcAft>
                <a:spcPts val="800"/>
              </a:spcAft>
              <a:defRPr sz="1600" b="0">
                <a:solidFill>
                  <a:srgbClr val="233B59"/>
                </a:solidFill>
                <a:latin typeface="Arial"/>
              </a:defRPr>
            </a:pPr>
            <a:r>
              <a:t>Dropdown có dữ liệu, tổ chức phân cấp</a:t>
            </a:r>
          </a:p>
        </p:txBody>
      </p:sp>
      <p:sp>
        <p:nvSpPr>
          <p:cNvPr id="19" name="Rounded Rectangle 18"/>
          <p:cNvSpPr/>
          <p:nvPr/>
        </p:nvSpPr>
        <p:spPr>
          <a:xfrm>
            <a:off x="658368" y="3621024"/>
            <a:ext cx="10835640" cy="6400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22960" y="3739896"/>
            <a:ext cx="457200" cy="320040"/>
          </a:xfrm>
          <a:prstGeom prst="rect">
            <a:avLst/>
          </a:prstGeom>
          <a:noFill/>
        </p:spPr>
        <p:txBody>
          <a:bodyPr wrap="square" lIns="18288" rIns="18288" tIns="18288" bIns="18288">
            <a:spAutoFit/>
          </a:bodyPr>
          <a:lstStyle/>
          <a:p>
            <a:pPr>
              <a:spcAft>
                <a:spcPts val="800"/>
              </a:spcAft>
              <a:defRPr sz="1700" b="1">
                <a:solidFill>
                  <a:srgbClr val="1677FF"/>
                </a:solidFill>
                <a:latin typeface="Arial"/>
              </a:defRPr>
            </a:pPr>
            <a:r>
              <a:t>03</a:t>
            </a:r>
          </a:p>
        </p:txBody>
      </p:sp>
      <p:sp>
        <p:nvSpPr>
          <p:cNvPr id="21" name="TextBox 20"/>
          <p:cNvSpPr txBox="1"/>
          <p:nvPr/>
        </p:nvSpPr>
        <p:spPr>
          <a:xfrm>
            <a:off x="1508760" y="3739896"/>
            <a:ext cx="960120" cy="320040"/>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2 phút</a:t>
            </a:r>
          </a:p>
        </p:txBody>
      </p:sp>
      <p:sp>
        <p:nvSpPr>
          <p:cNvPr id="22" name="TextBox 21"/>
          <p:cNvSpPr txBox="1"/>
          <p:nvPr/>
        </p:nvSpPr>
        <p:spPr>
          <a:xfrm>
            <a:off x="2743200" y="3739896"/>
            <a:ext cx="3383280" cy="347472"/>
          </a:xfrm>
          <a:prstGeom prst="rect">
            <a:avLst/>
          </a:prstGeom>
          <a:noFill/>
        </p:spPr>
        <p:txBody>
          <a:bodyPr wrap="square" lIns="18288" rIns="18288" tIns="18288" bIns="18288">
            <a:spAutoFit/>
          </a:bodyPr>
          <a:lstStyle/>
          <a:p>
            <a:pPr>
              <a:spcAft>
                <a:spcPts val="800"/>
              </a:spcAft>
              <a:defRPr sz="1800" b="1">
                <a:solidFill>
                  <a:srgbClr val="132D50"/>
                </a:solidFill>
                <a:latin typeface="Arial"/>
              </a:defRPr>
            </a:pPr>
            <a:r>
              <a:t>Hồ sơ khách / 360</a:t>
            </a:r>
          </a:p>
        </p:txBody>
      </p:sp>
      <p:sp>
        <p:nvSpPr>
          <p:cNvPr id="23" name="TextBox 22"/>
          <p:cNvSpPr txBox="1"/>
          <p:nvPr/>
        </p:nvSpPr>
        <p:spPr>
          <a:xfrm>
            <a:off x="6309360" y="3739896"/>
            <a:ext cx="4754880" cy="347472"/>
          </a:xfrm>
          <a:prstGeom prst="rect">
            <a:avLst/>
          </a:prstGeom>
          <a:noFill/>
        </p:spPr>
        <p:txBody>
          <a:bodyPr wrap="square" lIns="18288" rIns="18288" tIns="18288" bIns="18288">
            <a:spAutoFit/>
          </a:bodyPr>
          <a:lstStyle/>
          <a:p>
            <a:pPr>
              <a:spcAft>
                <a:spcPts val="800"/>
              </a:spcAft>
              <a:defRPr sz="1600" b="0">
                <a:solidFill>
                  <a:srgbClr val="233B59"/>
                </a:solidFill>
                <a:latin typeface="Arial"/>
              </a:defRPr>
            </a:pPr>
            <a:r>
              <a:t>Liên hệ, lịch sử và bộ lọc liên quan</a:t>
            </a:r>
          </a:p>
        </p:txBody>
      </p:sp>
      <p:sp>
        <p:nvSpPr>
          <p:cNvPr id="24" name="Rounded Rectangle 23"/>
          <p:cNvSpPr/>
          <p:nvPr/>
        </p:nvSpPr>
        <p:spPr>
          <a:xfrm>
            <a:off x="658368" y="4389120"/>
            <a:ext cx="10835640" cy="6400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22960" y="4507992"/>
            <a:ext cx="457200" cy="320040"/>
          </a:xfrm>
          <a:prstGeom prst="rect">
            <a:avLst/>
          </a:prstGeom>
          <a:noFill/>
        </p:spPr>
        <p:txBody>
          <a:bodyPr wrap="square" lIns="18288" rIns="18288" tIns="18288" bIns="18288">
            <a:spAutoFit/>
          </a:bodyPr>
          <a:lstStyle/>
          <a:p>
            <a:pPr>
              <a:spcAft>
                <a:spcPts val="800"/>
              </a:spcAft>
              <a:defRPr sz="1700" b="1">
                <a:solidFill>
                  <a:srgbClr val="1677FF"/>
                </a:solidFill>
                <a:latin typeface="Arial"/>
              </a:defRPr>
            </a:pPr>
            <a:r>
              <a:t>04</a:t>
            </a:r>
          </a:p>
        </p:txBody>
      </p:sp>
      <p:sp>
        <p:nvSpPr>
          <p:cNvPr id="26" name="TextBox 25"/>
          <p:cNvSpPr txBox="1"/>
          <p:nvPr/>
        </p:nvSpPr>
        <p:spPr>
          <a:xfrm>
            <a:off x="1508760" y="4507992"/>
            <a:ext cx="960120" cy="320040"/>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1 phút</a:t>
            </a:r>
          </a:p>
        </p:txBody>
      </p:sp>
      <p:sp>
        <p:nvSpPr>
          <p:cNvPr id="27" name="TextBox 26"/>
          <p:cNvSpPr txBox="1"/>
          <p:nvPr/>
        </p:nvSpPr>
        <p:spPr>
          <a:xfrm>
            <a:off x="2743200" y="4507992"/>
            <a:ext cx="3383280" cy="347472"/>
          </a:xfrm>
          <a:prstGeom prst="rect">
            <a:avLst/>
          </a:prstGeom>
          <a:noFill/>
        </p:spPr>
        <p:txBody>
          <a:bodyPr wrap="square" lIns="18288" rIns="18288" tIns="18288" bIns="18288">
            <a:spAutoFit/>
          </a:bodyPr>
          <a:lstStyle/>
          <a:p>
            <a:pPr>
              <a:spcAft>
                <a:spcPts val="800"/>
              </a:spcAft>
              <a:defRPr sz="1800" b="1">
                <a:solidFill>
                  <a:srgbClr val="132D50"/>
                </a:solidFill>
                <a:latin typeface="Arial"/>
              </a:defRPr>
            </a:pPr>
            <a:r>
              <a:t>Nhập Excel có lỗi</a:t>
            </a:r>
          </a:p>
        </p:txBody>
      </p:sp>
      <p:sp>
        <p:nvSpPr>
          <p:cNvPr id="28" name="TextBox 27"/>
          <p:cNvSpPr txBox="1"/>
          <p:nvPr/>
        </p:nvSpPr>
        <p:spPr>
          <a:xfrm>
            <a:off x="6309360" y="4507992"/>
            <a:ext cx="4754880" cy="347472"/>
          </a:xfrm>
          <a:prstGeom prst="rect">
            <a:avLst/>
          </a:prstGeom>
          <a:noFill/>
        </p:spPr>
        <p:txBody>
          <a:bodyPr wrap="square" lIns="18288" rIns="18288" tIns="18288" bIns="18288">
            <a:spAutoFit/>
          </a:bodyPr>
          <a:lstStyle/>
          <a:p>
            <a:pPr>
              <a:spcAft>
                <a:spcPts val="800"/>
              </a:spcAft>
              <a:defRPr sz="1600" b="0">
                <a:solidFill>
                  <a:srgbClr val="233B59"/>
                </a:solidFill>
                <a:latin typeface="Arial"/>
              </a:defRPr>
            </a:pPr>
            <a:r>
              <a:t>Xem trước → bỏ lỗi → lưu đúng → báo cáo</a:t>
            </a:r>
          </a:p>
        </p:txBody>
      </p:sp>
      <p:sp>
        <p:nvSpPr>
          <p:cNvPr id="29" name="Rounded Rectangle 28"/>
          <p:cNvSpPr/>
          <p:nvPr/>
        </p:nvSpPr>
        <p:spPr>
          <a:xfrm>
            <a:off x="658368" y="5157216"/>
            <a:ext cx="10835640" cy="6400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822960" y="5276088"/>
            <a:ext cx="457200" cy="320040"/>
          </a:xfrm>
          <a:prstGeom prst="rect">
            <a:avLst/>
          </a:prstGeom>
          <a:noFill/>
        </p:spPr>
        <p:txBody>
          <a:bodyPr wrap="square" lIns="18288" rIns="18288" tIns="18288" bIns="18288">
            <a:spAutoFit/>
          </a:bodyPr>
          <a:lstStyle/>
          <a:p>
            <a:pPr>
              <a:spcAft>
                <a:spcPts val="800"/>
              </a:spcAft>
              <a:defRPr sz="1700" b="1">
                <a:solidFill>
                  <a:srgbClr val="1677FF"/>
                </a:solidFill>
                <a:latin typeface="Arial"/>
              </a:defRPr>
            </a:pPr>
            <a:r>
              <a:t>05</a:t>
            </a:r>
          </a:p>
        </p:txBody>
      </p:sp>
      <p:sp>
        <p:nvSpPr>
          <p:cNvPr id="31" name="TextBox 30"/>
          <p:cNvSpPr txBox="1"/>
          <p:nvPr/>
        </p:nvSpPr>
        <p:spPr>
          <a:xfrm>
            <a:off x="1508760" y="5276088"/>
            <a:ext cx="960120" cy="320040"/>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2 phút</a:t>
            </a:r>
          </a:p>
        </p:txBody>
      </p:sp>
      <p:sp>
        <p:nvSpPr>
          <p:cNvPr id="32" name="TextBox 31"/>
          <p:cNvSpPr txBox="1"/>
          <p:nvPr/>
        </p:nvSpPr>
        <p:spPr>
          <a:xfrm>
            <a:off x="2743200" y="5276088"/>
            <a:ext cx="3383280" cy="347472"/>
          </a:xfrm>
          <a:prstGeom prst="rect">
            <a:avLst/>
          </a:prstGeom>
          <a:noFill/>
        </p:spPr>
        <p:txBody>
          <a:bodyPr wrap="square" lIns="18288" rIns="18288" tIns="18288" bIns="18288">
            <a:spAutoFit/>
          </a:bodyPr>
          <a:lstStyle/>
          <a:p>
            <a:pPr>
              <a:spcAft>
                <a:spcPts val="800"/>
              </a:spcAft>
              <a:defRPr sz="1800" b="1">
                <a:solidFill>
                  <a:srgbClr val="132D50"/>
                </a:solidFill>
                <a:latin typeface="Arial"/>
              </a:defRPr>
            </a:pPr>
            <a:r>
              <a:t>Lead và phân bổ</a:t>
            </a:r>
          </a:p>
        </p:txBody>
      </p:sp>
      <p:sp>
        <p:nvSpPr>
          <p:cNvPr id="33" name="TextBox 32"/>
          <p:cNvSpPr txBox="1"/>
          <p:nvPr/>
        </p:nvSpPr>
        <p:spPr>
          <a:xfrm>
            <a:off x="6309360" y="5276088"/>
            <a:ext cx="4754880" cy="347472"/>
          </a:xfrm>
          <a:prstGeom prst="rect">
            <a:avLst/>
          </a:prstGeom>
          <a:noFill/>
        </p:spPr>
        <p:txBody>
          <a:bodyPr wrap="square" lIns="18288" rIns="18288" tIns="18288" bIns="18288">
            <a:spAutoFit/>
          </a:bodyPr>
          <a:lstStyle/>
          <a:p>
            <a:pPr>
              <a:spcAft>
                <a:spcPts val="800"/>
              </a:spcAft>
              <a:defRPr sz="1600" b="0">
                <a:solidFill>
                  <a:srgbClr val="233B59"/>
                </a:solidFill>
                <a:latin typeface="Arial"/>
              </a:defRPr>
            </a:pPr>
            <a:r>
              <a:t>Nguồn → điểm → người nhận → chuyển đổi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32D50"/>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3B5A5"/>
                </a:solidFill>
                <a:latin typeface="Arial"/>
              </a:defRPr>
            </a:pPr>
            <a:r>
              <a:t>KẾT THÚC</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FFFFFF"/>
                </a:solidFill>
                <a:latin typeface="Arial"/>
              </a:defRPr>
            </a:pPr>
            <a:r>
              <a:t>Kết quả và hướng hoàn thiện</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BED0E5"/>
                </a:solidFill>
                <a:latin typeface="Arial"/>
              </a:defRPr>
            </a:pPr>
            <a:r>
              <a:t>Bốn sprint tạo nền cho luồng bán hàng, nhưng nghiệm thu phải bám từng AC.</a:t>
            </a:r>
          </a:p>
        </p:txBody>
      </p:sp>
      <p:sp>
        <p:nvSpPr>
          <p:cNvPr id="6" name="Rectangle 5"/>
          <p:cNvSpPr/>
          <p:nvPr/>
        </p:nvSpPr>
        <p:spPr>
          <a:xfrm>
            <a:off x="612648" y="6419088"/>
            <a:ext cx="10927080" cy="10972"/>
          </a:xfrm>
          <a:prstGeom prst="rect">
            <a:avLst/>
          </a:prstGeom>
          <a:solidFill>
            <a:srgbClr val="36506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BED0E5"/>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BED0E5"/>
                </a:solidFill>
                <a:latin typeface="Arial"/>
              </a:defRPr>
            </a:pPr>
            <a:r>
              <a:t>22</a:t>
            </a:r>
          </a:p>
        </p:txBody>
      </p:sp>
      <p:sp>
        <p:nvSpPr>
          <p:cNvPr id="9" name="TextBox 8"/>
          <p:cNvSpPr txBox="1"/>
          <p:nvPr/>
        </p:nvSpPr>
        <p:spPr>
          <a:xfrm>
            <a:off x="795528" y="2221992"/>
            <a:ext cx="10698480" cy="1078992"/>
          </a:xfrm>
          <a:prstGeom prst="rect">
            <a:avLst/>
          </a:prstGeom>
          <a:noFill/>
        </p:spPr>
        <p:txBody>
          <a:bodyPr wrap="square" lIns="18288" rIns="18288" tIns="18288" bIns="18288">
            <a:spAutoFit/>
          </a:bodyPr>
          <a:lstStyle/>
          <a:p>
            <a:pPr>
              <a:spcAft>
                <a:spcPts val="800"/>
              </a:spcAft>
              <a:defRPr sz="2900" b="1">
                <a:solidFill>
                  <a:srgbClr val="FFFFFF"/>
                </a:solidFill>
                <a:latin typeface="Arial"/>
              </a:defRPr>
            </a:pPr>
            <a:r>
              <a:t>01  Truy cập đúng quyền</a:t>
            </a:r>
          </a:p>
          <a:p>
            <a:pPr>
              <a:spcAft>
                <a:spcPts val="800"/>
              </a:spcAft>
              <a:defRPr sz="2900" b="1">
                <a:solidFill>
                  <a:srgbClr val="FFFFFF"/>
                </a:solidFill>
                <a:latin typeface="Arial"/>
              </a:defRPr>
            </a:pPr>
            <a:r>
              <a:t>02  Dữ liệu khách hàng có cấu trúc</a:t>
            </a:r>
          </a:p>
        </p:txBody>
      </p:sp>
      <p:sp>
        <p:nvSpPr>
          <p:cNvPr id="10" name="TextBox 9"/>
          <p:cNvSpPr txBox="1"/>
          <p:nvPr/>
        </p:nvSpPr>
        <p:spPr>
          <a:xfrm>
            <a:off x="795528" y="3776472"/>
            <a:ext cx="10698480" cy="685800"/>
          </a:xfrm>
          <a:prstGeom prst="rect">
            <a:avLst/>
          </a:prstGeom>
          <a:noFill/>
        </p:spPr>
        <p:txBody>
          <a:bodyPr wrap="square" lIns="18288" rIns="18288" tIns="18288" bIns="18288">
            <a:spAutoFit/>
          </a:bodyPr>
          <a:lstStyle/>
          <a:p>
            <a:pPr>
              <a:spcAft>
                <a:spcPts val="800"/>
              </a:spcAft>
              <a:defRPr sz="2900" b="1">
                <a:solidFill>
                  <a:srgbClr val="FFFFFF"/>
                </a:solidFill>
                <a:latin typeface="Arial"/>
              </a:defRPr>
            </a:pPr>
            <a:r>
              <a:t>03  Lead có ưu tiên và người chịu trách nhiệm</a:t>
            </a:r>
          </a:p>
        </p:txBody>
      </p:sp>
      <p:sp>
        <p:nvSpPr>
          <p:cNvPr id="11" name="TextBox 10"/>
          <p:cNvSpPr txBox="1"/>
          <p:nvPr/>
        </p:nvSpPr>
        <p:spPr>
          <a:xfrm>
            <a:off x="804672" y="5074920"/>
            <a:ext cx="10607040" cy="731520"/>
          </a:xfrm>
          <a:prstGeom prst="rect">
            <a:avLst/>
          </a:prstGeom>
          <a:noFill/>
        </p:spPr>
        <p:txBody>
          <a:bodyPr wrap="square" lIns="18288" rIns="18288" tIns="18288" bIns="18288">
            <a:spAutoFit/>
          </a:bodyPr>
          <a:lstStyle/>
          <a:p>
            <a:pPr>
              <a:spcAft>
                <a:spcPts val="800"/>
              </a:spcAft>
              <a:defRPr sz="2100" b="0">
                <a:solidFill>
                  <a:srgbClr val="C7D8EE"/>
                </a:solidFill>
                <a:latin typeface="Arial"/>
              </a:defRPr>
            </a:pPr>
            <a:r>
              <a:t>Tiếp theo: chốt AC còn mở, xử lý gợi ý trùng sau gộp,</a:t>
            </a:r>
          </a:p>
          <a:p>
            <a:pPr>
              <a:spcAft>
                <a:spcPts val="800"/>
              </a:spcAft>
              <a:defRPr sz="2100" b="0">
                <a:solidFill>
                  <a:srgbClr val="C7D8EE"/>
                </a:solidFill>
                <a:latin typeface="Arial"/>
              </a:defRPr>
            </a:pPr>
            <a:r>
              <a:t>đo hiệu năng và đồng bộ trạng thái Jira.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PHỤ LỤC / AC</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Phụ lục — Những điểm cần chốt trước review</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Các giới hạn đã biết, không phải danh sách mọi lỗi còn có thể tồn tại.</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23</a:t>
            </a:r>
          </a:p>
        </p:txBody>
      </p:sp>
      <p:sp>
        <p:nvSpPr>
          <p:cNvPr id="9" name="Rounded Rectangle 8"/>
          <p:cNvSpPr/>
          <p:nvPr/>
        </p:nvSpPr>
        <p:spPr>
          <a:xfrm>
            <a:off x="685800" y="2084831"/>
            <a:ext cx="10789920" cy="77724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59536" y="2231136"/>
            <a:ext cx="2880360" cy="457200"/>
          </a:xfrm>
          <a:prstGeom prst="rect">
            <a:avLst/>
          </a:prstGeom>
          <a:noFill/>
        </p:spPr>
        <p:txBody>
          <a:bodyPr wrap="square" lIns="18288" rIns="18288" tIns="18288" bIns="18288">
            <a:spAutoFit/>
          </a:bodyPr>
          <a:lstStyle/>
          <a:p>
            <a:pPr>
              <a:spcAft>
                <a:spcPts val="800"/>
              </a:spcAft>
              <a:defRPr sz="1700" b="1">
                <a:solidFill>
                  <a:srgbClr val="1677FF"/>
                </a:solidFill>
                <a:latin typeface="Arial"/>
              </a:defRPr>
            </a:pPr>
            <a:r>
              <a:t>S1 / khóa đăng nhập</a:t>
            </a:r>
          </a:p>
        </p:txBody>
      </p:sp>
      <p:sp>
        <p:nvSpPr>
          <p:cNvPr id="11" name="TextBox 10"/>
          <p:cNvSpPr txBox="1"/>
          <p:nvPr/>
        </p:nvSpPr>
        <p:spPr>
          <a:xfrm>
            <a:off x="3931920" y="2212848"/>
            <a:ext cx="7269480" cy="548640"/>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Code test 15 giây theo yêu cầu; AC gốc 15 phút. Cần ghi nhận thay đổi.</a:t>
            </a:r>
          </a:p>
        </p:txBody>
      </p:sp>
      <p:sp>
        <p:nvSpPr>
          <p:cNvPr id="12" name="Rounded Rectangle 11"/>
          <p:cNvSpPr/>
          <p:nvPr/>
        </p:nvSpPr>
        <p:spPr>
          <a:xfrm>
            <a:off x="685800" y="3017520"/>
            <a:ext cx="10789920" cy="77724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59536" y="3163824"/>
            <a:ext cx="2880360" cy="457200"/>
          </a:xfrm>
          <a:prstGeom prst="rect">
            <a:avLst/>
          </a:prstGeom>
          <a:noFill/>
        </p:spPr>
        <p:txBody>
          <a:bodyPr wrap="square" lIns="18288" rIns="18288" tIns="18288" bIns="18288">
            <a:spAutoFit/>
          </a:bodyPr>
          <a:lstStyle/>
          <a:p>
            <a:pPr>
              <a:spcAft>
                <a:spcPts val="800"/>
              </a:spcAft>
              <a:defRPr sz="1700" b="1">
                <a:solidFill>
                  <a:srgbClr val="1677FF"/>
                </a:solidFill>
                <a:latin typeface="Arial"/>
              </a:defRPr>
            </a:pPr>
            <a:r>
              <a:t>S3 / hiệu năng 360</a:t>
            </a:r>
          </a:p>
        </p:txBody>
      </p:sp>
      <p:sp>
        <p:nvSpPr>
          <p:cNvPr id="14" name="TextBox 13"/>
          <p:cNvSpPr txBox="1"/>
          <p:nvPr/>
        </p:nvSpPr>
        <p:spPr>
          <a:xfrm>
            <a:off x="3931920" y="3145536"/>
            <a:ext cx="7269480" cy="548640"/>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Mốc 1,5 giây với 500 hoạt động cần benchmark tương ứng.</a:t>
            </a:r>
          </a:p>
        </p:txBody>
      </p:sp>
      <p:sp>
        <p:nvSpPr>
          <p:cNvPr id="15" name="Rounded Rectangle 14"/>
          <p:cNvSpPr/>
          <p:nvPr/>
        </p:nvSpPr>
        <p:spPr>
          <a:xfrm>
            <a:off x="685800" y="3950208"/>
            <a:ext cx="10789920" cy="77724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59536" y="4096512"/>
            <a:ext cx="2880360" cy="457200"/>
          </a:xfrm>
          <a:prstGeom prst="rect">
            <a:avLst/>
          </a:prstGeom>
          <a:noFill/>
        </p:spPr>
        <p:txBody>
          <a:bodyPr wrap="square" lIns="18288" rIns="18288" tIns="18288" bIns="18288">
            <a:spAutoFit/>
          </a:bodyPr>
          <a:lstStyle/>
          <a:p>
            <a:pPr>
              <a:spcAft>
                <a:spcPts val="800"/>
              </a:spcAft>
              <a:defRPr sz="1700" b="1">
                <a:solidFill>
                  <a:srgbClr val="1677FF"/>
                </a:solidFill>
                <a:latin typeface="Arial"/>
              </a:defRPr>
            </a:pPr>
            <a:r>
              <a:t>S4 / gộp lead</a:t>
            </a:r>
          </a:p>
        </p:txBody>
      </p:sp>
      <p:sp>
        <p:nvSpPr>
          <p:cNvPr id="17" name="TextBox 16"/>
          <p:cNvSpPr txBox="1"/>
          <p:nvPr/>
        </p:nvSpPr>
        <p:spPr>
          <a:xfrm>
            <a:off x="3931920" y="4078224"/>
            <a:ext cx="7269480" cy="548640"/>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Audit ghi nhận lead MERGED còn xuất hiện trong gợi ý trùng.</a:t>
            </a:r>
          </a:p>
        </p:txBody>
      </p:sp>
      <p:sp>
        <p:nvSpPr>
          <p:cNvPr id="18" name="Rounded Rectangle 17"/>
          <p:cNvSpPr/>
          <p:nvPr/>
        </p:nvSpPr>
        <p:spPr>
          <a:xfrm>
            <a:off x="685800" y="4882896"/>
            <a:ext cx="10789920" cy="77724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59536" y="5029200"/>
            <a:ext cx="2880360" cy="457200"/>
          </a:xfrm>
          <a:prstGeom prst="rect">
            <a:avLst/>
          </a:prstGeom>
          <a:noFill/>
        </p:spPr>
        <p:txBody>
          <a:bodyPr wrap="square" lIns="18288" rIns="18288" tIns="18288" bIns="18288">
            <a:spAutoFit/>
          </a:bodyPr>
          <a:lstStyle/>
          <a:p>
            <a:pPr>
              <a:spcAft>
                <a:spcPts val="800"/>
              </a:spcAft>
              <a:defRPr sz="1700" b="1">
                <a:solidFill>
                  <a:srgbClr val="1677FF"/>
                </a:solidFill>
                <a:latin typeface="Arial"/>
              </a:defRPr>
            </a:pPr>
            <a:r>
              <a:t>S4 / phân bổ và SLA</a:t>
            </a:r>
          </a:p>
        </p:txBody>
      </p:sp>
      <p:sp>
        <p:nvSpPr>
          <p:cNvPr id="20" name="TextBox 19"/>
          <p:cNvSpPr txBox="1"/>
          <p:nvPr/>
        </p:nvSpPr>
        <p:spPr>
          <a:xfrm>
            <a:off x="3931920" y="5010912"/>
            <a:ext cx="7269480" cy="548640"/>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Chốt SLA cấu hình; đo phân bổ ≤5 phút dưới tải và kiểm thử webform triển khai.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PHỤ LỤC / THÀNH VIÊN</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Phụ lục — Nhóm thực hiện</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Danh sách theo tài liệu Jira và thông tin phân công đã cung cấp.</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24</a:t>
            </a:r>
          </a:p>
        </p:txBody>
      </p:sp>
      <p:sp>
        <p:nvSpPr>
          <p:cNvPr id="9" name="Rounded Rectangle 8"/>
          <p:cNvSpPr/>
          <p:nvPr/>
        </p:nvSpPr>
        <p:spPr>
          <a:xfrm>
            <a:off x="621792" y="2103120"/>
            <a:ext cx="3520440" cy="36118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22960" y="227685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LEADER</a:t>
            </a:r>
          </a:p>
        </p:txBody>
      </p:sp>
      <p:sp>
        <p:nvSpPr>
          <p:cNvPr id="11" name="TextBox 10"/>
          <p:cNvSpPr txBox="1"/>
          <p:nvPr/>
        </p:nvSpPr>
        <p:spPr>
          <a:xfrm>
            <a:off x="822960" y="271576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Triệu Quang Dũng</a:t>
            </a:r>
          </a:p>
        </p:txBody>
      </p:sp>
      <p:sp>
        <p:nvSpPr>
          <p:cNvPr id="12" name="TextBox 11"/>
          <p:cNvSpPr txBox="1"/>
          <p:nvPr/>
        </p:nvSpPr>
        <p:spPr>
          <a:xfrm>
            <a:off x="822960" y="3611879"/>
            <a:ext cx="3118104" cy="1984248"/>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Điều phối, tích hợp.</a:t>
            </a:r>
          </a:p>
          <a:p>
            <a:pPr>
              <a:spcAft>
                <a:spcPts val="800"/>
              </a:spcAft>
              <a:defRPr sz="1700" b="0">
                <a:solidFill>
                  <a:srgbClr val="233B59"/>
                </a:solidFill>
                <a:latin typeface="Arial"/>
              </a:defRPr>
            </a:pPr>
            <a:r>
              <a:t>Đối chiếu yêu cầu và kiểm thử.</a:t>
            </a:r>
          </a:p>
          <a:p>
            <a:pPr>
              <a:spcAft>
                <a:spcPts val="800"/>
              </a:spcAft>
              <a:defRPr sz="1700" b="0">
                <a:solidFill>
                  <a:srgbClr val="233B59"/>
                </a:solidFill>
                <a:latin typeface="Arial"/>
              </a:defRPr>
            </a:pPr>
            <a:r>
              <a:t>Tham gia frontend / demo.</a:t>
            </a:r>
          </a:p>
        </p:txBody>
      </p:sp>
      <p:sp>
        <p:nvSpPr>
          <p:cNvPr id="13" name="Rounded Rectangle 12"/>
          <p:cNvSpPr/>
          <p:nvPr/>
        </p:nvSpPr>
        <p:spPr>
          <a:xfrm>
            <a:off x="4334256" y="2103120"/>
            <a:ext cx="3520440" cy="36118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35424" y="227685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BACKEND</a:t>
            </a:r>
          </a:p>
        </p:txBody>
      </p:sp>
      <p:sp>
        <p:nvSpPr>
          <p:cNvPr id="15" name="TextBox 14"/>
          <p:cNvSpPr txBox="1"/>
          <p:nvPr/>
        </p:nvSpPr>
        <p:spPr>
          <a:xfrm>
            <a:off x="4535424" y="271576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API và dữ liệu</a:t>
            </a:r>
          </a:p>
        </p:txBody>
      </p:sp>
      <p:sp>
        <p:nvSpPr>
          <p:cNvPr id="16" name="TextBox 15"/>
          <p:cNvSpPr txBox="1"/>
          <p:nvPr/>
        </p:nvSpPr>
        <p:spPr>
          <a:xfrm>
            <a:off x="4535424" y="3611879"/>
            <a:ext cx="3118104" cy="1984248"/>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Lê Minh Danh</a:t>
            </a:r>
          </a:p>
          <a:p>
            <a:pPr>
              <a:spcAft>
                <a:spcPts val="800"/>
              </a:spcAft>
              <a:defRPr sz="1700" b="0">
                <a:solidFill>
                  <a:srgbClr val="233B59"/>
                </a:solidFill>
                <a:latin typeface="Arial"/>
              </a:defRPr>
            </a:pPr>
            <a:r>
              <a:t>Đỗ Tuấn Dũng</a:t>
            </a:r>
          </a:p>
          <a:p>
            <a:pPr>
              <a:spcAft>
                <a:spcPts val="800"/>
              </a:spcAft>
              <a:defRPr sz="1700" b="0">
                <a:solidFill>
                  <a:srgbClr val="233B59"/>
                </a:solidFill>
                <a:latin typeface="Arial"/>
              </a:defRPr>
            </a:pPr>
            <a:r>
              <a:t>Nguyễn Trần Việt Anh</a:t>
            </a:r>
          </a:p>
          <a:p>
            <a:pPr>
              <a:spcAft>
                <a:spcPts val="800"/>
              </a:spcAft>
              <a:defRPr sz="1700" b="0">
                <a:solidFill>
                  <a:srgbClr val="233B59"/>
                </a:solidFill>
                <a:latin typeface="Arial"/>
              </a:defRPr>
            </a:pPr>
            <a:r>
              <a:t>Nguyễn Thùy Chang</a:t>
            </a:r>
          </a:p>
          <a:p>
            <a:pPr>
              <a:spcAft>
                <a:spcPts val="800"/>
              </a:spcAft>
              <a:defRPr sz="1700" b="0">
                <a:solidFill>
                  <a:srgbClr val="233B59"/>
                </a:solidFill>
                <a:latin typeface="Arial"/>
              </a:defRPr>
            </a:pPr>
            <a:r>
              <a:t>Phạm Xuân Bình</a:t>
            </a:r>
          </a:p>
        </p:txBody>
      </p:sp>
      <p:sp>
        <p:nvSpPr>
          <p:cNvPr id="17" name="Rounded Rectangle 16"/>
          <p:cNvSpPr/>
          <p:nvPr/>
        </p:nvSpPr>
        <p:spPr>
          <a:xfrm>
            <a:off x="8046720" y="2103120"/>
            <a:ext cx="3520440" cy="3611880"/>
          </a:xfrm>
          <a:prstGeom prst="roundRect">
            <a:avLst>
              <a:gd name="adj" fmla="val 12000"/>
            </a:avLst>
          </a:prstGeom>
          <a:solidFill>
            <a:srgbClr val="FFFFFF"/>
          </a:solidFill>
          <a:ln>
            <a:solidFill>
              <a:srgbClr val="DFE7F1"/>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47888" y="2276856"/>
            <a:ext cx="3118104"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FRONTEND</a:t>
            </a:r>
          </a:p>
        </p:txBody>
      </p:sp>
      <p:sp>
        <p:nvSpPr>
          <p:cNvPr id="19" name="TextBox 18"/>
          <p:cNvSpPr txBox="1"/>
          <p:nvPr/>
        </p:nvSpPr>
        <p:spPr>
          <a:xfrm>
            <a:off x="8247888" y="2715768"/>
            <a:ext cx="3118104" cy="777240"/>
          </a:xfrm>
          <a:prstGeom prst="rect">
            <a:avLst/>
          </a:prstGeom>
          <a:noFill/>
        </p:spPr>
        <p:txBody>
          <a:bodyPr wrap="square" lIns="18288" rIns="18288" tIns="18288" bIns="18288">
            <a:spAutoFit/>
          </a:bodyPr>
          <a:lstStyle/>
          <a:p>
            <a:pPr>
              <a:spcAft>
                <a:spcPts val="800"/>
              </a:spcAft>
              <a:defRPr sz="2200" b="1">
                <a:solidFill>
                  <a:srgbClr val="132D50"/>
                </a:solidFill>
                <a:latin typeface="Arial"/>
              </a:defRPr>
            </a:pPr>
            <a:r>
              <a:t>Giao diện và tích hợp</a:t>
            </a:r>
          </a:p>
        </p:txBody>
      </p:sp>
      <p:sp>
        <p:nvSpPr>
          <p:cNvPr id="20" name="TextBox 19"/>
          <p:cNvSpPr txBox="1"/>
          <p:nvPr/>
        </p:nvSpPr>
        <p:spPr>
          <a:xfrm>
            <a:off x="8247888" y="3611879"/>
            <a:ext cx="3118104" cy="1984248"/>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Hứa Huệ An</a:t>
            </a:r>
          </a:p>
          <a:p>
            <a:pPr>
              <a:spcAft>
                <a:spcPts val="800"/>
              </a:spcAft>
              <a:defRPr sz="1700" b="0">
                <a:solidFill>
                  <a:srgbClr val="233B59"/>
                </a:solidFill>
                <a:latin typeface="Arial"/>
              </a:defRPr>
            </a:pPr>
            <a:r>
              <a:t>Hoàng Lan Anh</a:t>
            </a:r>
          </a:p>
          <a:p>
            <a:pPr>
              <a:spcAft>
                <a:spcPts val="800"/>
              </a:spcAft>
              <a:defRPr sz="1700" b="0">
                <a:solidFill>
                  <a:srgbClr val="233B59"/>
                </a:solidFill>
                <a:latin typeface="Arial"/>
              </a:defRPr>
            </a:pPr>
            <a:r>
              <a:t>Châu Thùy Dung</a:t>
            </a:r>
          </a:p>
          <a:p>
            <a:pPr>
              <a:spcAft>
                <a:spcPts val="800"/>
              </a:spcAft>
              <a:defRPr sz="1700" b="0">
                <a:solidFill>
                  <a:srgbClr val="233B59"/>
                </a:solidFill>
                <a:latin typeface="Arial"/>
              </a:defRPr>
            </a:pPr>
            <a:r>
              <a:t>Nguyễn Ngọc Anh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PHỤ LỤC / HỎI ĐÁP</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Phụ lục — Câu hỏi thường gặp</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Câu trả lời ngắn để bảo vệ thiết kế và giải thích phạm vi.</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25</a:t>
            </a:r>
          </a:p>
        </p:txBody>
      </p:sp>
      <p:sp>
        <p:nvSpPr>
          <p:cNvPr id="9" name="TextBox 8"/>
          <p:cNvSpPr txBox="1"/>
          <p:nvPr/>
        </p:nvSpPr>
        <p:spPr>
          <a:xfrm>
            <a:off x="777240" y="1993392"/>
            <a:ext cx="3657600" cy="621792"/>
          </a:xfrm>
          <a:prstGeom prst="rect">
            <a:avLst/>
          </a:prstGeom>
          <a:noFill/>
        </p:spPr>
        <p:txBody>
          <a:bodyPr wrap="square" lIns="18288" rIns="18288" tIns="18288" bIns="18288">
            <a:spAutoFit/>
          </a:bodyPr>
          <a:lstStyle/>
          <a:p>
            <a:pPr>
              <a:spcAft>
                <a:spcPts val="800"/>
              </a:spcAft>
              <a:defRPr sz="1700" b="1">
                <a:solidFill>
                  <a:srgbClr val="132D50"/>
                </a:solidFill>
                <a:latin typeface="Arial"/>
              </a:defRPr>
            </a:pPr>
            <a:r>
              <a:t>Vì sao không chỉ ẩn menu?</a:t>
            </a:r>
          </a:p>
        </p:txBody>
      </p:sp>
      <p:sp>
        <p:nvSpPr>
          <p:cNvPr id="10" name="TextBox 9"/>
          <p:cNvSpPr txBox="1"/>
          <p:nvPr/>
        </p:nvSpPr>
        <p:spPr>
          <a:xfrm>
            <a:off x="4572000" y="1993392"/>
            <a:ext cx="6766560" cy="621792"/>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Vì API vẫn có thể bị gọi trực tiếp; quyền phải kiểm tra ở server.</a:t>
            </a:r>
          </a:p>
        </p:txBody>
      </p:sp>
      <p:sp>
        <p:nvSpPr>
          <p:cNvPr id="11" name="TextBox 10"/>
          <p:cNvSpPr txBox="1"/>
          <p:nvPr/>
        </p:nvSpPr>
        <p:spPr>
          <a:xfrm>
            <a:off x="777240" y="2779776"/>
            <a:ext cx="3657600" cy="621792"/>
          </a:xfrm>
          <a:prstGeom prst="rect">
            <a:avLst/>
          </a:prstGeom>
          <a:noFill/>
        </p:spPr>
        <p:txBody>
          <a:bodyPr wrap="square" lIns="18288" rIns="18288" tIns="18288" bIns="18288">
            <a:spAutoFit/>
          </a:bodyPr>
          <a:lstStyle/>
          <a:p>
            <a:pPr>
              <a:spcAft>
                <a:spcPts val="800"/>
              </a:spcAft>
              <a:defRPr sz="1700" b="1">
                <a:solidFill>
                  <a:srgbClr val="132D50"/>
                </a:solidFill>
                <a:latin typeface="Arial"/>
              </a:defRPr>
            </a:pPr>
            <a:r>
              <a:t>Vì sao điểm lead không sửa tay?</a:t>
            </a:r>
          </a:p>
        </p:txBody>
      </p:sp>
      <p:sp>
        <p:nvSpPr>
          <p:cNvPr id="12" name="TextBox 11"/>
          <p:cNvSpPr txBox="1"/>
          <p:nvPr/>
        </p:nvSpPr>
        <p:spPr>
          <a:xfrm>
            <a:off x="4572000" y="2779776"/>
            <a:ext cx="6766560" cy="621792"/>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Điểm là kết quả quy tắc; người quản lý sửa tiêu chí và ngưỡng.</a:t>
            </a:r>
          </a:p>
        </p:txBody>
      </p:sp>
      <p:sp>
        <p:nvSpPr>
          <p:cNvPr id="13" name="TextBox 12"/>
          <p:cNvSpPr txBox="1"/>
          <p:nvPr/>
        </p:nvSpPr>
        <p:spPr>
          <a:xfrm>
            <a:off x="777240" y="3566160"/>
            <a:ext cx="3657600" cy="621792"/>
          </a:xfrm>
          <a:prstGeom prst="rect">
            <a:avLst/>
          </a:prstGeom>
          <a:noFill/>
        </p:spPr>
        <p:txBody>
          <a:bodyPr wrap="square" lIns="18288" rIns="18288" tIns="18288" bIns="18288">
            <a:spAutoFit/>
          </a:bodyPr>
          <a:lstStyle/>
          <a:p>
            <a:pPr>
              <a:spcAft>
                <a:spcPts val="800"/>
              </a:spcAft>
              <a:defRPr sz="1700" b="1">
                <a:solidFill>
                  <a:srgbClr val="132D50"/>
                </a:solidFill>
                <a:latin typeface="Arial"/>
              </a:defRPr>
            </a:pPr>
            <a:r>
              <a:t>Một dòng Excel sai có hủy tất cả?</a:t>
            </a:r>
          </a:p>
        </p:txBody>
      </p:sp>
      <p:sp>
        <p:nvSpPr>
          <p:cNvPr id="14" name="TextBox 13"/>
          <p:cNvSpPr txBox="1"/>
          <p:nvPr/>
        </p:nvSpPr>
        <p:spPr>
          <a:xfrm>
            <a:off x="4572000" y="3566160"/>
            <a:ext cx="6766560" cy="621792"/>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Không: xem trước lỗi, xác nhận nhập dòng hợp lệ và xuất báo cáo.</a:t>
            </a:r>
          </a:p>
        </p:txBody>
      </p:sp>
      <p:sp>
        <p:nvSpPr>
          <p:cNvPr id="15" name="TextBox 14"/>
          <p:cNvSpPr txBox="1"/>
          <p:nvPr/>
        </p:nvSpPr>
        <p:spPr>
          <a:xfrm>
            <a:off x="777240" y="4352544"/>
            <a:ext cx="3657600" cy="621792"/>
          </a:xfrm>
          <a:prstGeom prst="rect">
            <a:avLst/>
          </a:prstGeom>
          <a:noFill/>
        </p:spPr>
        <p:txBody>
          <a:bodyPr wrap="square" lIns="18288" rIns="18288" tIns="18288" bIns="18288">
            <a:spAutoFit/>
          </a:bodyPr>
          <a:lstStyle/>
          <a:p>
            <a:pPr>
              <a:spcAft>
                <a:spcPts val="800"/>
              </a:spcAft>
              <a:defRPr sz="1700" b="1">
                <a:solidFill>
                  <a:srgbClr val="132D50"/>
                </a:solidFill>
                <a:latin typeface="Arial"/>
              </a:defRPr>
            </a:pPr>
            <a:r>
              <a:t>Có code rồi vì sao Jira vẫn To Do?</a:t>
            </a:r>
          </a:p>
        </p:txBody>
      </p:sp>
      <p:sp>
        <p:nvSpPr>
          <p:cNvPr id="16" name="TextBox 15"/>
          <p:cNvSpPr txBox="1"/>
          <p:nvPr/>
        </p:nvSpPr>
        <p:spPr>
          <a:xfrm>
            <a:off x="4572000" y="4352544"/>
            <a:ext cx="6766560" cy="621792"/>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Bản export cũ và nghiệm thu là hai nguồn khác nhau, cần đồng bộ.</a:t>
            </a:r>
          </a:p>
        </p:txBody>
      </p:sp>
      <p:sp>
        <p:nvSpPr>
          <p:cNvPr id="17" name="TextBox 16"/>
          <p:cNvSpPr txBox="1"/>
          <p:nvPr/>
        </p:nvSpPr>
        <p:spPr>
          <a:xfrm>
            <a:off x="777240" y="5138928"/>
            <a:ext cx="3657600" cy="621792"/>
          </a:xfrm>
          <a:prstGeom prst="rect">
            <a:avLst/>
          </a:prstGeom>
          <a:noFill/>
        </p:spPr>
        <p:txBody>
          <a:bodyPr wrap="square" lIns="18288" rIns="18288" tIns="18288" bIns="18288">
            <a:spAutoFit/>
          </a:bodyPr>
          <a:lstStyle/>
          <a:p>
            <a:pPr>
              <a:spcAft>
                <a:spcPts val="800"/>
              </a:spcAft>
              <a:defRPr sz="1700" b="1">
                <a:solidFill>
                  <a:srgbClr val="132D50"/>
                </a:solidFill>
                <a:latin typeface="Arial"/>
              </a:defRPr>
            </a:pPr>
            <a:r>
              <a:t>Bản mẫu có phải CRM chính?</a:t>
            </a:r>
          </a:p>
        </p:txBody>
      </p:sp>
      <p:sp>
        <p:nvSpPr>
          <p:cNvPr id="18" name="TextBox 17"/>
          <p:cNvSpPr txBox="1"/>
          <p:nvPr/>
        </p:nvSpPr>
        <p:spPr>
          <a:xfrm>
            <a:off x="4572000" y="5138928"/>
            <a:ext cx="6766560" cy="621792"/>
          </a:xfrm>
          <a:prstGeom prst="rect">
            <a:avLst/>
          </a:prstGeom>
          <a:noFill/>
        </p:spPr>
        <p:txBody>
          <a:bodyPr wrap="square" lIns="18288" rIns="18288" tIns="18288" bIns="18288">
            <a:spAutoFit/>
          </a:bodyPr>
          <a:lstStyle/>
          <a:p>
            <a:pPr>
              <a:spcAft>
                <a:spcPts val="800"/>
              </a:spcAft>
              <a:defRPr sz="1700" b="0">
                <a:solidFill>
                  <a:srgbClr val="233B59"/>
                </a:solidFill>
                <a:latin typeface="Arial"/>
              </a:defRPr>
            </a:pPr>
            <a:r>
              <a:t>Không. Demo JSON độc lập; CRM chính dùng MySQL và auth hệ thống.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8FC"/>
        </a:solidFill>
        <a:effectLst/>
      </p:bgPr>
    </p:bg>
    <p:spTree>
      <p:nvGrpSpPr>
        <p:cNvPr id="1" name=""/>
        <p:cNvGrpSpPr/>
        <p:nvPr/>
      </p:nvGrpSpPr>
      <p:grpSpPr/>
      <p:sp>
        <p:nvSpPr>
          <p:cNvPr id="2" name="Rectangle 1"/>
          <p:cNvSpPr/>
          <p:nvPr/>
        </p:nvSpPr>
        <p:spPr>
          <a:xfrm>
            <a:off x="576072" y="384048"/>
            <a:ext cx="82296" cy="201168"/>
          </a:xfrm>
          <a:prstGeom prst="rect">
            <a:avLst/>
          </a:prstGeom>
          <a:solidFill>
            <a:srgbClr val="13B5A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758952" y="365760"/>
            <a:ext cx="10058400" cy="274320"/>
          </a:xfrm>
          <a:prstGeom prst="rect">
            <a:avLst/>
          </a:prstGeom>
          <a:noFill/>
        </p:spPr>
        <p:txBody>
          <a:bodyPr wrap="square" lIns="18288" rIns="18288" tIns="18288" bIns="18288">
            <a:spAutoFit/>
          </a:bodyPr>
          <a:lstStyle/>
          <a:p>
            <a:pPr>
              <a:spcAft>
                <a:spcPts val="800"/>
              </a:spcAft>
              <a:defRPr sz="1100" b="1">
                <a:solidFill>
                  <a:srgbClr val="1677FF"/>
                </a:solidFill>
                <a:latin typeface="Arial"/>
              </a:defRPr>
            </a:pPr>
            <a:r>
              <a:t>PHỤ LỤC / NGUỒN</a:t>
            </a:r>
          </a:p>
        </p:txBody>
      </p:sp>
      <p:sp>
        <p:nvSpPr>
          <p:cNvPr id="4" name="TextBox 3"/>
          <p:cNvSpPr txBox="1"/>
          <p:nvPr/>
        </p:nvSpPr>
        <p:spPr>
          <a:xfrm>
            <a:off x="594360" y="832104"/>
            <a:ext cx="10972800" cy="914400"/>
          </a:xfrm>
          <a:prstGeom prst="rect">
            <a:avLst/>
          </a:prstGeom>
          <a:noFill/>
        </p:spPr>
        <p:txBody>
          <a:bodyPr wrap="square" lIns="18288" rIns="18288" tIns="18288" bIns="18288">
            <a:spAutoFit/>
          </a:bodyPr>
          <a:lstStyle/>
          <a:p>
            <a:pPr>
              <a:spcAft>
                <a:spcPts val="800"/>
              </a:spcAft>
              <a:defRPr sz="3100" b="1">
                <a:solidFill>
                  <a:srgbClr val="132D50"/>
                </a:solidFill>
                <a:latin typeface="Arial"/>
              </a:defRPr>
            </a:pPr>
            <a:r>
              <a:t>Phụ lục — Nguồn và cách đọc số liệu</a:t>
            </a:r>
          </a:p>
        </p:txBody>
      </p:sp>
      <p:sp>
        <p:nvSpPr>
          <p:cNvPr id="5" name="TextBox 4"/>
          <p:cNvSpPr txBox="1"/>
          <p:nvPr/>
        </p:nvSpPr>
        <p:spPr>
          <a:xfrm>
            <a:off x="621792" y="1499616"/>
            <a:ext cx="10881360" cy="420624"/>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Tài liệu được tổng hợp ngày 21/10/2026; dữ liệu Jira mới nhất được cung cấp là ngày 18/10.</a:t>
            </a:r>
          </a:p>
        </p:txBody>
      </p:sp>
      <p:sp>
        <p:nvSpPr>
          <p:cNvPr id="6" name="Rectangle 5"/>
          <p:cNvSpPr/>
          <p:nvPr/>
        </p:nvSpPr>
        <p:spPr>
          <a:xfrm>
            <a:off x="612648" y="6419088"/>
            <a:ext cx="10927080" cy="10972"/>
          </a:xfrm>
          <a:prstGeom prst="rect">
            <a:avLst/>
          </a:prstGeom>
          <a:solidFill>
            <a:srgbClr val="DFE7F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21792" y="6501384"/>
            <a:ext cx="9144000" cy="182880"/>
          </a:xfrm>
          <a:prstGeom prst="rect">
            <a:avLst/>
          </a:prstGeom>
          <a:noFill/>
        </p:spPr>
        <p:txBody>
          <a:bodyPr wrap="square" lIns="18288" rIns="18288" tIns="18288" bIns="18288">
            <a:spAutoFit/>
          </a:bodyPr>
          <a:lstStyle/>
          <a:p>
            <a:pPr>
              <a:spcAft>
                <a:spcPts val="800"/>
              </a:spcAft>
              <a:defRPr sz="900" b="0">
                <a:solidFill>
                  <a:srgbClr val="657A92"/>
                </a:solidFill>
                <a:latin typeface="Arial"/>
              </a:defRPr>
            </a:pPr>
            <a:r>
              <a:t>ENTERPRISE CRM  /  NHÓM N1  /  SPRINT 1–4</a:t>
            </a:r>
          </a:p>
        </p:txBody>
      </p:sp>
      <p:sp>
        <p:nvSpPr>
          <p:cNvPr id="8" name="TextBox 7"/>
          <p:cNvSpPr txBox="1"/>
          <p:nvPr/>
        </p:nvSpPr>
        <p:spPr>
          <a:xfrm>
            <a:off x="10972800" y="6473952"/>
            <a:ext cx="548640" cy="228600"/>
          </a:xfrm>
          <a:prstGeom prst="rect">
            <a:avLst/>
          </a:prstGeom>
          <a:noFill/>
        </p:spPr>
        <p:txBody>
          <a:bodyPr wrap="square" lIns="18288" rIns="18288" tIns="18288" bIns="18288">
            <a:spAutoFit/>
          </a:bodyPr>
          <a:lstStyle/>
          <a:p>
            <a:pPr algn="r">
              <a:spcAft>
                <a:spcPts val="800"/>
              </a:spcAft>
              <a:defRPr sz="1000" b="0">
                <a:solidFill>
                  <a:srgbClr val="657A92"/>
                </a:solidFill>
                <a:latin typeface="Arial"/>
              </a:defRPr>
            </a:pPr>
            <a:r>
              <a:t>26</a:t>
            </a:r>
          </a:p>
        </p:txBody>
      </p:sp>
      <p:sp>
        <p:nvSpPr>
          <p:cNvPr id="9" name="TextBox 8"/>
          <p:cNvSpPr txBox="1"/>
          <p:nvPr/>
        </p:nvSpPr>
        <p:spPr>
          <a:xfrm>
            <a:off x="804672" y="2103120"/>
            <a:ext cx="10607040" cy="2377440"/>
          </a:xfrm>
          <a:prstGeom prst="rect">
            <a:avLst/>
          </a:prstGeom>
          <a:noFill/>
        </p:spPr>
        <p:txBody>
          <a:bodyPr wrap="square" lIns="18288" rIns="18288" tIns="18288" bIns="18288">
            <a:spAutoFit/>
          </a:bodyPr>
          <a:lstStyle/>
          <a:p>
            <a:pPr>
              <a:spcAft>
                <a:spcPts val="800"/>
              </a:spcAft>
              <a:defRPr sz="1900" b="0">
                <a:solidFill>
                  <a:srgbClr val="233B59"/>
                </a:solidFill>
                <a:latin typeface="Arial"/>
              </a:defRPr>
            </a:pPr>
            <a:r>
              <a:t>01  HỆ THỐNG QUẢN LÝ KHÁCH HÀNG.xlsx</a:t>
            </a:r>
          </a:p>
          <a:p>
            <a:pPr>
              <a:spcAft>
                <a:spcPts val="800"/>
              </a:spcAft>
              <a:defRPr sz="1900" b="0">
                <a:solidFill>
                  <a:srgbClr val="233B59"/>
                </a:solidFill>
                <a:latin typeface="Arial"/>
              </a:defRPr>
            </a:pPr>
            <a:r>
              <a:t>      Product Backlog, User Roles, Sprint Plan — phạm vi và AC.</a:t>
            </a:r>
          </a:p>
          <a:p>
            <a:pPr>
              <a:spcAft>
                <a:spcPts val="800"/>
              </a:spcAft>
              <a:defRPr sz="1900" b="0">
                <a:solidFill>
                  <a:srgbClr val="233B59"/>
                </a:solidFill>
                <a:latin typeface="Arial"/>
              </a:defRPr>
            </a:pPr>
            <a:r>
              <a:t>02  Jira_N1_cap_nhat_18-10-2026.xlsx</a:t>
            </a:r>
          </a:p>
          <a:p>
            <a:pPr>
              <a:spcAft>
                <a:spcPts val="800"/>
              </a:spcAft>
              <a:defRPr sz="1900" b="0">
                <a:solidFill>
                  <a:srgbClr val="233B59"/>
                </a:solidFill>
                <a:latin typeface="Arial"/>
              </a:defRPr>
            </a:pPr>
            <a:r>
              <a:t>      Story và trạng thái; Created/Updated không chứng minh ngày hoàn thành.</a:t>
            </a:r>
          </a:p>
          <a:p>
            <a:pPr>
              <a:spcAft>
                <a:spcPts val="800"/>
              </a:spcAft>
              <a:defRPr sz="1900" b="0">
                <a:solidFill>
                  <a:srgbClr val="233B59"/>
                </a:solidFill>
                <a:latin typeface="Arial"/>
              </a:defRPr>
            </a:pPr>
            <a:r>
              <a:t>03  Repository TTCS_N1, reports, ảnh và log test</a:t>
            </a:r>
          </a:p>
          <a:p>
            <a:pPr>
              <a:spcAft>
                <a:spcPts val="800"/>
              </a:spcAft>
              <a:defRPr sz="1900" b="0">
                <a:solidFill>
                  <a:srgbClr val="233B59"/>
                </a:solidFill>
                <a:latin typeface="Arial"/>
              </a:defRPr>
            </a:pPr>
            <a:r>
              <a:t>      Chứng cứ kỹ thuật đã ghi nhận, không thay nghiệm thu.</a:t>
            </a:r>
          </a:p>
        </p:txBody>
      </p:sp>
      <p:sp>
        <p:nvSpPr>
          <p:cNvPr id="10" name="Rounded Rectangle 9"/>
          <p:cNvSpPr/>
          <p:nvPr/>
        </p:nvSpPr>
        <p:spPr>
          <a:xfrm>
            <a:off x="621792" y="5266944"/>
            <a:ext cx="10936224" cy="502920"/>
          </a:xfrm>
          <a:prstGeom prst="roundRect">
            <a:avLst>
              <a:gd name="adj" fmla="val 12000"/>
            </a:avLst>
          </a:prstGeom>
          <a:solidFill>
            <a:srgbClr val="FFF3DD"/>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77240" y="5349240"/>
            <a:ext cx="10607040" cy="320040"/>
          </a:xfrm>
          <a:prstGeom prst="rect">
            <a:avLst/>
          </a:prstGeom>
          <a:noFill/>
        </p:spPr>
        <p:txBody>
          <a:bodyPr wrap="square" lIns="18288" rIns="18288" tIns="18288" bIns="18288">
            <a:spAutoFit/>
          </a:bodyPr>
          <a:lstStyle/>
          <a:p>
            <a:pPr>
              <a:spcAft>
                <a:spcPts val="800"/>
              </a:spcAft>
              <a:defRPr sz="1400" b="1">
                <a:solidFill>
                  <a:srgbClr val="F7AA3B"/>
                </a:solidFill>
                <a:latin typeface="Arial"/>
              </a:defRPr>
            </a:pPr>
            <a:r>
              <a:t>Lưu ý đối chiếu: S2-02 trong backlog là hồ sơ cá nhân; N1-125 trên Jira lại mô tả liên hệ.</a:t>
            </a:r>
          </a:p>
        </p:txBody>
      </p:sp>
      <p:sp>
        <p:nvSpPr>
          <p:cNvPr id="12" name="TextBox 11"/>
          <p:cNvSpPr txBox="1"/>
          <p:nvPr/>
        </p:nvSpPr>
        <p:spPr>
          <a:xfrm>
            <a:off x="804672" y="5888736"/>
            <a:ext cx="10698480" cy="320040"/>
          </a:xfrm>
          <a:prstGeom prst="rect">
            <a:avLst/>
          </a:prstGeom>
          <a:noFill/>
        </p:spPr>
        <p:txBody>
          <a:bodyPr wrap="square" lIns="18288" rIns="18288" tIns="18288" bIns="18288">
            <a:spAutoFit/>
          </a:bodyPr>
          <a:lstStyle/>
          <a:p>
            <a:pPr>
              <a:spcAft>
                <a:spcPts val="800"/>
              </a:spcAft>
              <a:defRPr sz="1400" b="0">
                <a:solidFill>
                  <a:srgbClr val="657A92"/>
                </a:solidFill>
                <a:latin typeface="Arial"/>
              </a:defRPr>
            </a:pPr>
            <a:r>
              <a:t>Mã story và trạng thái có chênh lệch: đối chiếu theo nội dung, không tự ghép hoặc đổi trạng thái.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CRM — Báo cáo Sprint 1–4</dc:title>
  <dc:subject>Tổng quan hệ thống, chức năng, demo và kiểm thử Sprint 1 đến Sprint 4</dc:subject>
  <dc:creator>Nhóm dự án N1</dc:creator>
  <cp:keywords>CRM, Sprint 1, Sprint 2, Sprint 3, Sprint 4, Jira</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