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430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Quy trình của nhóm bắt đầu từ việc trưởng nhóm phân công và làm rõ yêu cầu. Sau đó, từng thành viên thực hiện phần của mình, tự kiểm tra kết quả và chủ động trao đổi khi có vướng mắc. Khi phần việc đã sẵn sàng, thành viên gửi một yêu cầu xem xét, gọi là Pull request. Trưởng nhóm đọc, kiểm tra và góp ý. Nếu đạt yêu cầu, phần việc được gộp vào bản chung. Nếu chưa đạt, thành viên chỉnh sửa rồi gửi lại để kiểm tra. Nhờ vòng phản hồi này, nhóm có thể phát hiện thiếu sót trước khi đưa thay đổi vào sản phẩm.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Mỗi thành viên trình bày hai slide liên tiếp. Slide đầu giới thiệu phần việc phụ trách và cách đóng góp cho nhóm; slide sau kể một tình huống tiêu biểu theo thứ tự vấn đề, cách giải quyết và kết quả. Nội dung phần này được biên tập từ phân công trong file llll.pptx, không bổ sung các số đo hiệu năng hoặc tỷ lệ cải thiện chưa có minh chứng.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Triệu Quang Dũng. Trong nhóm, tôi phụ trách điều phối công việc, phân quyền dữ liệu và kết nối các phần của hệ thống.</a:t>
            </a:r>
          </a:p>
          <a:p/>
          <a:p>
            <a:r>
              <a:t>Trong dự án, tôi phụ trách phân chia công việc, theo dõi tiến độ và làm rõ yêu cầu để các thành viên cùng hiểu mục tiêu. Tôi cũng tham gia xây dựng cách giới hạn thông tin theo người phụ trách và theo nhóm.</a:t>
            </a:r>
          </a:p>
          <a:p>
            <a:r>
              <a:t>Bên cạnh đó, tôi kết nối các phần đã hoàn thành, kiểm tra các luồng sử dụng và xử lý những điểm chưa thống nhất trước khi đưa vào bản chung.</a:t>
            </a:r>
          </a:p>
          <a:p/>
          <a:p>
            <a:r>
              <a:t>Tôi xem xét các phần việc do thành viên gửi lên, trao đổi những điểm cần sửa và hỗ trợ khi có vướng mắc. Tôi cũng tổng hợp hướng dẫn chạy thử để cả nhóm có thể kiểm tra và chuẩn bị báo cáo trên cùng một phiên bản.</a:t>
            </a:r>
          </a:p>
          <a:p/>
          <a:p>
            <a:r>
              <a:t>Điều tôi muốn nhấn mạnh là: Giúp các phần việc của nhiều người trở thành một sản phẩm thống nhất và dễ kiểm tra.</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đảm bảo mỗi người chỉ xem đúng dữ liệu được giao.</a:t>
            </a:r>
          </a:p>
          <a:p/>
          <a:p>
            <a:r>
              <a:t>Hệ thống có nhiều vai trò và nhiều nhóm kinh doanh. Nếu chỉ cho phép mở một chức năng mà không giới hạn dữ liệu bên trong, nhân viên có thể xem nhầm thông tin của người hoặc nhóm khác.</a:t>
            </a:r>
          </a:p>
          <a:p/>
          <a:p>
            <a:r>
              <a:t>Để giải quyết vấn đề này, tôi tổ chức phạm vi truy cập theo ba mức: dữ liệu của bản thân, dữ liệu của nhóm và dữ liệu được phép xem toàn bộ. Khi người dùng mở thông tin, hệ thống kiểm tra phạm vi trước khi trả kết quả.</a:t>
            </a:r>
          </a:p>
          <a:p/>
          <a:p>
            <a:r>
              <a:t>Cách xử lý này giúp việc xem và sử dụng dữ liệu bám đúng trách nhiệm của từng người. Nhóm cũng có tình huống kiểm tra rõ ràng: nhân viên này không được mở hồ sơ ngoài phạm vi của mình.</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Lê Minh Danh. Trong nhóm, tôi phụ trách danh mục sản phẩm, bảng giá và kiểm tra mức giá bán.</a:t>
            </a:r>
          </a:p>
          <a:p/>
          <a:p>
            <a:r>
              <a:t>Tôi phụ trách phần quản lý sản phẩm và bảng giá để nhóm có một nguồn thông tin thống nhất khi lập báo giá. Phần việc này gồm thông tin sản phẩm, đơn vị tính và các mức giá cần sử dụng.</a:t>
            </a:r>
          </a:p>
          <a:p>
            <a:r>
              <a:t>Tôi cũng xử lý việc kiểm tra mức giá bán và giới hạn người được xem thông tin giá vốn, nhằm hỗ trợ sử dụng dữ liệu đúng quy định.</a:t>
            </a:r>
          </a:p>
          <a:p/>
          <a:p>
            <a:r>
              <a:t>Tôi trao đổi với các bạn làm giao diện để thống nhất những thông tin cần hiển thị và cách báo lỗi khi nhập giá chưa phù hợp. Khi tích hợp, tôi hỗ trợ kiểm tra các trường hợp nhập liệu và điều chỉnh phần xử lý theo phản hồi.</a:t>
            </a:r>
          </a:p>
          <a:p/>
          <a:p>
            <a:r>
              <a:t>Điều tôi muốn nhấn mạnh là: Giúp việc lập báo giá dựa trên dữ liệu chung và hạn chế sai sót về giá.</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giúp nhóm sử dụng sản phẩm và mức giá thống nhất.</a:t>
            </a:r>
          </a:p>
          <a:p/>
          <a:p>
            <a:r>
              <a:t>Khi thông tin sản phẩm và mức giá không thống nhất, người lập báo giá có thể chọn sai dữ liệu hoặc áp dụng mức giá chưa phù hợp với quy định của doanh nghiệp.</a:t>
            </a:r>
          </a:p>
          <a:p/>
          <a:p>
            <a:r>
              <a:t>Để giải quyết vấn đề này, tôi tập trung thông tin sản phẩm và các mức giá vào một danh mục chung, đồng thời bổ sung kiểm tra khi sử dụng giá. Những thông tin nhạy cảm như giá vốn được giới hạn theo quyền của người dùng.</a:t>
            </a:r>
          </a:p>
          <a:p/>
          <a:p>
            <a:r>
              <a:t>Nhóm có cơ sở chung để lấy thông tin sản phẩm và giá bán. Các trường hợp chưa phù hợp được thông báo để người dùng kiểm tra trước khi tiếp tục.</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Nguyễn Trần Việt Anh. Trong nhóm, tôi phụ trách cây tổ chức, nhóm kinh doanh và việc gắn nhân sự vào nhóm.</a:t>
            </a:r>
          </a:p>
          <a:p/>
          <a:p>
            <a:r>
              <a:t>Tôi phụ trách cách lưu và quản lý cơ cấu tổ chức kinh doanh, từ đơn vị cấp trên đến các nhóm trực thuộc. Tôi xây dựng phần thêm, sửa nhóm và gắn nhân sự vào đúng đơn vị.</a:t>
            </a:r>
          </a:p>
          <a:p>
            <a:r>
              <a:t>Tôi cũng hỗ trợ xác định người quản lý và các thành viên thuộc một nhánh, để các phần khác của hệ thống sử dụng cùng một cơ cấu tổ chức.</a:t>
            </a:r>
          </a:p>
          <a:p/>
          <a:p>
            <a:r>
              <a:t>Tôi phối hợp với các bạn làm giao diện để hiển thị cây tổ chức rõ ràng, đồng thời hỗ trợ phần phân quyền xác định đúng phạm vi nhóm. Khi có thay đổi về nhân sự hoặc đơn vị, tôi cùng nhóm kiểm tra các thông tin liên quan.</a:t>
            </a:r>
          </a:p>
          <a:p/>
          <a:p>
            <a:r>
              <a:t>Điều tôi muốn nhấn mạnh là: Giúp cơ cấu tổ chức vừa dễ theo dõi vừa phục vụ việc phân chia phạm vi dữ liệu.</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gắn cơ cấu tổ chức với trách nhiệm quản lý dữ liệu.</a:t>
            </a:r>
          </a:p>
          <a:p/>
          <a:p>
            <a:r>
              <a:t>Nếu phòng ban và nhóm kinh doanh chỉ được ghi bằng tên rời rạc, hệ thống khó biết một người thuộc đơn vị nào và người quản lý được theo dõi những thành viên nào.</a:t>
            </a:r>
          </a:p>
          <a:p/>
          <a:p>
            <a:r>
              <a:t>Để giải quyết vấn đề này, tôi tổ chức các đơn vị theo quan hệ cấp trên và cấp dưới, đồng thời gắn nhân sự với nhóm cụ thể. Cơ cấu này được dùng chung khi xác định phạm vi quản lý.</a:t>
            </a:r>
          </a:p>
          <a:p/>
          <a:p>
            <a:r>
              <a:t>Nhóm có thể hiển thị một cây tổ chức thống nhất và sử dụng thông tin đó để phục vụ quyền xem dữ liệu của người quản lý.</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Đỗ Tuấn Dũng. Trong nhóm, tôi phụ trách danh mục dùng chung, nguồn khách hàng và lý do thắng hoặc thua cơ hội.</a:t>
            </a:r>
          </a:p>
          <a:p/>
          <a:p>
            <a:r>
              <a:t>Tôi phụ trách các danh mục dùng chung như nguồn khách hàng, ngành nghề và các lựa chọn phục vụ bán hàng. Tôi xây dựng phần thêm, sửa và sắp xếp để các màn hình có thể dùng cùng một bộ dữ liệu.</a:t>
            </a:r>
          </a:p>
          <a:p>
            <a:r>
              <a:t>Tôi cũng tham gia quản lý thông tin đối thủ và lý do chốt thành công hoặc không thành công của cơ hội.</a:t>
            </a:r>
          </a:p>
          <a:p/>
          <a:p>
            <a:r>
              <a:t>Tôi chuẩn bị dữ liệu mẫu và hướng dẫn sử dụng các danh mục cho những bạn làm giao diện. Khi nhóm tích hợp, tôi hỗ trợ đối chiếu các lựa chọn hiển thị để tránh mỗi màn hình sử dụng một cách gọi khác nhau.</a:t>
            </a:r>
          </a:p>
          <a:p/>
          <a:p>
            <a:r>
              <a:t>Điều tôi muốn nhấn mạnh là: Giúp dữ liệu nhập vào nhất quán và thuận tiện hơn khi tổng hợp kết quả bán hàng.</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chuẩn hóa những lựa chọn được dùng trên nhiều màn hình.</a:t>
            </a:r>
          </a:p>
          <a:p/>
          <a:p>
            <a:r>
              <a:t>Nếu từng màn hình tự tạo danh sách lựa chọn, cùng một nguồn khách hàng hoặc ngành nghề có thể được ghi theo nhiều cách, gây khó khăn khi tìm kiếm và tổng hợp.</a:t>
            </a:r>
          </a:p>
          <a:p/>
          <a:p>
            <a:r>
              <a:t>Để giải quyết vấn đề này, tôi đưa các lựa chọn về một bộ danh mục chung, cho phép quản lý nội dung và thứ tự hiển thị. Các màn hình lấy dữ liệu từ cùng một nơi thay vì tự khai báo riêng.</a:t>
            </a:r>
          </a:p>
          <a:p/>
          <a:p>
            <a:r>
              <a:t>Người dùng có các lựa chọn thống nhất khi nhập thông tin. Nhóm cũng dễ bổ sung hoặc điều chỉnh danh mục mà không phải sửa từng màn hình một cách riêng lẻ.</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Nguyễn Thùy Chang. Trong nhóm, tôi phụ trách nhật ký thay đổi và tra cứu lịch sử chỉnh sửa.</a:t>
            </a:r>
          </a:p>
          <a:p/>
          <a:p>
            <a:r>
              <a:t>Tôi phụ trách phần ghi nhận lịch sử thay đổi đối với những thông tin quan trọng của hệ thống. Khi dữ liệu được chỉnh sửa, phần xử lý lưu lại người thực hiện, thời điểm và nội dung đã thay đổi.</a:t>
            </a:r>
          </a:p>
          <a:p>
            <a:r>
              <a:t>Tôi cũng xây dựng cách tra cứu lịch sử theo người dùng, thời gian và loại thông tin, giúp việc kiểm tra lại thuận tiện hơn.</a:t>
            </a:r>
          </a:p>
          <a:p/>
          <a:p>
            <a:r>
              <a:t>Tôi phối hợp với các bạn làm giao diện để thống nhất cách trình bày giá trị cũ và giá trị mới. Tôi hỗ trợ kiểm tra các tình huống chỉnh sửa để lịch sử phản ánh đúng thao tác và dễ đọc đối với người sử dụng.</a:t>
            </a:r>
          </a:p>
          <a:p/>
          <a:p>
            <a:r>
              <a:t>Điều tôi muốn nhấn mạnh là: Giúp nhóm và người quản lý giải thích được dữ liệu đã thay đổi như thế nào.</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làm rõ ai đã sửa gì và sửa vào thời điểm nào.</a:t>
            </a:r>
          </a:p>
          <a:p/>
          <a:p>
            <a:r>
              <a:t>Khi các thông tin quan trọng thay đổi mà không có lịch sử, người quản lý khó xác định nguyên nhân của chênh lệch hoặc biết ai là người thực hiện chỉnh sửa.</a:t>
            </a:r>
          </a:p>
          <a:p/>
          <a:p>
            <a:r>
              <a:t>Để giải quyết vấn đề này, tôi bổ sung phần ghi lại thao tác và so sánh thông tin trước với sau khi sửa. Người dùng có thể tra cứu theo thời gian, người thực hiện và loại dữ liệu cần kiểm tra.</a:t>
            </a:r>
          </a:p>
          <a:p/>
          <a:p>
            <a:r>
              <a:t>Lịch sử chỉnh sửa trở nên rõ ràng hơn, hỗ trợ đối chiếu khi có thắc mắc và giúp việc trao đổi giữa các thành viên dựa trên thông tin cụ thể.</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Phạm Xuân Bính. Trong nhóm, tôi phụ trách đăng xuất, đổi mật khẩu và khôi phục tài khoản qua email.</a:t>
            </a:r>
          </a:p>
          <a:p/>
          <a:p>
            <a:r>
              <a:t>Tôi phụ trách các thao tác liên quan đến bảo vệ và khôi phục tài khoản, gồm đăng xuất, đổi mật khẩu và yêu cầu đặt lại mật khẩu qua email. Tôi xử lý việc kiểm tra thông tin và giới hạn sử dụng liên kết khôi phục.</a:t>
            </a:r>
          </a:p>
          <a:p>
            <a:r>
              <a:t>Tôi cũng tham gia cấu hình gửi thư và kiểm tra các tình huống liên quan đến mật khẩu.</a:t>
            </a:r>
          </a:p>
          <a:p/>
          <a:p>
            <a:r>
              <a:t>Tôi trao đổi với các bạn làm giao diện để thống nhất thông báo cho người dùng, chẳng hạn khi thông tin chưa đúng hoặc liên kết không còn dùng được. Khi thử nghiệm, tôi hỗ trợ nhóm kiểm tra luồng nhận thư và đặt mật khẩu mới.</a:t>
            </a:r>
          </a:p>
          <a:p/>
          <a:p>
            <a:r>
              <a:t>Điều tôi muốn nhấn mạnh là: Giúp người dùng chủ động bảo vệ tài khoản và có cách lấy lại quyền truy cập khi cần.</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tạo luồng khôi phục tài khoản rõ ràng cho người dùng.</a:t>
            </a:r>
          </a:p>
          <a:p/>
          <a:p>
            <a:r>
              <a:t>Người dùng có thể quên mật khẩu hoặc cần thay mật khẩu để bảo vệ tài khoản. Nếu quy trình không rõ ràng, họ dễ gặp khó khăn khi muốn tiếp tục công việc.</a:t>
            </a:r>
          </a:p>
          <a:p/>
          <a:p>
            <a:r>
              <a:t>Để giải quyết vấn đề này, tôi xây dựng luồng yêu cầu khôi phục qua email, kiểm tra liên kết trước khi đổi mật khẩu và xử lý các trường hợp liên kết hết hạn hoặc đã được sử dụng.</a:t>
            </a:r>
          </a:p>
          <a:p/>
          <a:p>
            <a:r>
              <a:t>Người dùng có một luồng thao tác thống nhất để yêu cầu khôi phục và đặt mật khẩu mới. Những trường hợp không hợp lệ được thông báo để họ biết bước cần thực hiện tiếp theo.</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Nguyễn Ngọc Anh. Trong nhóm, tôi phụ trách màn hình đăng nhập, thanh điều hướng và thông báo về phiên làm việc.</a:t>
            </a:r>
          </a:p>
          <a:p/>
          <a:p>
            <a:r>
              <a:t>Tôi phụ trách giao diện đăng nhập và những phần người dùng thường tiếp xúc khi bắt đầu sử dụng hệ thống. Tôi xây dựng thanh điều hướng và cách hiển thị các lựa chọn phù hợp với quyền của tài khoản.</a:t>
            </a:r>
          </a:p>
          <a:p>
            <a:r>
              <a:t>Tôi cũng xử lý thông báo và hướng dẫn quay lại đăng nhập khi phiên làm việc không còn hợp lệ.</a:t>
            </a:r>
          </a:p>
          <a:p/>
          <a:p>
            <a:r>
              <a:t>Tôi phối hợp với các bạn xử lý tài khoản để thống nhất phản hồi giữa hệ thống và màn hình. Tôi kiểm tra cách hiển thị trên các kích thước khác nhau và điều chỉnh những điểm gây khó hiểu trong quá trình sử dụng.</a:t>
            </a:r>
          </a:p>
          <a:p/>
          <a:p>
            <a:r>
              <a:t>Điều tôi muốn nhấn mạnh là: Giúp người dùng bắt đầu công việc thuận tiện và biết cách xử lý khi cần đăng nhập lại.</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giúp người dùng hiểu trạng thái đăng nhập và bước tiếp theo.</a:t>
            </a:r>
          </a:p>
          <a:p/>
          <a:p>
            <a:r>
              <a:t>Khi phiên làm việc hết hạn mà màn hình không hướng dẫn rõ, người dùng có thể tiếp tục thao tác nhưng không biết vì sao thông tin không được lưu hoặc chức năng không sử dụng được.</a:t>
            </a:r>
          </a:p>
          <a:p/>
          <a:p>
            <a:r>
              <a:t>Để giải quyết vấn đề này, tôi bổ sung thông báo phù hợp và dẫn người dùng trở lại màn hình đăng nhập khi cần. Thanh điều hướng cũng được điều chỉnh để chỉ hiển thị những lựa chọn phù hợp với tài khoản.</a:t>
            </a:r>
          </a:p>
          <a:p/>
          <a:p>
            <a:r>
              <a:t>Luồng truy cập trở nên dễ hiểu hơn. Người dùng nhận được hướng dẫn thay vì phải tự đoán nguyên nhân khi gặp vấn đề liên quan đến phiên làm việc.</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Chẩu Thùy Dung. Trong nhóm, tôi phụ trách danh sách nhân viên, tạo hoặc sửa tài khoản và thay đổi trạng thái sử dụng.</a:t>
            </a:r>
          </a:p>
          <a:p/>
          <a:p>
            <a:r>
              <a:t>Tôi phụ trách giao diện quản lý người dùng, gồm danh sách nhân viên, tìm kiếm, lọc và các biểu mẫu tạo hoặc chỉnh sửa tài khoản. Tôi tổ chức các thông tin cần nhập để người quản trị dễ theo dõi.</a:t>
            </a:r>
          </a:p>
          <a:p>
            <a:r>
              <a:t>Tôi cũng tích hợp các thao tác cập nhật ảnh đại diện và thay đổi trạng thái hoạt động của tài khoản.</a:t>
            </a:r>
          </a:p>
          <a:p/>
          <a:p>
            <a:r>
              <a:t>Tôi làm việc với các bạn phụ trách xử lý người dùng để thống nhất dữ liệu và cách báo lỗi trên biểu mẫu. Tôi tham gia kiểm tra những tình huống nhập thiếu thông tin và điều chỉnh bố cục để màn hình sử dụng thuận tiện hơn.</a:t>
            </a:r>
          </a:p>
          <a:p/>
          <a:p>
            <a:r>
              <a:t>Điều tôi muốn nhấn mạnh là: Giúp người quản trị quản lý nhân sự trên một màn hình có thao tác rõ ràng.</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đưa các thao tác quản lý tài khoản về một luồng thuận tiện.</a:t>
            </a:r>
          </a:p>
          <a:p/>
          <a:p>
            <a:r>
              <a:t>Người quản trị cần thực hiện nhiều thao tác với tài khoản nhân viên. Nếu danh sách và biểu mẫu tách rời hoặc khó tìm, việc tạo và cập nhật thông tin sẽ mất thời gian.</a:t>
            </a:r>
          </a:p>
          <a:p/>
          <a:p>
            <a:r>
              <a:t>Để giải quyết vấn đề này, tôi kết hợp danh sách, tìm kiếm và các biểu mẫu tạo hoặc sửa trong cùng một luồng sử dụng. Các thông báo được đặt gần nội dung cần kiểm tra để người dùng biết chỗ phải điều chỉnh.</a:t>
            </a:r>
          </a:p>
          <a:p/>
          <a:p>
            <a:r>
              <a:t>Người quản trị có thể tìm tài khoản và thực hiện những thay đổi cần thiết thuận tiện hơn, đồng thời dễ theo dõi kết quả sau mỗi thao tác.</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Hoàng Lan Anh. Trong nhóm, tôi phụ trách hồ sơ khách hàng tổng hợp, thông tin bổ sung và chữ ký email.</a:t>
            </a:r>
          </a:p>
          <a:p/>
          <a:p>
            <a:r>
              <a:t>Tôi phụ trách giao diện hồ sơ khách hàng để người dùng có thể xem thông tin công ty, người liên hệ và lịch sử tương tác tại cùng một nơi. Tôi sắp xếp các phần nội dung để dễ tìm trước khi làm việc với khách hàng.</a:t>
            </a:r>
          </a:p>
          <a:p>
            <a:r>
              <a:t>Tôi cũng thực hiện phần hiển thị các thông tin bổ sung theo cấu hình và khu vực chỉnh sửa chữ ký email.</a:t>
            </a:r>
          </a:p>
          <a:p/>
          <a:p>
            <a:r>
              <a:t>Tôi phối hợp với các bạn xử lý dữ liệu để bảo đảm thông tin trên hồ sơ được hiển thị phù hợp. Tôi kiểm tra những trường hợp dữ liệu chưa đầy đủ hoặc có nhiều loại thông tin, rồi điều chỉnh cách trình bày để dễ sử dụng.</a:t>
            </a:r>
          </a:p>
          <a:p/>
          <a:p>
            <a:r>
              <a:t>Điều tôi muốn nhấn mạnh là: Giúp nhân viên nắm được bối cảnh khách hàng mà không phải mở nhiều màn hình.</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giúp người dùng nhìn tổng thể một khách hàng tại một nơi.</a:t>
            </a:r>
          </a:p>
          <a:p/>
          <a:p>
            <a:r>
              <a:t>Thông tin công ty, người liên hệ và những lần trao đổi có thể nằm ở nhiều mục khác nhau. Trước một cuộc gặp, nhân viên sẽ khó nắm đủ bối cảnh nếu phải tìm từng phần.</a:t>
            </a:r>
          </a:p>
          <a:p/>
          <a:p>
            <a:r>
              <a:t>Để giải quyết vấn đề này, tôi đưa các nhóm thông tin liên quan vào hồ sơ khách hàng tổng hợp, trình bày theo từng khu vực rõ ràng và bổ sung các trường thông tin theo cấu hình của nhóm.</a:t>
            </a:r>
          </a:p>
          <a:p/>
          <a:p>
            <a:r>
              <a:t>Người dùng có thể xem thông tin liên quan trong cùng một hồ sơ, thuận tiện hơn khi chuẩn bị trao đổi và tiếp tục chăm sóc khách hàng.</a:t>
            </a:r>
          </a:p>
          <a:p/>
          <a:p>
            <a:r>
              <a:t>Giá trị của phần việc này là giúp người sử dụng hoàn thành công việc rõ ràng hơn và giúp nhóm kết nối các phần liên quan.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Tôi là Hứa Huệ An. Trong nhóm, tôi phụ trách bảng cơ hội bán hàng, chuyển giai đoạn và hiển thị doanh số dự kiến.</a:t>
            </a:r>
          </a:p>
          <a:p/>
          <a:p>
            <a:r>
              <a:t>Tôi phụ trách giao diện theo dõi cơ hội bán hàng theo từng giai đoạn. Tôi xây dựng cách kéo thả để chuyển cơ hội và các biểu mẫu ghi nhận khi một cơ hội được chốt thành công hoặc không thành công.</a:t>
            </a:r>
          </a:p>
          <a:p>
            <a:r>
              <a:t>Tôi cũng trình bày các giá trị tổng hợp để người dùng theo dõi quy mô cơ hội và doanh số dự kiến.</a:t>
            </a:r>
          </a:p>
          <a:p/>
          <a:p>
            <a:r>
              <a:t>Tôi phối hợp với các bạn xử lý cơ hội để thống nhất điều kiện chuyển giai đoạn và những thông tin cần bổ sung khi chốt. Tôi tham gia kiểm tra thao tác kéo thả, phản hồi của màn hình và cách cập nhật dữ liệu sau thay đổi.</a:t>
            </a:r>
          </a:p>
          <a:p/>
          <a:p>
            <a:r>
              <a:t>Điều tôi muốn nhấn mạnh là: Giúp nhân viên và người quản lý theo dõi tiến độ bán hàng một cách trực quan.</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0"/>
          </p:nvPr>
        </p:nvSpPr>
        <p:spPr/>
        <p:txBody>
          <a:bodyPr/>
          <a:lstStyle/>
          <a:p>
            <a:r>
              <a:t>Một đóng góp tiêu biểu của tôi là biến tiến độ bán hàng thành một bảng dễ theo dõi.</a:t>
            </a:r>
          </a:p>
          <a:p/>
          <a:p>
            <a:r>
              <a:t>Một danh sách dài có thể khiến người dùng khó nhận ra cơ hội đang ở bước nào và cần xử lý gì tiếp theo, đặc biệt khi nhiều cơ hội diễn ra cùng lúc.</a:t>
            </a:r>
          </a:p>
          <a:p/>
          <a:p>
            <a:r>
              <a:t>Để giải quyết vấn đề này, tôi trình bày cơ hội theo các cột giai đoạn và hỗ trợ chuyển bằng kéo thả. Khi chốt, màn hình yêu cầu bổ sung thông tin liên quan thay vì chỉ đổi trạng thái.</a:t>
            </a:r>
          </a:p>
          <a:p/>
          <a:p>
            <a:r>
              <a:t>Người dùng có thể nhận biết tiến độ bán hàng nhanh hơn và thực hiện thao tác trong cùng một luồng. Các thông tin khi chốt cũng được ghi nhận rõ ràng hơn.</a:t>
            </a:r>
          </a:p>
          <a:p/>
          <a:p>
            <a:r>
              <a:t>Giá trị của phần việc này là giúp người sử dụng hoàn thành công việc rõ ràng hơn và giúp nhóm kết nối các phần liên quan.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53A"/>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1051560"/>
            <a:ext cx="10543032" cy="320040"/>
          </a:xfrm>
          <a:prstGeom prst="rect">
            <a:avLst/>
          </a:prstGeom>
          <a:noFill/>
          <a:ln/>
        </p:spPr>
        <p:txBody>
          <a:bodyPr wrap="square" lIns="0" tIns="0" rIns="0" bIns="0" rtlCol="0" anchor="t"/>
          <a:lstStyle/>
          <a:p>
            <a:pPr marL="0" indent="0">
              <a:buNone/>
            </a:pPr>
            <a:r>
              <a:rPr lang="en-US" sz="1500" b="1" dirty="0">
                <a:solidFill>
                  <a:srgbClr val="F28C28"/>
                </a:solidFill>
                <a:latin typeface="Arial" pitchFamily="34" charset="0"/>
                <a:ea typeface="Arial" pitchFamily="34" charset="-122"/>
                <a:cs typeface="Arial" pitchFamily="34" charset="-120"/>
              </a:rPr>
              <a:t>BÁO CÁO TỔNG KẾT THỰC TẬP</a:t>
            </a:r>
            <a:endParaRPr lang="en-US" sz="1500" dirty="0"/>
          </a:p>
        </p:txBody>
      </p:sp>
      <p:sp>
        <p:nvSpPr>
          <p:cNvPr id="5" name="Text 1"/>
          <p:cNvSpPr txBox="1"/>
          <p:nvPr/>
        </p:nvSpPr>
        <p:spPr>
          <a:xfrm>
            <a:off x="822960" y="1417320"/>
            <a:ext cx="10543032" cy="822960"/>
          </a:xfrm>
          <a:prstGeom prst="rect">
            <a:avLst/>
          </a:prstGeom>
          <a:noFill/>
          <a:ln/>
        </p:spPr>
        <p:txBody>
          <a:bodyPr wrap="square" lIns="0" tIns="0" rIns="0" bIns="0" rtlCol="0" anchor="t"/>
          <a:lstStyle/>
          <a:p>
            <a:pPr marL="0" indent="0">
              <a:buNone/>
            </a:pPr>
            <a:r>
              <a:rPr lang="en-US" sz="3800" b="1" dirty="0">
                <a:solidFill>
                  <a:srgbClr val="FFFFFF"/>
                </a:solidFill>
                <a:latin typeface="Arial" pitchFamily="34" charset="0"/>
                <a:ea typeface="Arial" pitchFamily="34" charset="-122"/>
                <a:cs typeface="Arial" pitchFamily="34" charset="-120"/>
              </a:rPr>
              <a:t>HỆ THỐNG QUẢN LÝ KHÁCH HÀNG (CRM)</a:t>
            </a:r>
            <a:endParaRPr lang="en-US" sz="3800" dirty="0"/>
          </a:p>
        </p:txBody>
      </p:sp>
      <p:sp>
        <p:nvSpPr>
          <p:cNvPr id="6" name="Text 2"/>
          <p:cNvSpPr txBox="1"/>
          <p:nvPr/>
        </p:nvSpPr>
        <p:spPr>
          <a:xfrm>
            <a:off x="822960" y="2423160"/>
            <a:ext cx="10543032" cy="457200"/>
          </a:xfrm>
          <a:prstGeom prst="rect">
            <a:avLst/>
          </a:prstGeom>
          <a:noFill/>
          <a:ln/>
        </p:spPr>
        <p:txBody>
          <a:bodyPr wrap="square" lIns="0" tIns="0" rIns="0" bIns="0" rtlCol="0" anchor="t"/>
          <a:lstStyle/>
          <a:p>
            <a:pPr marL="0" indent="0">
              <a:buNone/>
            </a:pPr>
            <a:r>
              <a:rPr lang="en-US" sz="1800" dirty="0">
                <a:solidFill>
                  <a:srgbClr val="C5D0DC"/>
                </a:solidFill>
                <a:latin typeface="Arial" pitchFamily="34" charset="0"/>
                <a:ea typeface="Arial" pitchFamily="34" charset="-122"/>
                <a:cs typeface="Arial" pitchFamily="34" charset="-120"/>
              </a:rPr>
              <a:t>Nhóm 1 (TTCS_N1) · Kỳ thực tập 21/09/2026 – 26/10/2026</a:t>
            </a:r>
            <a:endParaRPr lang="en-US" sz="1800" dirty="0"/>
          </a:p>
        </p:txBody>
      </p:sp>
      <p:sp>
        <p:nvSpPr>
          <p:cNvPr id="7" name="Shape 3"/>
          <p:cNvSpPr/>
          <p:nvPr/>
        </p:nvSpPr>
        <p:spPr>
          <a:xfrm>
            <a:off x="822960" y="3154680"/>
            <a:ext cx="1188720" cy="45720"/>
          </a:xfrm>
          <a:prstGeom prst="rect">
            <a:avLst/>
          </a:prstGeom>
          <a:solidFill>
            <a:srgbClr val="F28C28"/>
          </a:solidFill>
          <a:ln w="12700">
            <a:solidFill>
              <a:srgbClr val="F28C28"/>
            </a:solidFill>
            <a:prstDash val="solid"/>
          </a:ln>
        </p:spPr>
      </p:sp>
      <p:sp>
        <p:nvSpPr>
          <p:cNvPr id="8" name="Text 4"/>
          <p:cNvSpPr txBox="1"/>
          <p:nvPr/>
        </p:nvSpPr>
        <p:spPr>
          <a:xfrm>
            <a:off x="822960" y="3474720"/>
            <a:ext cx="2926080" cy="274320"/>
          </a:xfrm>
          <a:prstGeom prst="rect">
            <a:avLst/>
          </a:prstGeom>
          <a:noFill/>
          <a:ln/>
        </p:spPr>
        <p:txBody>
          <a:bodyPr wrap="square" lIns="0" tIns="0" rIns="0" bIns="0" rtlCol="0" anchor="t"/>
          <a:lstStyle/>
          <a:p>
            <a:pPr marL="0" indent="0">
              <a:buNone/>
            </a:pPr>
            <a:r>
              <a:rPr lang="en-US" sz="1400" b="1" dirty="0">
                <a:solidFill>
                  <a:srgbClr val="F28C28"/>
                </a:solidFill>
                <a:latin typeface="Arial" pitchFamily="34" charset="0"/>
                <a:ea typeface="Arial" pitchFamily="34" charset="-122"/>
                <a:cs typeface="Arial" pitchFamily="34" charset="-120"/>
              </a:rPr>
              <a:t>THÀNH VIÊN</a:t>
            </a:r>
            <a:endParaRPr lang="en-US" sz="1400" dirty="0"/>
          </a:p>
        </p:txBody>
      </p:sp>
      <p:sp>
        <p:nvSpPr>
          <p:cNvPr id="11" name="Text 7"/>
          <p:cNvSpPr txBox="1"/>
          <p:nvPr/>
        </p:nvSpPr>
        <p:spPr>
          <a:xfrm>
            <a:off x="7223760" y="3474720"/>
            <a:ext cx="2188597" cy="274320"/>
          </a:xfrm>
          <a:prstGeom prst="rect">
            <a:avLst/>
          </a:prstGeom>
          <a:noFill/>
          <a:ln/>
        </p:spPr>
        <p:txBody>
          <a:bodyPr wrap="square" lIns="0" tIns="0" rIns="0" bIns="0" rtlCol="0" anchor="t"/>
          <a:lstStyle/>
          <a:p>
            <a:pPr marL="0" indent="0">
              <a:buNone/>
            </a:pPr>
            <a:r>
              <a:rPr lang="en-US" sz="1400" b="1" dirty="0">
                <a:solidFill>
                  <a:srgbClr val="F28C28"/>
                </a:solidFill>
                <a:latin typeface="Arial" pitchFamily="34" charset="0"/>
                <a:ea typeface="Arial" pitchFamily="34" charset="-122"/>
                <a:cs typeface="Arial" pitchFamily="34" charset="-120"/>
              </a:rPr>
              <a:t>MENTOR HƯỚNG DẪN</a:t>
            </a:r>
            <a:endParaRPr lang="en-US" sz="1400" dirty="0"/>
          </a:p>
        </p:txBody>
      </p:sp>
      <p:sp>
        <p:nvSpPr>
          <p:cNvPr id="12" name="Text 8"/>
          <p:cNvSpPr txBox="1"/>
          <p:nvPr/>
        </p:nvSpPr>
        <p:spPr>
          <a:xfrm>
            <a:off x="7223760" y="3822192"/>
            <a:ext cx="1737360" cy="640080"/>
          </a:xfrm>
          <a:prstGeom prst="rect">
            <a:avLst/>
          </a:prstGeom>
          <a:noFill/>
          <a:ln/>
        </p:spPr>
        <p:txBody>
          <a:bodyPr wrap="square" lIns="0" tIns="0" rIns="0" bIns="0" rtlCol="0" anchor="t"/>
          <a:lstStyle/>
          <a:p>
            <a:pPr marL="0" indent="0">
              <a:buNone/>
            </a:pPr>
            <a:r>
              <a:rPr lang="en-US" sz="1400" dirty="0">
                <a:solidFill>
                  <a:srgbClr val="F2F4F7"/>
                </a:solidFill>
                <a:latin typeface="Arial" pitchFamily="34" charset="0"/>
                <a:ea typeface="Arial" pitchFamily="34" charset="-122"/>
                <a:cs typeface="Arial" pitchFamily="34" charset="-120"/>
              </a:rPr>
              <a:t>Dư Thanh Hoàng (Mentor Doanh nghiệp)</a:t>
            </a:r>
            <a:endParaRPr lang="en-US" sz="1400" dirty="0"/>
          </a:p>
        </p:txBody>
      </p:sp>
      <p:sp>
        <p:nvSpPr>
          <p:cNvPr id="13" name="Text 9"/>
          <p:cNvSpPr txBox="1"/>
          <p:nvPr/>
        </p:nvSpPr>
        <p:spPr>
          <a:xfrm>
            <a:off x="7223760" y="4663440"/>
            <a:ext cx="2926080" cy="274320"/>
          </a:xfrm>
          <a:prstGeom prst="rect">
            <a:avLst/>
          </a:prstGeom>
          <a:noFill/>
          <a:ln/>
        </p:spPr>
        <p:txBody>
          <a:bodyPr wrap="square" lIns="0" tIns="0" rIns="0" bIns="0" rtlCol="0" anchor="t"/>
          <a:lstStyle/>
          <a:p>
            <a:pPr marL="0" indent="0">
              <a:buNone/>
            </a:pPr>
            <a:r>
              <a:rPr lang="en-US" sz="1400" b="1" dirty="0">
                <a:solidFill>
                  <a:srgbClr val="F28C28"/>
                </a:solidFill>
                <a:latin typeface="Arial" pitchFamily="34" charset="0"/>
                <a:ea typeface="Arial" pitchFamily="34" charset="-122"/>
                <a:cs typeface="Arial" pitchFamily="34" charset="-120"/>
              </a:rPr>
              <a:t>ĐƠN VỊ</a:t>
            </a:r>
            <a:endParaRPr lang="en-US" sz="1400" dirty="0"/>
          </a:p>
        </p:txBody>
      </p:sp>
      <p:sp>
        <p:nvSpPr>
          <p:cNvPr id="14" name="Text 10"/>
          <p:cNvSpPr txBox="1"/>
          <p:nvPr/>
        </p:nvSpPr>
        <p:spPr>
          <a:xfrm>
            <a:off x="7223759" y="5010912"/>
            <a:ext cx="1880483" cy="841248"/>
          </a:xfrm>
          <a:prstGeom prst="rect">
            <a:avLst/>
          </a:prstGeom>
          <a:noFill/>
          <a:ln/>
        </p:spPr>
        <p:txBody>
          <a:bodyPr wrap="square" lIns="0" tIns="0" rIns="0" bIns="0" rtlCol="0" anchor="t"/>
          <a:lstStyle/>
          <a:p>
            <a:pPr marL="0" indent="0">
              <a:buNone/>
            </a:pPr>
            <a:r>
              <a:rPr lang="en-US" sz="1400" dirty="0">
                <a:solidFill>
                  <a:srgbClr val="F2F4F7"/>
                </a:solidFill>
                <a:latin typeface="Arial" pitchFamily="34" charset="0"/>
                <a:ea typeface="Arial" pitchFamily="34" charset="-122"/>
                <a:cs typeface="Arial" pitchFamily="34" charset="-120"/>
              </a:rPr>
              <a:t>CodeGym &amp; Doanh nghiệp đối tác</a:t>
            </a:r>
            <a:endParaRPr lang="en-US" sz="1400" dirty="0"/>
          </a:p>
        </p:txBody>
      </p:sp>
      <p:sp>
        <p:nvSpPr>
          <p:cNvPr id="15" name="Text 11"/>
          <p:cNvSpPr txBox="1"/>
          <p:nvPr/>
        </p:nvSpPr>
        <p:spPr>
          <a:xfrm>
            <a:off x="9561444" y="3511296"/>
            <a:ext cx="2926080" cy="274320"/>
          </a:xfrm>
          <a:prstGeom prst="rect">
            <a:avLst/>
          </a:prstGeom>
          <a:noFill/>
          <a:ln/>
        </p:spPr>
        <p:txBody>
          <a:bodyPr wrap="square" lIns="0" tIns="0" rIns="0" bIns="0" rtlCol="0" anchor="t"/>
          <a:lstStyle/>
          <a:p>
            <a:pPr marL="0" indent="0">
              <a:buNone/>
            </a:pPr>
            <a:r>
              <a:rPr lang="en-US" sz="1200" b="1" dirty="0">
                <a:solidFill>
                  <a:srgbClr val="F28C28"/>
                </a:solidFill>
                <a:latin typeface="Arial" pitchFamily="34" charset="0"/>
                <a:ea typeface="Arial" pitchFamily="34" charset="-122"/>
                <a:cs typeface="Arial" pitchFamily="34" charset="-120"/>
              </a:rPr>
              <a:t>TRƯỜNG · NGÀNH</a:t>
            </a:r>
            <a:endParaRPr lang="en-US" sz="1200" dirty="0"/>
          </a:p>
        </p:txBody>
      </p:sp>
      <p:sp>
        <p:nvSpPr>
          <p:cNvPr id="16" name="Text 12"/>
          <p:cNvSpPr txBox="1"/>
          <p:nvPr/>
        </p:nvSpPr>
        <p:spPr>
          <a:xfrm>
            <a:off x="9561444" y="3758184"/>
            <a:ext cx="2286000" cy="1097280"/>
          </a:xfrm>
          <a:prstGeom prst="rect">
            <a:avLst/>
          </a:prstGeom>
          <a:noFill/>
          <a:ln/>
        </p:spPr>
        <p:txBody>
          <a:bodyPr wrap="square" lIns="0" tIns="0" rIns="0" bIns="0" rtlCol="0" anchor="t"/>
          <a:lstStyle/>
          <a:p>
            <a:pPr marL="0" indent="0">
              <a:buNone/>
            </a:pPr>
            <a:r>
              <a:rPr lang="en-US" sz="1400" b="1" dirty="0">
                <a:solidFill>
                  <a:srgbClr val="F2F4F7"/>
                </a:solidFill>
                <a:latin typeface="Arial" pitchFamily="34" charset="0"/>
                <a:ea typeface="Arial" pitchFamily="34" charset="-122"/>
                <a:cs typeface="Arial" pitchFamily="34" charset="-120"/>
              </a:rPr>
              <a:t>Trường ĐH Công nghệ Thông tin &amp; Truyền thông Thái Nguyên (ICTU) · Ngành Công nghệ Thông tin</a:t>
            </a:r>
            <a:endParaRPr lang="en-US" sz="1400" b="1" dirty="0"/>
          </a:p>
        </p:txBody>
      </p:sp>
      <p:sp>
        <p:nvSpPr>
          <p:cNvPr id="17" name="Text 13"/>
          <p:cNvSpPr txBox="1"/>
          <p:nvPr/>
        </p:nvSpPr>
        <p:spPr>
          <a:xfrm>
            <a:off x="9561444" y="4927428"/>
            <a:ext cx="2926080" cy="274320"/>
          </a:xfrm>
          <a:prstGeom prst="rect">
            <a:avLst/>
          </a:prstGeom>
          <a:noFill/>
          <a:ln/>
        </p:spPr>
        <p:txBody>
          <a:bodyPr wrap="square" lIns="0" tIns="0" rIns="0" bIns="0" rtlCol="0" anchor="t"/>
          <a:lstStyle/>
          <a:p>
            <a:pPr marL="0" indent="0">
              <a:buNone/>
            </a:pPr>
            <a:r>
              <a:rPr lang="en-US" sz="1200" b="1" dirty="0">
                <a:solidFill>
                  <a:srgbClr val="F28C28"/>
                </a:solidFill>
                <a:latin typeface="Arial" pitchFamily="34" charset="0"/>
                <a:ea typeface="Arial" pitchFamily="34" charset="-122"/>
                <a:cs typeface="Arial" pitchFamily="34" charset="-120"/>
              </a:rPr>
              <a:t>NGÀY BÁO CÁO</a:t>
            </a:r>
            <a:endParaRPr lang="en-US" sz="1200" dirty="0"/>
          </a:p>
        </p:txBody>
      </p:sp>
      <p:sp>
        <p:nvSpPr>
          <p:cNvPr id="18" name="Text 14"/>
          <p:cNvSpPr txBox="1"/>
          <p:nvPr/>
        </p:nvSpPr>
        <p:spPr>
          <a:xfrm>
            <a:off x="9611140" y="5147288"/>
            <a:ext cx="2286000" cy="274320"/>
          </a:xfrm>
          <a:prstGeom prst="rect">
            <a:avLst/>
          </a:prstGeom>
          <a:noFill/>
          <a:ln/>
        </p:spPr>
        <p:txBody>
          <a:bodyPr wrap="square" lIns="0" tIns="0" rIns="0" bIns="0" rtlCol="0" anchor="t"/>
          <a:lstStyle/>
          <a:p>
            <a:pPr marL="0" indent="0">
              <a:buNone/>
            </a:pPr>
            <a:r>
              <a:rPr lang="en-US" sz="1400" dirty="0">
                <a:solidFill>
                  <a:srgbClr val="F2F4F7"/>
                </a:solidFill>
                <a:latin typeface="Arial" pitchFamily="34" charset="0"/>
                <a:ea typeface="Arial" pitchFamily="34" charset="-122"/>
                <a:cs typeface="Arial" pitchFamily="34" charset="-120"/>
              </a:rPr>
              <a:t>26/10/2026</a:t>
            </a:r>
            <a:endParaRPr lang="en-US" sz="1400" dirty="0"/>
          </a:p>
        </p:txBody>
      </p:sp>
      <p:sp>
        <p:nvSpPr>
          <p:cNvPr id="20" name="TextBox 19">
            <a:extLst>
              <a:ext uri="{FF2B5EF4-FFF2-40B4-BE49-F238E27FC236}">
                <a16:creationId xmlns:a16="http://schemas.microsoft.com/office/drawing/2014/main" id="{1C367EC1-5460-19AD-6907-81CF58B583C1}"/>
              </a:ext>
            </a:extLst>
          </p:cNvPr>
          <p:cNvSpPr txBox="1"/>
          <p:nvPr/>
        </p:nvSpPr>
        <p:spPr>
          <a:xfrm>
            <a:off x="640080" y="3751028"/>
            <a:ext cx="2926080" cy="1997919"/>
          </a:xfrm>
          <a:prstGeom prst="rect">
            <a:avLst/>
          </a:prstGeom>
          <a:noFill/>
        </p:spPr>
        <p:txBody>
          <a:bodyPr wrap="square">
            <a:spAutoFit/>
          </a:bodyPr>
          <a:lstStyle/>
          <a:p>
            <a:pPr lvl="0">
              <a:lnSpc>
                <a:spcPct val="150000"/>
              </a:lnSpc>
              <a:buClr>
                <a:srgbClr val="F6F7F4"/>
              </a:buClr>
              <a:buSzPts val="1400"/>
            </a:pPr>
            <a:r>
              <a:rPr lang="vi-VN" sz="1400" b="0" i="0" u="none" strike="noStrike" cap="none" dirty="0">
                <a:solidFill>
                  <a:srgbClr val="F6F7F4"/>
                </a:solidFill>
                <a:latin typeface="Be Vietnam Pro"/>
                <a:ea typeface="Be Vietnam Pro"/>
                <a:cs typeface="Be Vietnam Pro"/>
                <a:sym typeface="Be Vietnam Pro"/>
              </a:rPr>
              <a:t>Triệu Quang </a:t>
            </a:r>
            <a:r>
              <a:rPr lang="vi-VN" sz="1400" dirty="0">
                <a:solidFill>
                  <a:srgbClr val="F6F7F4"/>
                </a:solidFill>
                <a:latin typeface="Be Vietnam Pro"/>
                <a:ea typeface="Be Vietnam Pro"/>
                <a:cs typeface="Be Vietnam Pro"/>
                <a:sym typeface="Be Vietnam Pro"/>
              </a:rPr>
              <a:t>Dũng — trưởng nhóm</a:t>
            </a:r>
            <a:endParaRPr lang="vi-VN" sz="1400" b="0" i="0" u="none" strike="noStrike" cap="none" dirty="0">
              <a:solidFill>
                <a:srgbClr val="F6F7F4"/>
              </a:solidFill>
              <a:latin typeface="Be Vietnam Pro"/>
              <a:ea typeface="Be Vietnam Pro"/>
              <a:cs typeface="Be Vietnam Pro"/>
              <a:sym typeface="Be Vietnam Pro"/>
            </a:endParaRPr>
          </a:p>
          <a:p>
            <a:pPr lvl="0">
              <a:lnSpc>
                <a:spcPct val="150000"/>
              </a:lnSpc>
              <a:buClr>
                <a:srgbClr val="F6F7F4"/>
              </a:buClr>
              <a:buSzPts val="1400"/>
            </a:pPr>
            <a:r>
              <a:rPr lang="vi-VN" sz="1400" b="0" i="0" u="none" strike="noStrike" cap="none" dirty="0">
                <a:solidFill>
                  <a:srgbClr val="F6F7F4"/>
                </a:solidFill>
                <a:latin typeface="Be Vietnam Pro"/>
                <a:ea typeface="Be Vietnam Pro"/>
                <a:cs typeface="Be Vietnam Pro"/>
                <a:sym typeface="Be Vietnam Pro"/>
              </a:rPr>
              <a:t>Lê Minh </a:t>
            </a:r>
            <a:r>
              <a:rPr lang="vi-VN" sz="1400" dirty="0">
                <a:solidFill>
                  <a:srgbClr val="F6F7F4"/>
                </a:solidFill>
                <a:latin typeface="Be Vietnam Pro"/>
                <a:ea typeface="Be Vietnam Pro"/>
                <a:cs typeface="Be Vietnam Pro"/>
                <a:sym typeface="Be Vietnam Pro"/>
              </a:rPr>
              <a:t>D</a:t>
            </a:r>
            <a:r>
              <a:rPr lang="vi-VN" sz="1400" b="0" i="0" u="none" strike="noStrike" cap="none" dirty="0">
                <a:solidFill>
                  <a:srgbClr val="F6F7F4"/>
                </a:solidFill>
                <a:latin typeface="Be Vietnam Pro"/>
                <a:ea typeface="Be Vietnam Pro"/>
                <a:cs typeface="Be Vietnam Pro"/>
                <a:sym typeface="Be Vietnam Pro"/>
              </a:rPr>
              <a:t>anh</a:t>
            </a:r>
            <a:r>
              <a:rPr lang="vi-VN" sz="1400" dirty="0">
                <a:solidFill>
                  <a:srgbClr val="F6F7F4"/>
                </a:solidFill>
                <a:latin typeface="Be Vietnam Pro"/>
                <a:ea typeface="Be Vietnam Pro"/>
                <a:cs typeface="Be Vietnam Pro"/>
                <a:sym typeface="Be Vietnam Pro"/>
              </a:rPr>
              <a:t> — </a:t>
            </a:r>
            <a:r>
              <a:rPr lang="vi-VN" sz="1400" b="0" i="0" u="none" strike="noStrike" cap="none" dirty="0">
                <a:solidFill>
                  <a:srgbClr val="F6F7F4"/>
                </a:solidFill>
                <a:latin typeface="Be Vietnam Pro"/>
                <a:ea typeface="Be Vietnam Pro"/>
                <a:cs typeface="Be Vietnam Pro"/>
                <a:sym typeface="Be Vietnam Pro"/>
              </a:rPr>
              <a:t>BE</a:t>
            </a:r>
            <a:endParaRPr lang="vi-VN" sz="1400" b="0" i="0" u="none" strike="noStrike" cap="none" dirty="0">
              <a:solidFill>
                <a:schemeClr val="dk1"/>
              </a:solidFill>
              <a:latin typeface="Calibri"/>
              <a:ea typeface="Calibri"/>
              <a:cs typeface="Calibri"/>
              <a:sym typeface="Calibri"/>
            </a:endParaRPr>
          </a:p>
          <a:p>
            <a:pPr lvl="0">
              <a:lnSpc>
                <a:spcPct val="150000"/>
              </a:lnSpc>
              <a:buClr>
                <a:srgbClr val="F6F7F4"/>
              </a:buClr>
              <a:buSzPts val="1400"/>
            </a:pPr>
            <a:r>
              <a:rPr lang="vi-VN" sz="1400" dirty="0">
                <a:solidFill>
                  <a:srgbClr val="F6F7F4"/>
                </a:solidFill>
                <a:latin typeface="Be Vietnam Pro"/>
                <a:ea typeface="Be Vietnam Pro"/>
                <a:cs typeface="Be Vietnam Pro"/>
                <a:sym typeface="Be Vietnam Pro"/>
              </a:rPr>
              <a:t>Nguyễn Trần Việt Anh — BE</a:t>
            </a:r>
          </a:p>
          <a:p>
            <a:pPr lvl="0">
              <a:lnSpc>
                <a:spcPct val="150000"/>
              </a:lnSpc>
              <a:buClr>
                <a:srgbClr val="F6F7F4"/>
              </a:buClr>
              <a:buSzPts val="1400"/>
            </a:pPr>
            <a:r>
              <a:rPr lang="vi-VN" sz="1400" dirty="0">
                <a:solidFill>
                  <a:srgbClr val="F6F7F4"/>
                </a:solidFill>
                <a:latin typeface="Be Vietnam Pro"/>
                <a:ea typeface="Be Vietnam Pro"/>
                <a:cs typeface="Be Vietnam Pro"/>
                <a:sym typeface="Be Vietnam Pro"/>
              </a:rPr>
              <a:t>Đỗ Tuấn Dũng</a:t>
            </a:r>
            <a:r>
              <a:rPr lang="vi-VN" sz="1400" b="0" i="0" u="none" strike="noStrike" cap="none" dirty="0">
                <a:solidFill>
                  <a:srgbClr val="F6F7F4"/>
                </a:solidFill>
                <a:latin typeface="Be Vietnam Pro"/>
                <a:ea typeface="Be Vietnam Pro"/>
                <a:cs typeface="Be Vietnam Pro"/>
                <a:sym typeface="Be Vietnam Pro"/>
              </a:rPr>
              <a:t>— BE</a:t>
            </a:r>
          </a:p>
          <a:p>
            <a:pPr lvl="0">
              <a:lnSpc>
                <a:spcPct val="150000"/>
              </a:lnSpc>
              <a:buClr>
                <a:srgbClr val="F6F7F4"/>
              </a:buClr>
              <a:buSzPts val="1400"/>
            </a:pPr>
            <a:r>
              <a:rPr lang="vi-VN" sz="1400" b="0" i="0" u="none" strike="noStrike" cap="none" dirty="0">
                <a:solidFill>
                  <a:srgbClr val="F6F7F4"/>
                </a:solidFill>
                <a:latin typeface="Be Vietnam Pro"/>
                <a:ea typeface="Be Vietnam Pro"/>
                <a:cs typeface="Be Vietnam Pro"/>
                <a:sym typeface="Be Vietnam Pro"/>
              </a:rPr>
              <a:t>Phạm Xuân Bính</a:t>
            </a:r>
            <a:r>
              <a:rPr lang="vi-VN" sz="1400" dirty="0">
                <a:solidFill>
                  <a:srgbClr val="F6F7F4"/>
                </a:solidFill>
                <a:latin typeface="Be Vietnam Pro"/>
                <a:ea typeface="Be Vietnam Pro"/>
                <a:cs typeface="Be Vietnam Pro"/>
                <a:sym typeface="Be Vietnam Pro"/>
              </a:rPr>
              <a:t> — BE</a:t>
            </a:r>
          </a:p>
          <a:p>
            <a:pPr lvl="0">
              <a:lnSpc>
                <a:spcPct val="150000"/>
              </a:lnSpc>
              <a:buClr>
                <a:srgbClr val="F6F7F4"/>
              </a:buClr>
              <a:buSzPts val="1400"/>
            </a:pPr>
            <a:r>
              <a:rPr lang="vi-VN" sz="1400" dirty="0">
                <a:solidFill>
                  <a:srgbClr val="F6F7F4"/>
                </a:solidFill>
                <a:latin typeface="Be Vietnam Pro"/>
                <a:ea typeface="Be Vietnam Pro"/>
                <a:cs typeface="Be Vietnam Pro"/>
                <a:sym typeface="Be Vietnam Pro"/>
              </a:rPr>
              <a:t>Nguyễn Thuỳ Chang — BE</a:t>
            </a:r>
          </a:p>
        </p:txBody>
      </p:sp>
      <p:sp>
        <p:nvSpPr>
          <p:cNvPr id="22" name="TextBox 21">
            <a:extLst>
              <a:ext uri="{FF2B5EF4-FFF2-40B4-BE49-F238E27FC236}">
                <a16:creationId xmlns:a16="http://schemas.microsoft.com/office/drawing/2014/main" id="{2CB25383-6FDB-22E8-1C62-0E410474179C}"/>
              </a:ext>
            </a:extLst>
          </p:cNvPr>
          <p:cNvSpPr txBox="1"/>
          <p:nvPr/>
        </p:nvSpPr>
        <p:spPr>
          <a:xfrm>
            <a:off x="3991356" y="3696549"/>
            <a:ext cx="2514600" cy="1531445"/>
          </a:xfrm>
          <a:prstGeom prst="rect">
            <a:avLst/>
          </a:prstGeom>
          <a:noFill/>
        </p:spPr>
        <p:txBody>
          <a:bodyPr wrap="square">
            <a:spAutoFit/>
          </a:bodyPr>
          <a:lstStyle/>
          <a:p>
            <a:pPr lvl="0">
              <a:lnSpc>
                <a:spcPct val="150000"/>
              </a:lnSpc>
              <a:buClr>
                <a:srgbClr val="F6F7F4"/>
              </a:buClr>
              <a:buSzPts val="1400"/>
            </a:pPr>
            <a:r>
              <a:rPr lang="vi-VN" sz="1600" b="0" i="0" u="none" strike="noStrike" cap="none" dirty="0">
                <a:solidFill>
                  <a:srgbClr val="F6F7F4"/>
                </a:solidFill>
                <a:latin typeface="Be Vietnam Pro"/>
                <a:ea typeface="Be Vietnam Pro"/>
                <a:cs typeface="Be Vietnam Pro"/>
                <a:sym typeface="Be Vietnam Pro"/>
              </a:rPr>
              <a:t>Hoàng </a:t>
            </a:r>
            <a:r>
              <a:rPr lang="vi-VN" sz="1600" dirty="0">
                <a:solidFill>
                  <a:srgbClr val="F6F7F4"/>
                </a:solidFill>
                <a:latin typeface="Be Vietnam Pro"/>
                <a:ea typeface="Be Vietnam Pro"/>
                <a:cs typeface="Be Vietnam Pro"/>
                <a:sym typeface="Be Vietnam Pro"/>
              </a:rPr>
              <a:t>Lan Anh — FE</a:t>
            </a:r>
          </a:p>
          <a:p>
            <a:pPr lvl="0">
              <a:lnSpc>
                <a:spcPct val="150000"/>
              </a:lnSpc>
              <a:buClr>
                <a:srgbClr val="F6F7F4"/>
              </a:buClr>
              <a:buSzPts val="1400"/>
            </a:pPr>
            <a:r>
              <a:rPr lang="vi-VN" sz="1600" b="0" i="0" u="none" strike="noStrike" cap="none" dirty="0">
                <a:solidFill>
                  <a:srgbClr val="F6F7F4"/>
                </a:solidFill>
                <a:latin typeface="Be Vietnam Pro"/>
                <a:ea typeface="Be Vietnam Pro"/>
                <a:cs typeface="Be Vietnam Pro"/>
                <a:sym typeface="Be Vietnam Pro"/>
              </a:rPr>
              <a:t>Chẩu</a:t>
            </a:r>
            <a:r>
              <a:rPr lang="vi-VN" sz="1600" dirty="0">
                <a:solidFill>
                  <a:srgbClr val="F6F7F4"/>
                </a:solidFill>
                <a:latin typeface="Be Vietnam Pro"/>
                <a:ea typeface="Be Vietnam Pro"/>
                <a:cs typeface="Be Vietnam Pro"/>
                <a:sym typeface="Be Vietnam Pro"/>
              </a:rPr>
              <a:t> Thuỳ Dung — FE</a:t>
            </a:r>
          </a:p>
          <a:p>
            <a:pPr lvl="0">
              <a:lnSpc>
                <a:spcPct val="150000"/>
              </a:lnSpc>
              <a:buClr>
                <a:srgbClr val="F6F7F4"/>
              </a:buClr>
              <a:buSzPts val="1400"/>
            </a:pPr>
            <a:r>
              <a:rPr lang="vi-VN" sz="1600" dirty="0">
                <a:solidFill>
                  <a:srgbClr val="F6F7F4"/>
                </a:solidFill>
                <a:latin typeface="Be Vietnam Pro"/>
                <a:ea typeface="Be Vietnam Pro"/>
                <a:cs typeface="Be Vietnam Pro"/>
                <a:sym typeface="Be Vietnam Pro"/>
              </a:rPr>
              <a:t>Nguyễn Ngọc Anh — FE</a:t>
            </a:r>
          </a:p>
          <a:p>
            <a:pPr lvl="0">
              <a:lnSpc>
                <a:spcPct val="150000"/>
              </a:lnSpc>
              <a:buClr>
                <a:srgbClr val="F6F7F4"/>
              </a:buClr>
              <a:buSzPts val="1400"/>
            </a:pPr>
            <a:r>
              <a:rPr lang="vi-VN" sz="1600" b="0" i="0" u="none" strike="noStrike" cap="none" dirty="0">
                <a:solidFill>
                  <a:srgbClr val="F6F7F4"/>
                </a:solidFill>
                <a:latin typeface="Be Vietnam Pro"/>
                <a:ea typeface="Be Vietnam Pro"/>
                <a:cs typeface="Be Vietnam Pro"/>
                <a:sym typeface="Be Vietnam Pro"/>
              </a:rPr>
              <a:t>Hứa</a:t>
            </a:r>
            <a:r>
              <a:rPr lang="vi-VN" sz="1600" dirty="0">
                <a:solidFill>
                  <a:srgbClr val="F6F7F4"/>
                </a:solidFill>
                <a:latin typeface="Be Vietnam Pro"/>
                <a:ea typeface="Be Vietnam Pro"/>
                <a:cs typeface="Be Vietnam Pro"/>
                <a:sym typeface="Be Vietnam Pro"/>
              </a:rPr>
              <a:t> Huệ An —FE</a:t>
            </a:r>
            <a:endParaRPr lang="vi-VN" sz="1600" b="0" i="0" u="none" strike="noStrike" cap="none" dirty="0">
              <a:solidFill>
                <a:srgbClr val="F6F7F4"/>
              </a:solidFill>
              <a:latin typeface="Be Vietnam Pro"/>
              <a:ea typeface="Be Vietnam Pro"/>
              <a:cs typeface="Be Vietnam Pro"/>
              <a:sym typeface="Be Vietnam Pro"/>
            </a:endParaRP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53A"/>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2651760"/>
            <a:ext cx="10543032" cy="365760"/>
          </a:xfrm>
          <a:prstGeom prst="rect">
            <a:avLst/>
          </a:prstGeom>
          <a:noFill/>
          <a:ln/>
        </p:spPr>
        <p:txBody>
          <a:bodyPr wrap="square" lIns="0" tIns="0" rIns="0" bIns="0" rtlCol="0" anchor="t"/>
          <a:lstStyle/>
          <a:p>
            <a:pPr marL="0" indent="0">
              <a:buNone/>
            </a:pPr>
            <a:r>
              <a:rPr lang="en-US" sz="1600" b="1" dirty="0">
                <a:solidFill>
                  <a:srgbClr val="F28C28"/>
                </a:solidFill>
                <a:latin typeface="Arial" pitchFamily="34" charset="0"/>
                <a:ea typeface="Arial" pitchFamily="34" charset="-122"/>
                <a:cs typeface="Arial" pitchFamily="34" charset="-120"/>
              </a:rPr>
              <a:t>PHẦN A</a:t>
            </a:r>
            <a:endParaRPr lang="en-US" sz="1600" dirty="0"/>
          </a:p>
        </p:txBody>
      </p:sp>
      <p:sp>
        <p:nvSpPr>
          <p:cNvPr id="5" name="Text 1"/>
          <p:cNvSpPr txBox="1"/>
          <p:nvPr/>
        </p:nvSpPr>
        <p:spPr>
          <a:xfrm>
            <a:off x="822960" y="3017520"/>
            <a:ext cx="10543032"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Kết quả nhóm</a:t>
            </a:r>
            <a:endParaRPr lang="en-US" sz="4000" dirty="0"/>
          </a:p>
        </p:txBody>
      </p:sp>
      <p:sp>
        <p:nvSpPr>
          <p:cNvPr id="6" name="Text 2"/>
          <p:cNvSpPr txBox="1"/>
          <p:nvPr/>
        </p:nvSpPr>
        <p:spPr>
          <a:xfrm>
            <a:off x="822960" y="4023360"/>
            <a:ext cx="10543032" cy="457200"/>
          </a:xfrm>
          <a:prstGeom prst="rect">
            <a:avLst/>
          </a:prstGeom>
          <a:noFill/>
          <a:ln/>
        </p:spPr>
        <p:txBody>
          <a:bodyPr wrap="square" lIns="0" tIns="0" rIns="0" bIns="0" rtlCol="0" anchor="t"/>
          <a:lstStyle/>
          <a:p>
            <a:pPr marL="0" indent="0">
              <a:buNone/>
            </a:pPr>
            <a:r>
              <a:rPr lang="en-US" sz="1800" dirty="0">
                <a:solidFill>
                  <a:srgbClr val="C5D0DC"/>
                </a:solidFill>
                <a:latin typeface="Arial" pitchFamily="34" charset="0"/>
                <a:ea typeface="Arial" pitchFamily="34" charset="-122"/>
                <a:cs typeface="Arial" pitchFamily="34" charset="-120"/>
              </a:rPr>
              <a:t>Dự án · Quy trình · Minh chứng Jira &amp; Git · Sản phẩm · Tỉ lệ đóng góp</a:t>
            </a:r>
            <a:endParaRPr lang="en-US" sz="1800" dirty="0"/>
          </a:p>
        </p:txBody>
      </p:sp>
      <p:sp>
        <p:nvSpPr>
          <p:cNvPr id="7" name="Text 3"/>
          <p:cNvSpPr txBox="1"/>
          <p:nvPr/>
        </p:nvSpPr>
        <p:spPr>
          <a:xfrm>
            <a:off x="822960" y="4663440"/>
            <a:ext cx="10543032" cy="365760"/>
          </a:xfrm>
          <a:prstGeom prst="rect">
            <a:avLst/>
          </a:prstGeom>
          <a:noFill/>
          <a:ln/>
        </p:spPr>
        <p:txBody>
          <a:bodyPr wrap="square" lIns="0" tIns="0" rIns="0" bIns="0" rtlCol="0" anchor="t"/>
          <a:lstStyle/>
          <a:p>
            <a:pPr marL="0" indent="0">
              <a:buNone/>
            </a:pPr>
            <a:r>
              <a:rPr lang="en-US" sz="1400" dirty="0">
                <a:solidFill>
                  <a:srgbClr val="A9B6C5"/>
                </a:solidFill>
                <a:latin typeface="Arial" pitchFamily="34" charset="0"/>
                <a:ea typeface="Arial" pitchFamily="34" charset="-122"/>
                <a:cs typeface="Arial" pitchFamily="34" charset="-120"/>
              </a:rPr>
              <a:t>Người </a:t>
            </a:r>
            <a:r>
              <a:rPr lang="en-US" sz="1600" dirty="0">
                <a:solidFill>
                  <a:srgbClr val="A9B6C5"/>
                </a:solidFill>
                <a:latin typeface="Arial" pitchFamily="34" charset="0"/>
                <a:ea typeface="Arial" pitchFamily="34" charset="-122"/>
                <a:cs typeface="Arial" pitchFamily="34" charset="-120"/>
              </a:rPr>
              <a:t>trình</a:t>
            </a:r>
            <a:r>
              <a:rPr lang="en-US" sz="1400" dirty="0">
                <a:solidFill>
                  <a:srgbClr val="A9B6C5"/>
                </a:solidFill>
                <a:latin typeface="Arial" pitchFamily="34" charset="0"/>
                <a:ea typeface="Arial" pitchFamily="34" charset="-122"/>
                <a:cs typeface="Arial" pitchFamily="34" charset="-120"/>
              </a:rPr>
              <a:t> bày: Triệu Quang Dũng (Leader) · Khoảng 10 phút</a:t>
            </a:r>
            <a:endParaRPr lang="en-US" sz="1400" dirty="0"/>
          </a:p>
        </p:txBody>
      </p:sp>
      <p:sp>
        <p:nvSpPr>
          <p:cNvPr id="8" name="TextBox 7"/>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708660" y="70866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01 — TỔNG QUAN</a:t>
            </a:r>
            <a:endParaRPr lang="en-US" sz="1200" dirty="0"/>
          </a:p>
        </p:txBody>
      </p:sp>
      <p:sp>
        <p:nvSpPr>
          <p:cNvPr id="5" name="Text 1"/>
          <p:cNvSpPr txBox="1"/>
          <p:nvPr/>
        </p:nvSpPr>
        <p:spPr>
          <a:xfrm>
            <a:off x="617220" y="950976"/>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Tổng </a:t>
            </a:r>
            <a:r>
              <a:rPr lang="en-US" sz="2800" b="1" dirty="0">
                <a:solidFill>
                  <a:srgbClr val="12263A"/>
                </a:solidFill>
                <a:latin typeface="Arial" pitchFamily="34" charset="0"/>
                <a:ea typeface="Arial" pitchFamily="34" charset="-122"/>
                <a:cs typeface="Arial" pitchFamily="34" charset="-120"/>
              </a:rPr>
              <a:t>quan</a:t>
            </a:r>
            <a:r>
              <a:rPr lang="en-US" sz="2600" b="1" dirty="0">
                <a:solidFill>
                  <a:srgbClr val="12263A"/>
                </a:solidFill>
                <a:latin typeface="Arial" pitchFamily="34" charset="0"/>
                <a:ea typeface="Arial" pitchFamily="34" charset="-122"/>
                <a:cs typeface="Arial" pitchFamily="34" charset="-120"/>
              </a:rPr>
              <a:t> dự án</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Shape 4"/>
          <p:cNvSpPr/>
          <p:nvPr/>
        </p:nvSpPr>
        <p:spPr>
          <a:xfrm>
            <a:off x="599330" y="1554480"/>
            <a:ext cx="3392424" cy="2514600"/>
          </a:xfrm>
          <a:prstGeom prst="roundRect">
            <a:avLst>
              <a:gd name="adj" fmla="val 2909"/>
            </a:avLst>
          </a:prstGeom>
          <a:solidFill>
            <a:srgbClr val="FCFCFA"/>
          </a:solidFill>
          <a:ln w="9525">
            <a:solidFill>
              <a:srgbClr val="D5D9DE"/>
            </a:solidFill>
            <a:prstDash val="solid"/>
          </a:ln>
        </p:spPr>
      </p:sp>
      <p:sp>
        <p:nvSpPr>
          <p:cNvPr id="9" name="Text 5"/>
          <p:cNvSpPr txBox="1"/>
          <p:nvPr/>
        </p:nvSpPr>
        <p:spPr>
          <a:xfrm>
            <a:off x="708262" y="1691640"/>
            <a:ext cx="3026664" cy="365760"/>
          </a:xfrm>
          <a:prstGeom prst="rect">
            <a:avLst/>
          </a:prstGeom>
          <a:noFill/>
          <a:ln/>
        </p:spPr>
        <p:txBody>
          <a:bodyPr wrap="square" lIns="0" tIns="0" rIns="0" bIns="0" rtlCol="0" anchor="t"/>
          <a:lstStyle/>
          <a:p>
            <a:pPr marL="0" indent="0">
              <a:buNone/>
            </a:pPr>
            <a:r>
              <a:rPr lang="en-US" sz="1500" b="1" dirty="0">
                <a:solidFill>
                  <a:srgbClr val="12263A"/>
                </a:solidFill>
                <a:latin typeface="Arial" pitchFamily="34" charset="0"/>
                <a:ea typeface="Arial" pitchFamily="34" charset="-122"/>
                <a:cs typeface="Arial" pitchFamily="34" charset="-120"/>
              </a:rPr>
              <a:t>Bài toán / ý tưởng</a:t>
            </a:r>
            <a:endParaRPr lang="en-US" sz="1500" dirty="0"/>
          </a:p>
        </p:txBody>
      </p:sp>
      <p:sp>
        <p:nvSpPr>
          <p:cNvPr id="10" name="Text 6"/>
          <p:cNvSpPr txBox="1"/>
          <p:nvPr/>
        </p:nvSpPr>
        <p:spPr>
          <a:xfrm>
            <a:off x="708262" y="1970532"/>
            <a:ext cx="2990088" cy="1828800"/>
          </a:xfrm>
          <a:prstGeom prst="rect">
            <a:avLst/>
          </a:prstGeom>
          <a:noFill/>
          <a:ln/>
        </p:spPr>
        <p:txBody>
          <a:bodyPr wrap="square" lIns="0" tIns="0" rIns="0" bIns="0" rtlCol="0" anchor="t"/>
          <a:lstStyle/>
          <a:p>
            <a:pPr marL="0" indent="0">
              <a:buNone/>
            </a:pPr>
            <a:r>
              <a:rPr lang="en-US" sz="1400" dirty="0">
                <a:solidFill>
                  <a:srgbClr val="4F5967"/>
                </a:solidFill>
                <a:latin typeface="Arial" pitchFamily="34" charset="0"/>
                <a:ea typeface="Arial" pitchFamily="34" charset="-122"/>
                <a:cs typeface="Arial" pitchFamily="34" charset="-120"/>
              </a:rPr>
              <a:t>Giải quyết bài toán quản lý khách hàng phân tán qua Excel/Zalo, thất thoát cơ hội khi nhân sự biến động, minh bạch luồng duyệt chiết khấu và tự động phân bổ lead.</a:t>
            </a:r>
            <a:endParaRPr lang="en-US" sz="1400" dirty="0"/>
          </a:p>
        </p:txBody>
      </p:sp>
      <p:sp>
        <p:nvSpPr>
          <p:cNvPr id="11" name="Shape 7"/>
          <p:cNvSpPr/>
          <p:nvPr/>
        </p:nvSpPr>
        <p:spPr>
          <a:xfrm>
            <a:off x="4273826" y="1559648"/>
            <a:ext cx="3392424" cy="2514600"/>
          </a:xfrm>
          <a:prstGeom prst="roundRect">
            <a:avLst>
              <a:gd name="adj" fmla="val 2909"/>
            </a:avLst>
          </a:prstGeom>
          <a:solidFill>
            <a:srgbClr val="FCFCFA"/>
          </a:solidFill>
          <a:ln w="9525">
            <a:solidFill>
              <a:srgbClr val="D5D9DE"/>
            </a:solidFill>
            <a:prstDash val="solid"/>
          </a:ln>
        </p:spPr>
      </p:sp>
      <p:sp>
        <p:nvSpPr>
          <p:cNvPr id="12" name="Text 8"/>
          <p:cNvSpPr txBox="1"/>
          <p:nvPr/>
        </p:nvSpPr>
        <p:spPr>
          <a:xfrm>
            <a:off x="4375404" y="1687664"/>
            <a:ext cx="3026664" cy="365760"/>
          </a:xfrm>
          <a:prstGeom prst="rect">
            <a:avLst/>
          </a:prstGeom>
          <a:noFill/>
          <a:ln/>
        </p:spPr>
        <p:txBody>
          <a:bodyPr wrap="square" lIns="0" tIns="0" rIns="0" bIns="0" rtlCol="0" anchor="t"/>
          <a:lstStyle/>
          <a:p>
            <a:pPr marL="0" indent="0">
              <a:buNone/>
            </a:pPr>
            <a:r>
              <a:rPr lang="en-US" sz="1500" b="1" dirty="0">
                <a:solidFill>
                  <a:srgbClr val="12263A"/>
                </a:solidFill>
                <a:latin typeface="Arial" pitchFamily="34" charset="0"/>
                <a:ea typeface="Arial" pitchFamily="34" charset="-122"/>
                <a:cs typeface="Arial" pitchFamily="34" charset="-120"/>
              </a:rPr>
              <a:t>Người dùng / người chơi</a:t>
            </a:r>
            <a:endParaRPr lang="en-US" sz="1500" dirty="0"/>
          </a:p>
        </p:txBody>
      </p:sp>
      <p:sp>
        <p:nvSpPr>
          <p:cNvPr id="13" name="Text 9"/>
          <p:cNvSpPr txBox="1"/>
          <p:nvPr/>
        </p:nvSpPr>
        <p:spPr>
          <a:xfrm>
            <a:off x="4393692" y="2038118"/>
            <a:ext cx="2990088" cy="1828800"/>
          </a:xfrm>
          <a:prstGeom prst="rect">
            <a:avLst/>
          </a:prstGeom>
          <a:noFill/>
          <a:ln/>
        </p:spPr>
        <p:txBody>
          <a:bodyPr wrap="square" lIns="0" tIns="0" rIns="0" bIns="0" rtlCol="0" anchor="t"/>
          <a:lstStyle/>
          <a:p>
            <a:pPr marL="0" indent="0">
              <a:buNone/>
            </a:pPr>
            <a:r>
              <a:rPr lang="en-US" sz="1400" dirty="0">
                <a:solidFill>
                  <a:srgbClr val="4F5967"/>
                </a:solidFill>
                <a:latin typeface="Arial" pitchFamily="34" charset="0"/>
                <a:ea typeface="Arial" pitchFamily="34" charset="-122"/>
                <a:cs typeface="Arial" pitchFamily="34" charset="-120"/>
              </a:rPr>
              <a:t>7 nhóm vai trò: Admin, Sales Rep, Team Lead, Sales Director, Marketing, Customer Success, Accountant với cơ chế Data Scoping và báo cáo doanh số real-time.</a:t>
            </a:r>
            <a:endParaRPr lang="en-US" sz="1400" dirty="0"/>
          </a:p>
        </p:txBody>
      </p:sp>
      <p:sp>
        <p:nvSpPr>
          <p:cNvPr id="14" name="Shape 10"/>
          <p:cNvSpPr/>
          <p:nvPr/>
        </p:nvSpPr>
        <p:spPr>
          <a:xfrm>
            <a:off x="7889284" y="1554480"/>
            <a:ext cx="3392424" cy="2514600"/>
          </a:xfrm>
          <a:prstGeom prst="roundRect">
            <a:avLst>
              <a:gd name="adj" fmla="val 2909"/>
            </a:avLst>
          </a:prstGeom>
          <a:solidFill>
            <a:srgbClr val="FCFCFA"/>
          </a:solidFill>
          <a:ln w="9525">
            <a:solidFill>
              <a:srgbClr val="D5D9DE"/>
            </a:solidFill>
            <a:prstDash val="solid"/>
          </a:ln>
        </p:spPr>
      </p:sp>
      <p:sp>
        <p:nvSpPr>
          <p:cNvPr id="15" name="Text 11"/>
          <p:cNvSpPr txBox="1"/>
          <p:nvPr/>
        </p:nvSpPr>
        <p:spPr>
          <a:xfrm>
            <a:off x="8072164" y="1687664"/>
            <a:ext cx="3026664" cy="365760"/>
          </a:xfrm>
          <a:prstGeom prst="rect">
            <a:avLst/>
          </a:prstGeom>
          <a:noFill/>
          <a:ln/>
        </p:spPr>
        <p:txBody>
          <a:bodyPr wrap="square" lIns="0" tIns="0" rIns="0" bIns="0" rtlCol="0" anchor="t"/>
          <a:lstStyle/>
          <a:p>
            <a:pPr marL="0" indent="0">
              <a:buNone/>
            </a:pPr>
            <a:r>
              <a:rPr lang="en-US" sz="1500" b="1" dirty="0">
                <a:solidFill>
                  <a:srgbClr val="12263A"/>
                </a:solidFill>
                <a:latin typeface="Arial" pitchFamily="34" charset="0"/>
                <a:ea typeface="Arial" pitchFamily="34" charset="-122"/>
                <a:cs typeface="Arial" pitchFamily="34" charset="-120"/>
              </a:rPr>
              <a:t>Mục tiêu đầu kỳ</a:t>
            </a:r>
            <a:endParaRPr lang="en-US" sz="1500" dirty="0"/>
          </a:p>
        </p:txBody>
      </p:sp>
      <p:sp>
        <p:nvSpPr>
          <p:cNvPr id="16" name="Text 12"/>
          <p:cNvSpPr txBox="1"/>
          <p:nvPr/>
        </p:nvSpPr>
        <p:spPr>
          <a:xfrm>
            <a:off x="7948322" y="2002536"/>
            <a:ext cx="3211930" cy="1864382"/>
          </a:xfrm>
          <a:prstGeom prst="rect">
            <a:avLst/>
          </a:prstGeom>
          <a:noFill/>
          <a:ln/>
        </p:spPr>
        <p:txBody>
          <a:bodyPr wrap="square" lIns="0" tIns="0" rIns="0" bIns="0" rtlCol="0" anchor="t"/>
          <a:lstStyle/>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Số hóa 100% hồ sơ Khách hàng 360°, Người liên hệ &amp; Lịch sử tương tác.</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Chuẩn hóa quy trình bán hàng qua Pipeline Kanban và quản lý báo giá/duyệt hợp đồng.</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Bảo mật dữ </a:t>
            </a:r>
            <a:r>
              <a:rPr lang="en-US" sz="1400" dirty="0">
                <a:solidFill>
                  <a:srgbClr val="4F5967"/>
                </a:solidFill>
                <a:latin typeface="Arial" pitchFamily="34" charset="0"/>
                <a:ea typeface="Arial" pitchFamily="34" charset="-122"/>
                <a:cs typeface="Arial" pitchFamily="34" charset="-120"/>
              </a:rPr>
              <a:t>liệu</a:t>
            </a:r>
            <a:r>
              <a:rPr lang="en-US" sz="1150" dirty="0">
                <a:solidFill>
                  <a:srgbClr val="4F5967"/>
                </a:solidFill>
                <a:latin typeface="Arial" pitchFamily="34" charset="0"/>
                <a:ea typeface="Arial" pitchFamily="34" charset="-122"/>
                <a:cs typeface="Arial" pitchFamily="34" charset="-120"/>
              </a:rPr>
              <a:t> tuyệt đối qua cơ chế Data Scoping (ALL, GROUP, OWN) và Audit Log.</a:t>
            </a:r>
            <a:endParaRPr lang="en-US" sz="1200" dirty="0"/>
          </a:p>
        </p:txBody>
      </p:sp>
      <p:sp>
        <p:nvSpPr>
          <p:cNvPr id="17" name="Shape 13"/>
          <p:cNvSpPr/>
          <p:nvPr/>
        </p:nvSpPr>
        <p:spPr>
          <a:xfrm>
            <a:off x="822960" y="4572000"/>
            <a:ext cx="2496312" cy="1417320"/>
          </a:xfrm>
          <a:prstGeom prst="roundRect">
            <a:avLst>
              <a:gd name="adj" fmla="val 5161"/>
            </a:avLst>
          </a:prstGeom>
          <a:solidFill>
            <a:srgbClr val="FCFCFA"/>
          </a:solidFill>
          <a:ln w="9525">
            <a:solidFill>
              <a:srgbClr val="D5D9DE"/>
            </a:solidFill>
            <a:prstDash val="solid"/>
          </a:ln>
        </p:spPr>
      </p:sp>
      <p:sp>
        <p:nvSpPr>
          <p:cNvPr id="18" name="Shape 14"/>
          <p:cNvSpPr/>
          <p:nvPr/>
        </p:nvSpPr>
        <p:spPr>
          <a:xfrm>
            <a:off x="841248" y="4572000"/>
            <a:ext cx="2459736" cy="45720"/>
          </a:xfrm>
          <a:prstGeom prst="rect">
            <a:avLst/>
          </a:prstGeom>
          <a:solidFill>
            <a:srgbClr val="F28C28"/>
          </a:solidFill>
          <a:ln w="12700">
            <a:solidFill>
              <a:srgbClr val="F28C28"/>
            </a:solidFill>
            <a:prstDash val="solid"/>
          </a:ln>
        </p:spPr>
      </p:sp>
      <p:sp>
        <p:nvSpPr>
          <p:cNvPr id="19" name="Text 15"/>
          <p:cNvSpPr txBox="1"/>
          <p:nvPr/>
        </p:nvSpPr>
        <p:spPr>
          <a:xfrm>
            <a:off x="987552" y="47274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Loại sản phẩm</a:t>
            </a:r>
            <a:endParaRPr lang="en-US" sz="1100" dirty="0"/>
          </a:p>
        </p:txBody>
      </p:sp>
      <p:sp>
        <p:nvSpPr>
          <p:cNvPr id="20" name="Text 16"/>
          <p:cNvSpPr txBox="1"/>
          <p:nvPr/>
        </p:nvSpPr>
        <p:spPr>
          <a:xfrm>
            <a:off x="987552" y="5029200"/>
            <a:ext cx="2221992" cy="868680"/>
          </a:xfrm>
          <a:prstGeom prst="rect">
            <a:avLst/>
          </a:prstGeom>
          <a:noFill/>
          <a:ln/>
        </p:spPr>
        <p:txBody>
          <a:bodyPr wrap="square" lIns="0" tIns="0" rIns="0" bIns="0" rtlCol="0" anchor="t"/>
          <a:lstStyle/>
          <a:p>
            <a:pPr marL="0" indent="0">
              <a:buNone/>
            </a:pPr>
            <a:r>
              <a:rPr lang="en-US" sz="1300" b="1" dirty="0">
                <a:solidFill>
                  <a:srgbClr val="12263A"/>
                </a:solidFill>
                <a:latin typeface="Arial" pitchFamily="34" charset="0"/>
                <a:ea typeface="Arial" pitchFamily="34" charset="-122"/>
                <a:cs typeface="Arial" pitchFamily="34" charset="-120"/>
              </a:rPr>
              <a:t>Web Application (CRM Doanh nghiệp)</a:t>
            </a:r>
            <a:endParaRPr lang="en-US" sz="1300" dirty="0"/>
          </a:p>
        </p:txBody>
      </p:sp>
      <p:sp>
        <p:nvSpPr>
          <p:cNvPr id="21" name="Shape 17"/>
          <p:cNvSpPr/>
          <p:nvPr/>
        </p:nvSpPr>
        <p:spPr>
          <a:xfrm>
            <a:off x="3502152" y="4572000"/>
            <a:ext cx="2496312" cy="1417320"/>
          </a:xfrm>
          <a:prstGeom prst="roundRect">
            <a:avLst>
              <a:gd name="adj" fmla="val 5161"/>
            </a:avLst>
          </a:prstGeom>
          <a:solidFill>
            <a:srgbClr val="FCFCFA"/>
          </a:solidFill>
          <a:ln w="9525">
            <a:solidFill>
              <a:srgbClr val="D5D9DE"/>
            </a:solidFill>
            <a:prstDash val="solid"/>
          </a:ln>
        </p:spPr>
      </p:sp>
      <p:sp>
        <p:nvSpPr>
          <p:cNvPr id="22" name="Shape 18"/>
          <p:cNvSpPr/>
          <p:nvPr/>
        </p:nvSpPr>
        <p:spPr>
          <a:xfrm>
            <a:off x="3520440" y="4572000"/>
            <a:ext cx="2459736" cy="45720"/>
          </a:xfrm>
          <a:prstGeom prst="rect">
            <a:avLst/>
          </a:prstGeom>
          <a:solidFill>
            <a:srgbClr val="F28C28"/>
          </a:solidFill>
          <a:ln w="12700">
            <a:solidFill>
              <a:srgbClr val="F28C28"/>
            </a:solidFill>
            <a:prstDash val="solid"/>
          </a:ln>
        </p:spPr>
      </p:sp>
      <p:sp>
        <p:nvSpPr>
          <p:cNvPr id="23" name="Text 19"/>
          <p:cNvSpPr txBox="1"/>
          <p:nvPr/>
        </p:nvSpPr>
        <p:spPr>
          <a:xfrm>
            <a:off x="3666744" y="47274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Nền tảng</a:t>
            </a:r>
            <a:endParaRPr lang="en-US" sz="1100" dirty="0"/>
          </a:p>
        </p:txBody>
      </p:sp>
      <p:sp>
        <p:nvSpPr>
          <p:cNvPr id="24" name="Text 20"/>
          <p:cNvSpPr txBox="1"/>
          <p:nvPr/>
        </p:nvSpPr>
        <p:spPr>
          <a:xfrm>
            <a:off x="3666744" y="5029200"/>
            <a:ext cx="2221992" cy="868680"/>
          </a:xfrm>
          <a:prstGeom prst="rect">
            <a:avLst/>
          </a:prstGeom>
          <a:noFill/>
          <a:ln/>
        </p:spPr>
        <p:txBody>
          <a:bodyPr wrap="square" lIns="0" tIns="0" rIns="0" bIns="0" rtlCol="0" anchor="t"/>
          <a:lstStyle/>
          <a:p>
            <a:pPr marL="0" indent="0">
              <a:buNone/>
            </a:pPr>
            <a:r>
              <a:rPr lang="en-US" sz="1300" b="1" dirty="0">
                <a:solidFill>
                  <a:srgbClr val="12263A"/>
                </a:solidFill>
                <a:latin typeface="Arial" pitchFamily="34" charset="0"/>
                <a:ea typeface="Arial" pitchFamily="34" charset="-122"/>
                <a:cs typeface="Arial" pitchFamily="34" charset="-120"/>
              </a:rPr>
              <a:t>Web Browser (Responsive UI)</a:t>
            </a:r>
            <a:endParaRPr lang="en-US" sz="1300" dirty="0"/>
          </a:p>
        </p:txBody>
      </p:sp>
      <p:sp>
        <p:nvSpPr>
          <p:cNvPr id="25" name="Shape 21"/>
          <p:cNvSpPr/>
          <p:nvPr/>
        </p:nvSpPr>
        <p:spPr>
          <a:xfrm>
            <a:off x="6181344" y="4572000"/>
            <a:ext cx="2496312" cy="1417320"/>
          </a:xfrm>
          <a:prstGeom prst="roundRect">
            <a:avLst>
              <a:gd name="adj" fmla="val 5161"/>
            </a:avLst>
          </a:prstGeom>
          <a:solidFill>
            <a:srgbClr val="FCFCFA"/>
          </a:solidFill>
          <a:ln w="9525">
            <a:solidFill>
              <a:srgbClr val="D5D9DE"/>
            </a:solidFill>
            <a:prstDash val="solid"/>
          </a:ln>
        </p:spPr>
      </p:sp>
      <p:sp>
        <p:nvSpPr>
          <p:cNvPr id="26" name="Shape 22"/>
          <p:cNvSpPr/>
          <p:nvPr/>
        </p:nvSpPr>
        <p:spPr>
          <a:xfrm>
            <a:off x="6199632" y="4572000"/>
            <a:ext cx="2459736" cy="45720"/>
          </a:xfrm>
          <a:prstGeom prst="rect">
            <a:avLst/>
          </a:prstGeom>
          <a:solidFill>
            <a:srgbClr val="F28C28"/>
          </a:solidFill>
          <a:ln w="12700">
            <a:solidFill>
              <a:srgbClr val="F28C28"/>
            </a:solidFill>
            <a:prstDash val="solid"/>
          </a:ln>
        </p:spPr>
      </p:sp>
      <p:sp>
        <p:nvSpPr>
          <p:cNvPr id="27" name="Text 23"/>
          <p:cNvSpPr txBox="1"/>
          <p:nvPr/>
        </p:nvSpPr>
        <p:spPr>
          <a:xfrm>
            <a:off x="6345936" y="47274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Thời gian</a:t>
            </a:r>
            <a:endParaRPr lang="en-US" sz="1100" dirty="0"/>
          </a:p>
        </p:txBody>
      </p:sp>
      <p:sp>
        <p:nvSpPr>
          <p:cNvPr id="28" name="Text 24"/>
          <p:cNvSpPr txBox="1"/>
          <p:nvPr/>
        </p:nvSpPr>
        <p:spPr>
          <a:xfrm>
            <a:off x="6345936" y="5029200"/>
            <a:ext cx="2221992" cy="868680"/>
          </a:xfrm>
          <a:prstGeom prst="rect">
            <a:avLst/>
          </a:prstGeom>
          <a:noFill/>
          <a:ln/>
        </p:spPr>
        <p:txBody>
          <a:bodyPr wrap="square" lIns="0" tIns="0" rIns="0" bIns="0" rtlCol="0" anchor="t"/>
          <a:lstStyle/>
          <a:p>
            <a:pPr marL="0" indent="0">
              <a:buNone/>
            </a:pPr>
            <a:r>
              <a:rPr lang="en-US" sz="1300" b="1" dirty="0">
                <a:solidFill>
                  <a:srgbClr val="12263A"/>
                </a:solidFill>
                <a:latin typeface="Arial" pitchFamily="34" charset="0"/>
                <a:ea typeface="Arial" pitchFamily="34" charset="-122"/>
                <a:cs typeface="Arial" pitchFamily="34" charset="-120"/>
              </a:rPr>
              <a:t>4 tuần (21/09 – 26/10/2026) · 4 Sprint, hoàn thành 100%</a:t>
            </a:r>
            <a:endParaRPr lang="en-US" sz="1300" dirty="0"/>
          </a:p>
        </p:txBody>
      </p:sp>
      <p:sp>
        <p:nvSpPr>
          <p:cNvPr id="29" name="Shape 25"/>
          <p:cNvSpPr/>
          <p:nvPr/>
        </p:nvSpPr>
        <p:spPr>
          <a:xfrm>
            <a:off x="8860536" y="4572000"/>
            <a:ext cx="2496312" cy="1417320"/>
          </a:xfrm>
          <a:prstGeom prst="roundRect">
            <a:avLst>
              <a:gd name="adj" fmla="val 5161"/>
            </a:avLst>
          </a:prstGeom>
          <a:solidFill>
            <a:srgbClr val="FCFCFA"/>
          </a:solidFill>
          <a:ln w="9525">
            <a:solidFill>
              <a:srgbClr val="D5D9DE"/>
            </a:solidFill>
            <a:prstDash val="solid"/>
          </a:ln>
        </p:spPr>
      </p:sp>
      <p:sp>
        <p:nvSpPr>
          <p:cNvPr id="30" name="Shape 26"/>
          <p:cNvSpPr/>
          <p:nvPr/>
        </p:nvSpPr>
        <p:spPr>
          <a:xfrm>
            <a:off x="8878824" y="4572000"/>
            <a:ext cx="2459736" cy="45720"/>
          </a:xfrm>
          <a:prstGeom prst="rect">
            <a:avLst/>
          </a:prstGeom>
          <a:solidFill>
            <a:srgbClr val="F28C28"/>
          </a:solidFill>
          <a:ln w="12700">
            <a:solidFill>
              <a:srgbClr val="F28C28"/>
            </a:solidFill>
            <a:prstDash val="solid"/>
          </a:ln>
        </p:spPr>
      </p:sp>
      <p:sp>
        <p:nvSpPr>
          <p:cNvPr id="31" name="Text 27"/>
          <p:cNvSpPr txBox="1"/>
          <p:nvPr/>
        </p:nvSpPr>
        <p:spPr>
          <a:xfrm>
            <a:off x="9025128" y="47274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Thành viên</a:t>
            </a:r>
            <a:endParaRPr lang="en-US" sz="1100" dirty="0"/>
          </a:p>
        </p:txBody>
      </p:sp>
      <p:sp>
        <p:nvSpPr>
          <p:cNvPr id="32" name="Text 28"/>
          <p:cNvSpPr txBox="1"/>
          <p:nvPr/>
        </p:nvSpPr>
        <p:spPr>
          <a:xfrm>
            <a:off x="9025128" y="4978908"/>
            <a:ext cx="2221992" cy="868680"/>
          </a:xfrm>
          <a:prstGeom prst="rect">
            <a:avLst/>
          </a:prstGeom>
          <a:noFill/>
          <a:ln/>
        </p:spPr>
        <p:txBody>
          <a:bodyPr wrap="square" lIns="0" tIns="0" rIns="0" bIns="0" rtlCol="0" anchor="t"/>
          <a:lstStyle/>
          <a:p>
            <a:pPr marL="0" indent="0">
              <a:buNone/>
            </a:pPr>
            <a:r>
              <a:rPr lang="en-US" sz="1300" b="1" dirty="0">
                <a:solidFill>
                  <a:srgbClr val="12263A"/>
                </a:solidFill>
                <a:latin typeface="Arial" pitchFamily="34" charset="0"/>
                <a:ea typeface="Arial" pitchFamily="34" charset="-122"/>
                <a:cs typeface="Arial" pitchFamily="34" charset="-120"/>
              </a:rPr>
              <a:t>10 người (1 Leader, 5 Dev BE, 4 Dev FE)</a:t>
            </a:r>
            <a:endParaRPr lang="en-US" sz="1300" dirty="0"/>
          </a:p>
        </p:txBody>
      </p:sp>
      <p:sp>
        <p:nvSpPr>
          <p:cNvPr id="33" name="TextBox 3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04672" y="713232"/>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02 — QUY TRÌNH</a:t>
            </a:r>
            <a:endParaRPr lang="en-US" sz="1200" dirty="0"/>
          </a:p>
        </p:txBody>
      </p:sp>
      <p:sp>
        <p:nvSpPr>
          <p:cNvPr id="5" name="Text 1"/>
          <p:cNvSpPr txBox="1"/>
          <p:nvPr/>
        </p:nvSpPr>
        <p:spPr>
          <a:xfrm>
            <a:off x="804672" y="100584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Quy trình phối hợp của nhóm</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Rounded Rectangle 7"/>
          <p:cNvSpPr/>
          <p:nvPr/>
        </p:nvSpPr>
        <p:spPr>
          <a:xfrm>
            <a:off x="731520" y="1920240"/>
            <a:ext cx="1965960" cy="25603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731520" y="1920240"/>
            <a:ext cx="1965960" cy="50292"/>
          </a:xfrm>
          <a:prstGeom prst="rect">
            <a:avLst/>
          </a:prstGeom>
          <a:solidFill>
            <a:srgbClr val="2F5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112264"/>
            <a:ext cx="1709928" cy="676656"/>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Leader phân việc</a:t>
            </a:r>
          </a:p>
        </p:txBody>
      </p:sp>
      <p:sp>
        <p:nvSpPr>
          <p:cNvPr id="11" name="TextBox 10"/>
          <p:cNvSpPr txBox="1"/>
          <p:nvPr/>
        </p:nvSpPr>
        <p:spPr>
          <a:xfrm>
            <a:off x="859536" y="2944368"/>
            <a:ext cx="1709928" cy="1353312"/>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Trưởng nhóm chia công việc, làm rõ yêu cầu và thống nhất người phụ trách.</a:t>
            </a:r>
          </a:p>
        </p:txBody>
      </p:sp>
      <p:sp>
        <p:nvSpPr>
          <p:cNvPr id="12" name="TextBox 11"/>
          <p:cNvSpPr txBox="1"/>
          <p:nvPr/>
        </p:nvSpPr>
        <p:spPr>
          <a:xfrm>
            <a:off x="2706624" y="2971800"/>
            <a:ext cx="219456" cy="411480"/>
          </a:xfrm>
          <a:prstGeom prst="rect">
            <a:avLst/>
          </a:prstGeom>
          <a:noFill/>
        </p:spPr>
        <p:txBody>
          <a:bodyPr wrap="square" lIns="13716" rIns="13716" tIns="13716" bIns="13716">
            <a:spAutoFit/>
          </a:bodyPr>
          <a:lstStyle/>
          <a:p>
            <a:pPr>
              <a:lnSpc>
                <a:spcPct val="113000"/>
              </a:lnSpc>
              <a:spcBef>
                <a:spcPts val="0"/>
              </a:spcBef>
              <a:spcAft>
                <a:spcPts val="700"/>
              </a:spcAft>
            </a:pPr>
            <a:r>
              <a:rPr sz="2200" b="1">
                <a:solidFill>
                  <a:srgbClr val="F68A19"/>
                </a:solidFill>
                <a:latin typeface="Arial"/>
              </a:rPr>
              <a:t>→</a:t>
            </a:r>
          </a:p>
        </p:txBody>
      </p:sp>
      <p:sp>
        <p:nvSpPr>
          <p:cNvPr id="13" name="Rounded Rectangle 12"/>
          <p:cNvSpPr/>
          <p:nvPr/>
        </p:nvSpPr>
        <p:spPr>
          <a:xfrm>
            <a:off x="2926080" y="1920240"/>
            <a:ext cx="1965960" cy="25603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2926080" y="1920240"/>
            <a:ext cx="1965960" cy="50292"/>
          </a:xfrm>
          <a:prstGeom prst="rect">
            <a:avLst/>
          </a:prstGeom>
          <a:solidFill>
            <a:srgbClr val="2F5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4096" y="2112264"/>
            <a:ext cx="1709928" cy="676656"/>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Members làm việc</a:t>
            </a:r>
          </a:p>
        </p:txBody>
      </p:sp>
      <p:sp>
        <p:nvSpPr>
          <p:cNvPr id="16" name="TextBox 15"/>
          <p:cNvSpPr txBox="1"/>
          <p:nvPr/>
        </p:nvSpPr>
        <p:spPr>
          <a:xfrm>
            <a:off x="3054096" y="2944368"/>
            <a:ext cx="1709928" cy="1353312"/>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Thành viên thực hiện phần được giao, tự kiểm tra và trao đổi khi gặp khó khăn.</a:t>
            </a:r>
          </a:p>
        </p:txBody>
      </p:sp>
      <p:sp>
        <p:nvSpPr>
          <p:cNvPr id="17" name="TextBox 16"/>
          <p:cNvSpPr txBox="1"/>
          <p:nvPr/>
        </p:nvSpPr>
        <p:spPr>
          <a:xfrm>
            <a:off x="4901184" y="2971800"/>
            <a:ext cx="219456" cy="411480"/>
          </a:xfrm>
          <a:prstGeom prst="rect">
            <a:avLst/>
          </a:prstGeom>
          <a:noFill/>
        </p:spPr>
        <p:txBody>
          <a:bodyPr wrap="square" lIns="13716" rIns="13716" tIns="13716" bIns="13716">
            <a:spAutoFit/>
          </a:bodyPr>
          <a:lstStyle/>
          <a:p>
            <a:pPr>
              <a:lnSpc>
                <a:spcPct val="113000"/>
              </a:lnSpc>
              <a:spcBef>
                <a:spcPts val="0"/>
              </a:spcBef>
              <a:spcAft>
                <a:spcPts val="700"/>
              </a:spcAft>
            </a:pPr>
            <a:r>
              <a:rPr sz="2200" b="1">
                <a:solidFill>
                  <a:srgbClr val="F68A19"/>
                </a:solidFill>
                <a:latin typeface="Arial"/>
              </a:rPr>
              <a:t>→</a:t>
            </a:r>
          </a:p>
        </p:txBody>
      </p:sp>
      <p:sp>
        <p:nvSpPr>
          <p:cNvPr id="18" name="Rounded Rectangle 17"/>
          <p:cNvSpPr/>
          <p:nvPr/>
        </p:nvSpPr>
        <p:spPr>
          <a:xfrm>
            <a:off x="5120640" y="1920240"/>
            <a:ext cx="1965960" cy="25603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5120640" y="1920240"/>
            <a:ext cx="1965960" cy="50292"/>
          </a:xfrm>
          <a:prstGeom prst="rect">
            <a:avLst/>
          </a:prstGeom>
          <a:solidFill>
            <a:srgbClr val="2F5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655" y="2112264"/>
            <a:ext cx="1709928" cy="676656"/>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Pull request</a:t>
            </a:r>
          </a:p>
        </p:txBody>
      </p:sp>
      <p:sp>
        <p:nvSpPr>
          <p:cNvPr id="21" name="TextBox 20"/>
          <p:cNvSpPr txBox="1"/>
          <p:nvPr/>
        </p:nvSpPr>
        <p:spPr>
          <a:xfrm>
            <a:off x="5248655" y="2944368"/>
            <a:ext cx="1709928" cy="1353312"/>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Thành viên gửi phần đã làm để trưởng nhóm xem xét trước khi đưa vào bản chung.</a:t>
            </a:r>
          </a:p>
        </p:txBody>
      </p:sp>
      <p:sp>
        <p:nvSpPr>
          <p:cNvPr id="22" name="TextBox 21"/>
          <p:cNvSpPr txBox="1"/>
          <p:nvPr/>
        </p:nvSpPr>
        <p:spPr>
          <a:xfrm>
            <a:off x="7095744" y="2971800"/>
            <a:ext cx="219456" cy="411480"/>
          </a:xfrm>
          <a:prstGeom prst="rect">
            <a:avLst/>
          </a:prstGeom>
          <a:noFill/>
        </p:spPr>
        <p:txBody>
          <a:bodyPr wrap="square" lIns="13716" rIns="13716" tIns="13716" bIns="13716">
            <a:spAutoFit/>
          </a:bodyPr>
          <a:lstStyle/>
          <a:p>
            <a:pPr>
              <a:lnSpc>
                <a:spcPct val="113000"/>
              </a:lnSpc>
              <a:spcBef>
                <a:spcPts val="0"/>
              </a:spcBef>
              <a:spcAft>
                <a:spcPts val="700"/>
              </a:spcAft>
            </a:pPr>
            <a:r>
              <a:rPr sz="2200" b="1">
                <a:solidFill>
                  <a:srgbClr val="F68A19"/>
                </a:solidFill>
                <a:latin typeface="Arial"/>
              </a:rPr>
              <a:t>→</a:t>
            </a:r>
          </a:p>
        </p:txBody>
      </p:sp>
      <p:sp>
        <p:nvSpPr>
          <p:cNvPr id="23" name="Rounded Rectangle 22"/>
          <p:cNvSpPr/>
          <p:nvPr/>
        </p:nvSpPr>
        <p:spPr>
          <a:xfrm>
            <a:off x="7315199" y="1920240"/>
            <a:ext cx="1965960" cy="25603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7315199" y="1920240"/>
            <a:ext cx="1965960" cy="50292"/>
          </a:xfrm>
          <a:prstGeom prst="rect">
            <a:avLst/>
          </a:prstGeom>
          <a:solidFill>
            <a:srgbClr val="2F50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43215" y="2112264"/>
            <a:ext cx="1709928" cy="676656"/>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Leader review</a:t>
            </a:r>
          </a:p>
        </p:txBody>
      </p:sp>
      <p:sp>
        <p:nvSpPr>
          <p:cNvPr id="26" name="TextBox 25"/>
          <p:cNvSpPr txBox="1"/>
          <p:nvPr/>
        </p:nvSpPr>
        <p:spPr>
          <a:xfrm>
            <a:off x="7443215" y="2944368"/>
            <a:ext cx="1709928" cy="1353312"/>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Trưởng nhóm kiểm tra kết quả, góp ý và đối chiếu với yêu cầu ban đầu.</a:t>
            </a:r>
          </a:p>
        </p:txBody>
      </p:sp>
      <p:sp>
        <p:nvSpPr>
          <p:cNvPr id="27" name="TextBox 26"/>
          <p:cNvSpPr txBox="1"/>
          <p:nvPr/>
        </p:nvSpPr>
        <p:spPr>
          <a:xfrm>
            <a:off x="9290304" y="2971800"/>
            <a:ext cx="219456" cy="411480"/>
          </a:xfrm>
          <a:prstGeom prst="rect">
            <a:avLst/>
          </a:prstGeom>
          <a:noFill/>
        </p:spPr>
        <p:txBody>
          <a:bodyPr wrap="square" lIns="13716" rIns="13716" tIns="13716" bIns="13716">
            <a:spAutoFit/>
          </a:bodyPr>
          <a:lstStyle/>
          <a:p>
            <a:pPr>
              <a:lnSpc>
                <a:spcPct val="113000"/>
              </a:lnSpc>
              <a:spcBef>
                <a:spcPts val="0"/>
              </a:spcBef>
              <a:spcAft>
                <a:spcPts val="700"/>
              </a:spcAft>
            </a:pPr>
            <a:r>
              <a:rPr sz="2200" b="1">
                <a:solidFill>
                  <a:srgbClr val="F68A19"/>
                </a:solidFill>
                <a:latin typeface="Arial"/>
              </a:rPr>
              <a:t>→</a:t>
            </a:r>
          </a:p>
        </p:txBody>
      </p:sp>
      <p:sp>
        <p:nvSpPr>
          <p:cNvPr id="28" name="Rounded Rectangle 27"/>
          <p:cNvSpPr/>
          <p:nvPr/>
        </p:nvSpPr>
        <p:spPr>
          <a:xfrm>
            <a:off x="9509760" y="1920240"/>
            <a:ext cx="1965960" cy="25603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509760" y="1920240"/>
            <a:ext cx="1965960" cy="50292"/>
          </a:xfrm>
          <a:prstGeom prst="rect">
            <a:avLst/>
          </a:prstGeom>
          <a:solidFill>
            <a:srgbClr val="F68A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37776" y="2112264"/>
            <a:ext cx="1709928" cy="676656"/>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F68A19"/>
                </a:solidFill>
                <a:latin typeface="Arial"/>
              </a:rPr>
              <a:t>Merge / Fix code</a:t>
            </a:r>
          </a:p>
        </p:txBody>
      </p:sp>
      <p:sp>
        <p:nvSpPr>
          <p:cNvPr id="31" name="TextBox 30"/>
          <p:cNvSpPr txBox="1"/>
          <p:nvPr/>
        </p:nvSpPr>
        <p:spPr>
          <a:xfrm>
            <a:off x="9637776" y="2944368"/>
            <a:ext cx="1709928" cy="1353312"/>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Đạt yêu cầu: gộp vào bản chung. Chưa đạt: sửa theo góp ý rồi gửi lại để kiểm tra.</a:t>
            </a:r>
          </a:p>
        </p:txBody>
      </p:sp>
      <p:sp>
        <p:nvSpPr>
          <p:cNvPr id="32" name="Rounded Rectangle 31"/>
          <p:cNvSpPr/>
          <p:nvPr/>
        </p:nvSpPr>
        <p:spPr>
          <a:xfrm>
            <a:off x="822960" y="4791456"/>
            <a:ext cx="10515600" cy="658368"/>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05840" y="4937760"/>
            <a:ext cx="10149840" cy="365760"/>
          </a:xfrm>
          <a:prstGeom prst="rect">
            <a:avLst/>
          </a:prstGeom>
          <a:noFill/>
        </p:spPr>
        <p:txBody>
          <a:bodyPr wrap="square" lIns="13716" rIns="13716" tIns="13716" bIns="13716">
            <a:spAutoFit/>
          </a:bodyPr>
          <a:lstStyle/>
          <a:p>
            <a:pPr>
              <a:lnSpc>
                <a:spcPct val="113000"/>
              </a:lnSpc>
              <a:spcBef>
                <a:spcPts val="0"/>
              </a:spcBef>
              <a:spcAft>
                <a:spcPts val="700"/>
              </a:spcAft>
            </a:pPr>
            <a:r>
              <a:rPr sz="1700" b="1">
                <a:solidFill>
                  <a:srgbClr val="2F50CC"/>
                </a:solidFill>
                <a:latin typeface="Arial"/>
              </a:rPr>
              <a:t>Chưa đạt yêu cầu → thành viên sửa lại → gửi lại Pull request → Leader review.</a:t>
            </a:r>
          </a:p>
        </p:txBody>
      </p:sp>
      <p:sp>
        <p:nvSpPr>
          <p:cNvPr id="34" name="TextBox 33"/>
          <p:cNvSpPr txBox="1"/>
          <p:nvPr/>
        </p:nvSpPr>
        <p:spPr>
          <a:xfrm>
            <a:off x="914400" y="5696712"/>
            <a:ext cx="10332720" cy="393192"/>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596572"/>
                </a:solidFill>
                <a:latin typeface="Arial"/>
              </a:rPr>
              <a:t>Mỗi phần việc đều có người phụ trách, được tự kiểm tra và được xem xét trước khi đưa vào sản phẩm chung.</a:t>
            </a:r>
          </a:p>
        </p:txBody>
      </p:sp>
      <p:sp>
        <p:nvSpPr>
          <p:cNvPr id="35" name="TextBox 34"/>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03 — MINH CHỨNG JIRA</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Product Backlog của dự án</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Nguồn: Jira · Jira TTCS_N1 Board · chụp </a:t>
            </a:r>
            <a:r>
              <a:rPr lang="en-US" sz="1000" dirty="0" err="1">
                <a:solidFill>
                  <a:srgbClr val="4F5967"/>
                </a:solidFill>
                <a:latin typeface="Arial" pitchFamily="34" charset="0"/>
                <a:ea typeface="Arial" pitchFamily="34" charset="-122"/>
                <a:cs typeface="Arial" pitchFamily="34" charset="-120"/>
              </a:rPr>
              <a:t>ngày</a:t>
            </a:r>
            <a:r>
              <a:rPr lang="en-US" sz="1000" dirty="0">
                <a:solidFill>
                  <a:srgbClr val="4F5967"/>
                </a:solidFill>
                <a:latin typeface="Arial" pitchFamily="34" charset="0"/>
                <a:ea typeface="Arial" pitchFamily="34" charset="-122"/>
                <a:cs typeface="Arial" pitchFamily="34" charset="-120"/>
              </a:rPr>
              <a:t> </a:t>
            </a:r>
            <a:r>
              <a:rPr lang="vi-VN" sz="1000" dirty="0">
                <a:solidFill>
                  <a:srgbClr val="4F5967"/>
                </a:solidFill>
                <a:latin typeface="Arial" pitchFamily="34" charset="0"/>
                <a:ea typeface="Arial" pitchFamily="34" charset="-122"/>
                <a:cs typeface="Arial" pitchFamily="34" charset="-120"/>
              </a:rPr>
              <a:t>21</a:t>
            </a:r>
            <a:r>
              <a:rPr lang="en-US" sz="1000" dirty="0">
                <a:solidFill>
                  <a:srgbClr val="4F5967"/>
                </a:solidFill>
                <a:latin typeface="Arial" pitchFamily="34" charset="0"/>
                <a:ea typeface="Arial" pitchFamily="34" charset="-122"/>
                <a:cs typeface="Arial" pitchFamily="34" charset="-120"/>
              </a:rPr>
              <a:t>/10/2026</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Shape 4"/>
          <p:cNvSpPr/>
          <p:nvPr/>
        </p:nvSpPr>
        <p:spPr>
          <a:xfrm>
            <a:off x="917448" y="1828800"/>
            <a:ext cx="6309360" cy="4343400"/>
          </a:xfrm>
          <a:prstGeom prst="roundRect">
            <a:avLst>
              <a:gd name="adj" fmla="val 1684"/>
            </a:avLst>
          </a:prstGeom>
          <a:solidFill>
            <a:srgbClr val="EDEEEA"/>
          </a:solidFill>
          <a:ln w="12700">
            <a:solidFill>
              <a:srgbClr val="A9B2BD"/>
            </a:solidFill>
            <a:prstDash val="dash"/>
          </a:ln>
        </p:spPr>
      </p:sp>
      <p:sp>
        <p:nvSpPr>
          <p:cNvPr id="9" name="Text 5"/>
          <p:cNvSpPr txBox="1"/>
          <p:nvPr/>
        </p:nvSpPr>
        <p:spPr>
          <a:xfrm>
            <a:off x="1097280" y="3589020"/>
            <a:ext cx="5760720"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[Minh chứng Backlog trên Jira Software]</a:t>
            </a:r>
            <a:endParaRPr lang="en-US" sz="1200" dirty="0"/>
          </a:p>
        </p:txBody>
      </p:sp>
      <p:sp>
        <p:nvSpPr>
          <p:cNvPr id="10" name="Text 6"/>
          <p:cNvSpPr txBox="1"/>
          <p:nvPr/>
        </p:nvSpPr>
        <p:spPr>
          <a:xfrm>
            <a:off x="1097280" y="4183380"/>
            <a:ext cx="5760720"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Thấy rõ epic, user story, trạng thái · Jira Board: TTCS_N1 CRM Project</a:t>
            </a:r>
            <a:endParaRPr lang="en-US" sz="1100" dirty="0"/>
          </a:p>
        </p:txBody>
      </p:sp>
      <p:sp>
        <p:nvSpPr>
          <p:cNvPr id="11" name="Shape 7"/>
          <p:cNvSpPr/>
          <p:nvPr/>
        </p:nvSpPr>
        <p:spPr>
          <a:xfrm>
            <a:off x="7315200" y="1828800"/>
            <a:ext cx="1911096" cy="1051560"/>
          </a:xfrm>
          <a:prstGeom prst="roundRect">
            <a:avLst>
              <a:gd name="adj" fmla="val 6957"/>
            </a:avLst>
          </a:prstGeom>
          <a:solidFill>
            <a:srgbClr val="FCFCFA"/>
          </a:solidFill>
          <a:ln w="9525">
            <a:solidFill>
              <a:srgbClr val="D5D9DE"/>
            </a:solidFill>
            <a:prstDash val="solid"/>
          </a:ln>
        </p:spPr>
      </p:sp>
      <p:sp>
        <p:nvSpPr>
          <p:cNvPr id="12" name="Shape 8"/>
          <p:cNvSpPr/>
          <p:nvPr/>
        </p:nvSpPr>
        <p:spPr>
          <a:xfrm>
            <a:off x="7333488" y="1828800"/>
            <a:ext cx="1874520" cy="45720"/>
          </a:xfrm>
          <a:prstGeom prst="rect">
            <a:avLst/>
          </a:prstGeom>
          <a:solidFill>
            <a:srgbClr val="F28C28"/>
          </a:solidFill>
          <a:ln w="12700">
            <a:solidFill>
              <a:srgbClr val="F28C28"/>
            </a:solidFill>
            <a:prstDash val="solid"/>
          </a:ln>
        </p:spPr>
      </p:sp>
      <p:sp>
        <p:nvSpPr>
          <p:cNvPr id="13" name="Text 9"/>
          <p:cNvSpPr txBox="1"/>
          <p:nvPr/>
        </p:nvSpPr>
        <p:spPr>
          <a:xfrm>
            <a:off x="7479792" y="1984248"/>
            <a:ext cx="1636776"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Tổng số issue</a:t>
            </a:r>
            <a:endParaRPr lang="en-US" sz="1100" dirty="0"/>
          </a:p>
        </p:txBody>
      </p:sp>
      <p:sp>
        <p:nvSpPr>
          <p:cNvPr id="14" name="Text 10"/>
          <p:cNvSpPr txBox="1"/>
          <p:nvPr/>
        </p:nvSpPr>
        <p:spPr>
          <a:xfrm>
            <a:off x="7479792" y="2286000"/>
            <a:ext cx="1636776" cy="50292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108</a:t>
            </a:r>
            <a:endParaRPr lang="en-US" sz="2200" dirty="0"/>
          </a:p>
        </p:txBody>
      </p:sp>
      <p:sp>
        <p:nvSpPr>
          <p:cNvPr id="15" name="Shape 11"/>
          <p:cNvSpPr/>
          <p:nvPr/>
        </p:nvSpPr>
        <p:spPr>
          <a:xfrm>
            <a:off x="9363456" y="1828800"/>
            <a:ext cx="1911096" cy="1051560"/>
          </a:xfrm>
          <a:prstGeom prst="roundRect">
            <a:avLst>
              <a:gd name="adj" fmla="val 6957"/>
            </a:avLst>
          </a:prstGeom>
          <a:solidFill>
            <a:srgbClr val="FCFCFA"/>
          </a:solidFill>
          <a:ln w="9525">
            <a:solidFill>
              <a:srgbClr val="D5D9DE"/>
            </a:solidFill>
            <a:prstDash val="solid"/>
          </a:ln>
        </p:spPr>
      </p:sp>
      <p:sp>
        <p:nvSpPr>
          <p:cNvPr id="16" name="Shape 12"/>
          <p:cNvSpPr/>
          <p:nvPr/>
        </p:nvSpPr>
        <p:spPr>
          <a:xfrm>
            <a:off x="9381744" y="1828800"/>
            <a:ext cx="1874520" cy="45720"/>
          </a:xfrm>
          <a:prstGeom prst="rect">
            <a:avLst/>
          </a:prstGeom>
          <a:solidFill>
            <a:srgbClr val="F28C28"/>
          </a:solidFill>
          <a:ln w="12700">
            <a:solidFill>
              <a:srgbClr val="F28C28"/>
            </a:solidFill>
            <a:prstDash val="solid"/>
          </a:ln>
        </p:spPr>
      </p:sp>
      <p:sp>
        <p:nvSpPr>
          <p:cNvPr id="17" name="Text 13"/>
          <p:cNvSpPr txBox="1"/>
          <p:nvPr/>
        </p:nvSpPr>
        <p:spPr>
          <a:xfrm>
            <a:off x="9528048" y="1984248"/>
            <a:ext cx="1636776"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Đã Done</a:t>
            </a:r>
            <a:endParaRPr lang="en-US" sz="1100" dirty="0"/>
          </a:p>
        </p:txBody>
      </p:sp>
      <p:sp>
        <p:nvSpPr>
          <p:cNvPr id="18" name="Text 14"/>
          <p:cNvSpPr txBox="1"/>
          <p:nvPr/>
        </p:nvSpPr>
        <p:spPr>
          <a:xfrm>
            <a:off x="9528048" y="2286000"/>
            <a:ext cx="1636776" cy="50292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108</a:t>
            </a:r>
            <a:endParaRPr lang="en-US" sz="2200" dirty="0"/>
          </a:p>
        </p:txBody>
      </p:sp>
      <p:sp>
        <p:nvSpPr>
          <p:cNvPr id="19" name="Shape 15"/>
          <p:cNvSpPr/>
          <p:nvPr/>
        </p:nvSpPr>
        <p:spPr>
          <a:xfrm>
            <a:off x="7315200" y="3017520"/>
            <a:ext cx="1911096" cy="1051560"/>
          </a:xfrm>
          <a:prstGeom prst="roundRect">
            <a:avLst>
              <a:gd name="adj" fmla="val 6957"/>
            </a:avLst>
          </a:prstGeom>
          <a:solidFill>
            <a:srgbClr val="FCFCFA"/>
          </a:solidFill>
          <a:ln w="9525">
            <a:solidFill>
              <a:srgbClr val="D5D9DE"/>
            </a:solidFill>
            <a:prstDash val="solid"/>
          </a:ln>
        </p:spPr>
      </p:sp>
      <p:sp>
        <p:nvSpPr>
          <p:cNvPr id="20" name="Shape 16"/>
          <p:cNvSpPr/>
          <p:nvPr/>
        </p:nvSpPr>
        <p:spPr>
          <a:xfrm>
            <a:off x="7333488" y="3017520"/>
            <a:ext cx="1874520" cy="45720"/>
          </a:xfrm>
          <a:prstGeom prst="rect">
            <a:avLst/>
          </a:prstGeom>
          <a:solidFill>
            <a:srgbClr val="F28C28"/>
          </a:solidFill>
          <a:ln w="12700">
            <a:solidFill>
              <a:srgbClr val="F28C28"/>
            </a:solidFill>
            <a:prstDash val="solid"/>
          </a:ln>
        </p:spPr>
      </p:sp>
      <p:sp>
        <p:nvSpPr>
          <p:cNvPr id="21" name="Text 17"/>
          <p:cNvSpPr txBox="1"/>
          <p:nvPr/>
        </p:nvSpPr>
        <p:spPr>
          <a:xfrm>
            <a:off x="7479792" y="3172968"/>
            <a:ext cx="1636776"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Còn tồn</a:t>
            </a:r>
            <a:endParaRPr lang="en-US" sz="1100" dirty="0"/>
          </a:p>
        </p:txBody>
      </p:sp>
      <p:sp>
        <p:nvSpPr>
          <p:cNvPr id="22" name="Text 18"/>
          <p:cNvSpPr txBox="1"/>
          <p:nvPr/>
        </p:nvSpPr>
        <p:spPr>
          <a:xfrm>
            <a:off x="7479792" y="3474720"/>
            <a:ext cx="1636776" cy="50292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0</a:t>
            </a:r>
            <a:endParaRPr lang="en-US" sz="2200" dirty="0"/>
          </a:p>
        </p:txBody>
      </p:sp>
      <p:sp>
        <p:nvSpPr>
          <p:cNvPr id="23" name="Shape 19"/>
          <p:cNvSpPr/>
          <p:nvPr/>
        </p:nvSpPr>
        <p:spPr>
          <a:xfrm>
            <a:off x="9363456" y="3017520"/>
            <a:ext cx="1911096" cy="1051560"/>
          </a:xfrm>
          <a:prstGeom prst="roundRect">
            <a:avLst>
              <a:gd name="adj" fmla="val 6957"/>
            </a:avLst>
          </a:prstGeom>
          <a:solidFill>
            <a:srgbClr val="FCFCFA"/>
          </a:solidFill>
          <a:ln w="9525">
            <a:solidFill>
              <a:srgbClr val="D5D9DE"/>
            </a:solidFill>
            <a:prstDash val="solid"/>
          </a:ln>
        </p:spPr>
      </p:sp>
      <p:sp>
        <p:nvSpPr>
          <p:cNvPr id="24" name="Shape 20"/>
          <p:cNvSpPr/>
          <p:nvPr/>
        </p:nvSpPr>
        <p:spPr>
          <a:xfrm>
            <a:off x="9381744" y="3017520"/>
            <a:ext cx="1874520" cy="45720"/>
          </a:xfrm>
          <a:prstGeom prst="rect">
            <a:avLst/>
          </a:prstGeom>
          <a:solidFill>
            <a:srgbClr val="F28C28"/>
          </a:solidFill>
          <a:ln w="12700">
            <a:solidFill>
              <a:srgbClr val="F28C28"/>
            </a:solidFill>
            <a:prstDash val="solid"/>
          </a:ln>
        </p:spPr>
      </p:sp>
      <p:sp>
        <p:nvSpPr>
          <p:cNvPr id="25" name="Text 21"/>
          <p:cNvSpPr txBox="1"/>
          <p:nvPr/>
        </p:nvSpPr>
        <p:spPr>
          <a:xfrm>
            <a:off x="9528048" y="3172968"/>
            <a:ext cx="1636776"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Hoàn thành backlog</a:t>
            </a:r>
            <a:endParaRPr lang="en-US" sz="1100" dirty="0"/>
          </a:p>
        </p:txBody>
      </p:sp>
      <p:sp>
        <p:nvSpPr>
          <p:cNvPr id="26" name="Text 22"/>
          <p:cNvSpPr txBox="1"/>
          <p:nvPr/>
        </p:nvSpPr>
        <p:spPr>
          <a:xfrm>
            <a:off x="9528048" y="3474720"/>
            <a:ext cx="1636776" cy="502920"/>
          </a:xfrm>
          <a:prstGeom prst="rect">
            <a:avLst/>
          </a:prstGeom>
          <a:noFill/>
          <a:ln/>
        </p:spPr>
        <p:txBody>
          <a:bodyPr wrap="square" lIns="0" tIns="0" rIns="0" bIns="0" rtlCol="0" anchor="t"/>
          <a:lstStyle/>
          <a:p>
            <a:pPr marL="0" indent="0">
              <a:buNone/>
            </a:pPr>
            <a:r>
              <a:rPr lang="en-US" sz="2200" b="1" dirty="0">
                <a:solidFill>
                  <a:srgbClr val="2A55C5"/>
                </a:solidFill>
                <a:latin typeface="Arial" pitchFamily="34" charset="0"/>
                <a:ea typeface="Arial" pitchFamily="34" charset="-122"/>
                <a:cs typeface="Arial" pitchFamily="34" charset="-120"/>
              </a:rPr>
              <a:t>100%</a:t>
            </a:r>
            <a:endParaRPr lang="en-US" sz="2200" dirty="0"/>
          </a:p>
        </p:txBody>
      </p:sp>
      <p:sp>
        <p:nvSpPr>
          <p:cNvPr id="27" name="Shape 23"/>
          <p:cNvSpPr/>
          <p:nvPr/>
        </p:nvSpPr>
        <p:spPr>
          <a:xfrm>
            <a:off x="7315200" y="4251960"/>
            <a:ext cx="3959352" cy="1920240"/>
          </a:xfrm>
          <a:prstGeom prst="roundRect">
            <a:avLst>
              <a:gd name="adj" fmla="val 3810"/>
            </a:avLst>
          </a:prstGeom>
          <a:solidFill>
            <a:srgbClr val="FCFCFA"/>
          </a:solidFill>
          <a:ln w="9525">
            <a:solidFill>
              <a:srgbClr val="D5D9DE"/>
            </a:solidFill>
            <a:prstDash val="solid"/>
          </a:ln>
        </p:spPr>
      </p:sp>
      <p:sp>
        <p:nvSpPr>
          <p:cNvPr id="28" name="Text 24"/>
          <p:cNvSpPr txBox="1"/>
          <p:nvPr/>
        </p:nvSpPr>
        <p:spPr>
          <a:xfrm>
            <a:off x="7498080" y="4370832"/>
            <a:ext cx="3566160" cy="365760"/>
          </a:xfrm>
          <a:prstGeom prst="rect">
            <a:avLst/>
          </a:prstGeom>
          <a:noFill/>
          <a:ln/>
        </p:spPr>
        <p:txBody>
          <a:bodyPr wrap="square" lIns="0" tIns="0" rIns="0" bIns="0" rtlCol="0" anchor="t"/>
          <a:lstStyle/>
          <a:p>
            <a:pPr marL="0" indent="0">
              <a:buNone/>
            </a:pPr>
            <a:r>
              <a:rPr lang="en-US" sz="1400" b="1" dirty="0">
                <a:solidFill>
                  <a:srgbClr val="12263A"/>
                </a:solidFill>
                <a:latin typeface="Arial" pitchFamily="34" charset="0"/>
                <a:ea typeface="Arial" pitchFamily="34" charset="-122"/>
                <a:cs typeface="Arial" pitchFamily="34" charset="-120"/>
              </a:rPr>
              <a:t>Epic chính</a:t>
            </a:r>
            <a:endParaRPr lang="en-US" sz="1400" dirty="0"/>
          </a:p>
        </p:txBody>
      </p:sp>
      <p:sp>
        <p:nvSpPr>
          <p:cNvPr id="29" name="Text 25"/>
          <p:cNvSpPr txBox="1"/>
          <p:nvPr/>
        </p:nvSpPr>
        <p:spPr>
          <a:xfrm>
            <a:off x="7333488" y="4695444"/>
            <a:ext cx="3611880" cy="1517904"/>
          </a:xfrm>
          <a:prstGeom prst="rect">
            <a:avLst/>
          </a:prstGeom>
          <a:noFill/>
          <a:ln/>
        </p:spPr>
        <p:txBody>
          <a:bodyPr wrap="square" lIns="0" tIns="0" rIns="0" bIns="0" rtlCol="0" anchor="t"/>
          <a:lstStyle/>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EP-01 &amp; EP-02: Quản trị tài khoản, Phân quyền RBAC (ALL/GROUP/OWN) &amp; Danh mục</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EP-03 &amp; EP-05: Khách hàng 360°, Custom Fields động &amp; Cơ hội Pipeline Kanban</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EP-06 &amp; EP-08: Lịch làm việc/Timeline, Báo giá, Luồng duyệt &amp; Dashboard báo cáo</a:t>
            </a:r>
            <a:endParaRPr lang="en-US" sz="1200" dirty="0"/>
          </a:p>
        </p:txBody>
      </p:sp>
      <p:sp>
        <p:nvSpPr>
          <p:cNvPr id="30" name="TextBox 29"/>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04 — MINH CHỨNG JIRA</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Tiến độ theo sprint</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Nguồn: Jira › Reports · Jira Reports TTCS_N1 · chụp ngày 26/10/2026</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Shape 4"/>
          <p:cNvSpPr/>
          <p:nvPr/>
        </p:nvSpPr>
        <p:spPr>
          <a:xfrm>
            <a:off x="822960" y="1828800"/>
            <a:ext cx="5175504" cy="1920240"/>
          </a:xfrm>
          <a:prstGeom prst="roundRect">
            <a:avLst>
              <a:gd name="adj" fmla="val 3810"/>
            </a:avLst>
          </a:prstGeom>
          <a:solidFill>
            <a:srgbClr val="EDEEEA"/>
          </a:solidFill>
          <a:ln w="12700">
            <a:solidFill>
              <a:srgbClr val="A9B2BD"/>
            </a:solidFill>
            <a:prstDash val="dash"/>
          </a:ln>
        </p:spPr>
      </p:sp>
      <p:sp>
        <p:nvSpPr>
          <p:cNvPr id="9" name="Text 5"/>
          <p:cNvSpPr txBox="1"/>
          <p:nvPr/>
        </p:nvSpPr>
        <p:spPr>
          <a:xfrm>
            <a:off x="1097280" y="2377440"/>
            <a:ext cx="4626864"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[Biểu đồ Velocity Chart: 100% cam kết hoàn thành đúng hạn]</a:t>
            </a:r>
            <a:endParaRPr lang="en-US" sz="1200" dirty="0"/>
          </a:p>
        </p:txBody>
      </p:sp>
      <p:sp>
        <p:nvSpPr>
          <p:cNvPr id="10" name="Text 6"/>
          <p:cNvSpPr txBox="1"/>
          <p:nvPr/>
        </p:nvSpPr>
        <p:spPr>
          <a:xfrm>
            <a:off x="1097280" y="2971800"/>
            <a:ext cx="4626864"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Story point cam kết so với hoàn thành</a:t>
            </a:r>
            <a:endParaRPr lang="en-US" sz="1100" dirty="0"/>
          </a:p>
        </p:txBody>
      </p:sp>
      <p:sp>
        <p:nvSpPr>
          <p:cNvPr id="11" name="Shape 7"/>
          <p:cNvSpPr/>
          <p:nvPr/>
        </p:nvSpPr>
        <p:spPr>
          <a:xfrm>
            <a:off x="6922008" y="1828800"/>
            <a:ext cx="4443984" cy="1920240"/>
          </a:xfrm>
          <a:prstGeom prst="roundRect">
            <a:avLst>
              <a:gd name="adj" fmla="val 3810"/>
            </a:avLst>
          </a:prstGeom>
          <a:solidFill>
            <a:srgbClr val="EDEEEA"/>
          </a:solidFill>
          <a:ln w="12700">
            <a:solidFill>
              <a:srgbClr val="A9B2BD"/>
            </a:solidFill>
            <a:prstDash val="dash"/>
          </a:ln>
        </p:spPr>
      </p:sp>
      <p:sp>
        <p:nvSpPr>
          <p:cNvPr id="12" name="Text 8"/>
          <p:cNvSpPr txBox="1"/>
          <p:nvPr/>
        </p:nvSpPr>
        <p:spPr>
          <a:xfrm>
            <a:off x="7196328" y="2377440"/>
            <a:ext cx="3895344"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[Biểu đồ Burndown Chart Sprint 1, 2, 3, 4: 100% hoàn thành cam kết]</a:t>
            </a:r>
            <a:endParaRPr lang="en-US" sz="1200" dirty="0"/>
          </a:p>
        </p:txBody>
      </p:sp>
      <p:sp>
        <p:nvSpPr>
          <p:cNvPr id="13" name="Text 9"/>
          <p:cNvSpPr txBox="1"/>
          <p:nvPr/>
        </p:nvSpPr>
        <p:spPr>
          <a:xfrm>
            <a:off x="7196328" y="2971800"/>
            <a:ext cx="3895344"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Chọn 1–2 sprint tiêu biểu</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3977640"/>
          <a:ext cx="10543032" cy="2029968"/>
        </p:xfrm>
        <a:graphic>
          <a:graphicData uri="http://schemas.openxmlformats.org/drawingml/2006/table">
            <a:tbl>
              <a:tblPr/>
              <a:tblGrid>
                <a:gridCol w="17373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24712">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Arial" pitchFamily="34" charset="0"/>
                          <a:ea typeface="Arial" pitchFamily="34" charset="-122"/>
                          <a:cs typeface="Arial" pitchFamily="34" charset="-120"/>
                        </a:rPr>
                        <a:t>Sprint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Mục tiêu sprint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SP cam kết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SP hoàn thành</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Tỉ lệ</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12263A"/>
                          </a:solidFill>
                          <a:latin typeface="Arial" pitchFamily="34" charset="0"/>
                          <a:ea typeface="Arial" pitchFamily="34" charset="-122"/>
                          <a:cs typeface="Arial" pitchFamily="34" charset="-120"/>
                        </a:rPr>
                        <a:t>Sprint 1</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Phân quyền RBAC, Auth, Quản trị tài khoản &amp; Mail Reset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32</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32</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411480">
                <a:tc>
                  <a:txBody>
                    <a:bodyPr/>
                    <a:lstStyle/>
                    <a:p>
                      <a:pPr marL="0" indent="0">
                        <a:buNone/>
                      </a:pPr>
                      <a:r>
                        <a:rPr lang="en-US" sz="1150" dirty="0">
                          <a:solidFill>
                            <a:srgbClr val="12263A"/>
                          </a:solidFill>
                          <a:latin typeface="Arial" pitchFamily="34" charset="0"/>
                          <a:ea typeface="Arial" pitchFamily="34" charset="-122"/>
                          <a:cs typeface="Arial" pitchFamily="34" charset="-120"/>
                        </a:rPr>
                        <a:t>Sprint 2</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Master Data, Org Tree, Data Scoping &amp; Giá sàn</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36</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36</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411480">
                <a:tc>
                  <a:txBody>
                    <a:bodyPr/>
                    <a:lstStyle/>
                    <a:p>
                      <a:pPr marL="0" indent="0">
                        <a:buNone/>
                      </a:pPr>
                      <a:r>
                        <a:rPr lang="en-US" sz="1150" dirty="0">
                          <a:solidFill>
                            <a:srgbClr val="12263A"/>
                          </a:solidFill>
                          <a:latin typeface="Arial" pitchFamily="34" charset="0"/>
                          <a:ea typeface="Arial" pitchFamily="34" charset="-122"/>
                          <a:cs typeface="Arial" pitchFamily="34" charset="-120"/>
                        </a:rPr>
                        <a:t>Sprint 3 &amp; 4</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KH 360°, Custom Fields, Kanban, Audit Log &amp; Test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68</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68</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12263A"/>
                          </a:solidFill>
                          <a:latin typeface="Arial" pitchFamily="34" charset="0"/>
                          <a:ea typeface="Arial" pitchFamily="34" charset="-122"/>
                          <a:cs typeface="Arial" pitchFamily="34" charset="-120"/>
                        </a:rPr>
                        <a:t>Tổng (4 Sprints)</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150" b="1" dirty="0">
                          <a:solidFill>
                            <a:srgbClr val="12263A"/>
                          </a:solidFill>
                          <a:latin typeface="Arial" pitchFamily="34" charset="0"/>
                          <a:ea typeface="Arial" pitchFamily="34" charset="-122"/>
                          <a:cs typeface="Arial" pitchFamily="34" charset="-120"/>
                        </a:rPr>
                        <a:t>Hoàn thành 100% cam kết toàn bộ 4 Sprint (4 tuần)</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150" b="1" dirty="0">
                          <a:solidFill>
                            <a:srgbClr val="12263A"/>
                          </a:solidFill>
                          <a:latin typeface="Arial" pitchFamily="34" charset="0"/>
                          <a:ea typeface="Arial" pitchFamily="34" charset="-122"/>
                          <a:cs typeface="Arial" pitchFamily="34" charset="-120"/>
                        </a:rPr>
                        <a:t>136</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150" b="1" dirty="0">
                          <a:solidFill>
                            <a:srgbClr val="12263A"/>
                          </a:solidFill>
                          <a:latin typeface="Arial" pitchFamily="34" charset="0"/>
                          <a:ea typeface="Arial" pitchFamily="34" charset="-122"/>
                          <a:cs typeface="Arial" pitchFamily="34" charset="-120"/>
                        </a:rPr>
                        <a:t>136</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150" b="1" dirty="0">
                          <a:solidFill>
                            <a:srgbClr val="12263A"/>
                          </a:solidFill>
                          <a:latin typeface="Arial" pitchFamily="34" charset="0"/>
                          <a:ea typeface="Arial" pitchFamily="34" charset="-122"/>
                          <a:cs typeface="Arial" pitchFamily="34" charset="-120"/>
                        </a:rPr>
                        <a:t>100%</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05 — MINH CHỨNG GIT</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Hoạt động phát triển trên Git</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Repository: https://github.com/QuangDung1708/TTCS_N1 · số liệu tính đến 26/10/2026</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6858000" cy="4133088"/>
        </p:xfrm>
        <a:graphic>
          <a:graphicData uri="http://schemas.openxmlformats.org/drawingml/2006/table">
            <a:tbl>
              <a:tblPr/>
              <a:tblGrid>
                <a:gridCol w="24688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11480">
                <a:tc>
                  <a:txBody>
                    <a:bodyPr/>
                    <a:lstStyle/>
                    <a:p>
                      <a:pPr marL="0" indent="0">
                        <a:buNone/>
                      </a:pPr>
                      <a:r>
                        <a:rPr lang="en-US" sz="1050" b="1" dirty="0">
                          <a:solidFill>
                            <a:srgbClr val="FFFFFF"/>
                          </a:solidFill>
                          <a:latin typeface="Arial" pitchFamily="34" charset="0"/>
                          <a:ea typeface="Arial" pitchFamily="34" charset="-122"/>
                          <a:cs typeface="Arial" pitchFamily="34" charset="-120"/>
                        </a:rPr>
                        <a:t>Thành viên</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Commit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PR merge</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PR review</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 dòng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extLst>
                  <a:ext uri="{0D108BD9-81ED-4DB2-BD59-A6C34878D82A}">
                    <a16:rowId xmlns:a16="http://schemas.microsoft.com/office/drawing/2014/main" val="10000"/>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Triệu Quang Dũng (Leader)</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143</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28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35</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Lê Minh Danh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Nguyễn Trần Việt Anh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Đỗ Tuấn Dũng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4"/>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Nguyễn Thùy Chang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5"/>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Phạm Xuân Bính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6"/>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Nguyễn Ngọc Anh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21</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7"/>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Chẩu Thùy Dung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8"/>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Hoàng Lan Anh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22</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9"/>
                  </a:ext>
                </a:extLst>
              </a:tr>
              <a:tr h="338328">
                <a:tc>
                  <a:txBody>
                    <a:bodyPr/>
                    <a:lstStyle/>
                    <a:p>
                      <a:pPr marL="0" indent="0">
                        <a:buNone/>
                      </a:pPr>
                      <a:r>
                        <a:rPr lang="en-US" sz="1050" dirty="0">
                          <a:solidFill>
                            <a:srgbClr val="12263A"/>
                          </a:solidFill>
                          <a:latin typeface="Arial" pitchFamily="34" charset="0"/>
                          <a:ea typeface="Arial" pitchFamily="34" charset="-122"/>
                          <a:cs typeface="Arial" pitchFamily="34" charset="-120"/>
                        </a:rPr>
                        <a:t>Hứa Huệ An</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16</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10"/>
                  </a:ext>
                </a:extLst>
              </a:tr>
              <a:tr h="338328">
                <a:tc>
                  <a:txBody>
                    <a:bodyPr/>
                    <a:lstStyle/>
                    <a:p>
                      <a:pPr marL="0" indent="0">
                        <a:buNone/>
                      </a:pPr>
                      <a:r>
                        <a:rPr lang="en-US" sz="1050" b="1" dirty="0">
                          <a:solidFill>
                            <a:srgbClr val="12263A"/>
                          </a:solidFill>
                          <a:latin typeface="Arial" pitchFamily="34" charset="0"/>
                          <a:ea typeface="Arial" pitchFamily="34" charset="-122"/>
                          <a:cs typeface="Arial" pitchFamily="34" charset="-120"/>
                        </a:rPr>
                        <a:t>Tổng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50" b="1" dirty="0">
                          <a:solidFill>
                            <a:srgbClr val="12263A"/>
                          </a:solidFill>
                          <a:latin typeface="Arial" pitchFamily="34" charset="0"/>
                          <a:ea typeface="Arial" pitchFamily="34" charset="-122"/>
                          <a:cs typeface="Arial" pitchFamily="34" charset="-120"/>
                        </a:rPr>
                        <a:t>289</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50" b="1" dirty="0">
                          <a:solidFill>
                            <a:srgbClr val="12263A"/>
                          </a:solidFill>
                          <a:latin typeface="Arial" pitchFamily="34" charset="0"/>
                          <a:ea typeface="Arial" pitchFamily="34" charset="-122"/>
                          <a:cs typeface="Arial" pitchFamily="34" charset="-120"/>
                        </a:rPr>
                        <a:t>90</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50" b="1" dirty="0">
                          <a:solidFill>
                            <a:srgbClr val="12263A"/>
                          </a:solidFill>
                          <a:latin typeface="Arial" pitchFamily="34" charset="0"/>
                          <a:ea typeface="Arial" pitchFamily="34" charset="-122"/>
                          <a:cs typeface="Arial" pitchFamily="34" charset="-120"/>
                        </a:rPr>
                        <a:t>124</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50" b="1" dirty="0">
                          <a:solidFill>
                            <a:srgbClr val="12263A"/>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extLst>
                  <a:ext uri="{0D108BD9-81ED-4DB2-BD59-A6C34878D82A}">
                    <a16:rowId xmlns:a16="http://schemas.microsoft.com/office/drawing/2014/main" val="10011"/>
                  </a:ext>
                </a:extLst>
              </a:tr>
            </a:tbl>
          </a:graphicData>
        </a:graphic>
      </p:graphicFrame>
      <p:sp>
        <p:nvSpPr>
          <p:cNvPr id="9" name="Shape 4"/>
          <p:cNvSpPr/>
          <p:nvPr/>
        </p:nvSpPr>
        <p:spPr>
          <a:xfrm>
            <a:off x="7772400" y="1828800"/>
            <a:ext cx="3593592" cy="2331720"/>
          </a:xfrm>
          <a:prstGeom prst="roundRect">
            <a:avLst>
              <a:gd name="adj" fmla="val 3137"/>
            </a:avLst>
          </a:prstGeom>
          <a:solidFill>
            <a:srgbClr val="EDEEEA"/>
          </a:solidFill>
          <a:ln w="12700">
            <a:solidFill>
              <a:srgbClr val="A9B2BD"/>
            </a:solidFill>
            <a:prstDash val="dash"/>
          </a:ln>
        </p:spPr>
      </p:sp>
      <p:sp>
        <p:nvSpPr>
          <p:cNvPr id="10" name="Text 5"/>
          <p:cNvSpPr txBox="1"/>
          <p:nvPr/>
        </p:nvSpPr>
        <p:spPr>
          <a:xfrm>
            <a:off x="8046720" y="2583180"/>
            <a:ext cx="3044952"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[Biểu đồ Contributors &amp; Commit Graph]</a:t>
            </a:r>
            <a:endParaRPr lang="en-US" sz="1200" dirty="0"/>
          </a:p>
        </p:txBody>
      </p:sp>
      <p:sp>
        <p:nvSpPr>
          <p:cNvPr id="11" name="Text 6"/>
          <p:cNvSpPr txBox="1"/>
          <p:nvPr/>
        </p:nvSpPr>
        <p:spPr>
          <a:xfrm>
            <a:off x="8046720" y="3177540"/>
            <a:ext cx="3044952"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Thấy rõ toàn kỳ 4 tuần thực tập</a:t>
            </a:r>
            <a:endParaRPr lang="en-US" sz="1100" dirty="0"/>
          </a:p>
        </p:txBody>
      </p:sp>
      <p:sp>
        <p:nvSpPr>
          <p:cNvPr id="12" name="Shape 7"/>
          <p:cNvSpPr/>
          <p:nvPr/>
        </p:nvSpPr>
        <p:spPr>
          <a:xfrm>
            <a:off x="7772400" y="4297680"/>
            <a:ext cx="3593592" cy="1874520"/>
          </a:xfrm>
          <a:prstGeom prst="roundRect">
            <a:avLst>
              <a:gd name="adj" fmla="val 3902"/>
            </a:avLst>
          </a:prstGeom>
          <a:solidFill>
            <a:srgbClr val="FCFCFA"/>
          </a:solidFill>
          <a:ln w="9525">
            <a:solidFill>
              <a:srgbClr val="D5D9DE"/>
            </a:solidFill>
            <a:prstDash val="solid"/>
          </a:ln>
        </p:spPr>
      </p:sp>
      <p:sp>
        <p:nvSpPr>
          <p:cNvPr id="13" name="Text 8"/>
          <p:cNvSpPr txBox="1"/>
          <p:nvPr/>
        </p:nvSpPr>
        <p:spPr>
          <a:xfrm>
            <a:off x="7955280" y="4407408"/>
            <a:ext cx="3200400" cy="36576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500" b="1">
                <a:solidFill>
                  <a:srgbClr val="12263A"/>
                </a:solidFill>
                <a:latin typeface="Arial"/>
              </a:rPr>
              <a:t>Cách ghi nhận đóng góp</a:t>
            </a:r>
            <a:endParaRPr lang="en-US" sz="1300" dirty="0"/>
          </a:p>
        </p:txBody>
      </p:sp>
      <p:sp>
        <p:nvSpPr>
          <p:cNvPr id="14" name="Text 9"/>
          <p:cNvSpPr txBox="1"/>
          <p:nvPr/>
        </p:nvSpPr>
        <p:spPr>
          <a:xfrm>
            <a:off x="7955280" y="4800600"/>
            <a:ext cx="3246120" cy="128016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300">
                <a:solidFill>
                  <a:srgbClr val="2A55C5"/>
                </a:solidFill>
                <a:latin typeface="Arial"/>
              </a:rPr>
              <a:t>Nhóm đối chiếu lịch sử làm việc, các phần đã được chấp nhận và những góp ý trên GitHub để ghi nhận đóng góp của từng thành viên.</a:t>
            </a:r>
            <a:endParaRPr lang="en-US" sz="1200" dirty="0"/>
          </a:p>
        </p:txBody>
      </p:sp>
      <p:sp>
        <p:nvSpPr>
          <p:cNvPr id="15" name="TextBox 14"/>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06 — MINH CHỨNG GIT</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Quy trình Git &amp; Pull Request tiêu biểu</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Nguồn: GitHub QuangDung1708/TTCS_N1</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Text 4"/>
          <p:cNvSpPr txBox="1"/>
          <p:nvPr/>
        </p:nvSpPr>
        <p:spPr>
          <a:xfrm>
            <a:off x="822960" y="1828800"/>
            <a:ext cx="4572000" cy="365760"/>
          </a:xfrm>
          <a:prstGeom prst="rect">
            <a:avLst/>
          </a:prstGeom>
          <a:noFill/>
          <a:ln/>
        </p:spPr>
        <p:txBody>
          <a:bodyPr wrap="square" lIns="0" tIns="0" rIns="0" bIns="0" rtlCol="0" anchor="t"/>
          <a:lstStyle/>
          <a:p>
            <a:pPr marL="0" indent="0">
              <a:buNone/>
            </a:pPr>
            <a:r>
              <a:rPr lang="en-US" sz="1600" b="1" dirty="0">
                <a:solidFill>
                  <a:srgbClr val="12263A"/>
                </a:solidFill>
                <a:latin typeface="Arial" pitchFamily="34" charset="0"/>
                <a:ea typeface="Arial" pitchFamily="34" charset="-122"/>
                <a:cs typeface="Arial" pitchFamily="34" charset="-120"/>
              </a:rPr>
              <a:t>Mô hình nhánh</a:t>
            </a:r>
            <a:endParaRPr lang="en-US" sz="1600" dirty="0"/>
          </a:p>
        </p:txBody>
      </p:sp>
      <p:sp>
        <p:nvSpPr>
          <p:cNvPr id="9" name="Shape 5"/>
          <p:cNvSpPr/>
          <p:nvPr/>
        </p:nvSpPr>
        <p:spPr>
          <a:xfrm>
            <a:off x="822960" y="2286000"/>
            <a:ext cx="1280160" cy="457200"/>
          </a:xfrm>
          <a:prstGeom prst="roundRect">
            <a:avLst>
              <a:gd name="adj" fmla="val 50000"/>
            </a:avLst>
          </a:prstGeom>
          <a:solidFill>
            <a:srgbClr val="2A55C5"/>
          </a:solidFill>
          <a:ln w="12700">
            <a:solidFill>
              <a:srgbClr val="2A55C5"/>
            </a:solidFill>
            <a:prstDash val="solid"/>
          </a:ln>
        </p:spPr>
      </p:sp>
      <p:sp>
        <p:nvSpPr>
          <p:cNvPr id="10" name="Text 6"/>
          <p:cNvSpPr txBox="1"/>
          <p:nvPr/>
        </p:nvSpPr>
        <p:spPr>
          <a:xfrm>
            <a:off x="822960" y="228600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feature/*</a:t>
            </a:r>
            <a:endParaRPr lang="en-US" sz="1200" dirty="0"/>
          </a:p>
        </p:txBody>
      </p:sp>
      <p:sp>
        <p:nvSpPr>
          <p:cNvPr id="11" name="Text 7"/>
          <p:cNvSpPr txBox="1"/>
          <p:nvPr/>
        </p:nvSpPr>
        <p:spPr>
          <a:xfrm>
            <a:off x="2103120" y="2286000"/>
            <a:ext cx="411480" cy="457200"/>
          </a:xfrm>
          <a:prstGeom prst="rect">
            <a:avLst/>
          </a:prstGeom>
          <a:noFill/>
          <a:ln/>
        </p:spPr>
        <p:txBody>
          <a:bodyPr wrap="square" lIns="0" tIns="0" rIns="0" bIns="0" rtlCol="0" anchor="ctr"/>
          <a:lstStyle/>
          <a:p>
            <a:pPr marL="0" indent="0" algn="ctr">
              <a:buNone/>
            </a:pPr>
            <a:r>
              <a:rPr lang="en-US" sz="1800" dirty="0">
                <a:solidFill>
                  <a:srgbClr val="9AA3B0"/>
                </a:solidFill>
                <a:latin typeface="Arial" pitchFamily="34" charset="0"/>
                <a:ea typeface="Arial" pitchFamily="34" charset="-122"/>
                <a:cs typeface="Arial" pitchFamily="34" charset="-120"/>
              </a:rPr>
              <a:t>→</a:t>
            </a:r>
            <a:endParaRPr lang="en-US" sz="1800" dirty="0"/>
          </a:p>
        </p:txBody>
      </p:sp>
      <p:sp>
        <p:nvSpPr>
          <p:cNvPr id="12" name="Shape 8"/>
          <p:cNvSpPr/>
          <p:nvPr/>
        </p:nvSpPr>
        <p:spPr>
          <a:xfrm>
            <a:off x="2514600" y="2286000"/>
            <a:ext cx="1280160" cy="457200"/>
          </a:xfrm>
          <a:prstGeom prst="roundRect">
            <a:avLst>
              <a:gd name="adj" fmla="val 50000"/>
            </a:avLst>
          </a:prstGeom>
          <a:solidFill>
            <a:srgbClr val="10253A"/>
          </a:solidFill>
          <a:ln w="12700">
            <a:solidFill>
              <a:srgbClr val="10253A"/>
            </a:solidFill>
            <a:prstDash val="solid"/>
          </a:ln>
        </p:spPr>
      </p:sp>
      <p:sp>
        <p:nvSpPr>
          <p:cNvPr id="13" name="Text 9"/>
          <p:cNvSpPr txBox="1"/>
          <p:nvPr/>
        </p:nvSpPr>
        <p:spPr>
          <a:xfrm>
            <a:off x="2514600" y="228600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develop</a:t>
            </a:r>
            <a:endParaRPr lang="en-US" sz="1200" dirty="0"/>
          </a:p>
        </p:txBody>
      </p:sp>
      <p:sp>
        <p:nvSpPr>
          <p:cNvPr id="14" name="Text 10"/>
          <p:cNvSpPr txBox="1"/>
          <p:nvPr/>
        </p:nvSpPr>
        <p:spPr>
          <a:xfrm>
            <a:off x="3794760" y="2286000"/>
            <a:ext cx="411480" cy="457200"/>
          </a:xfrm>
          <a:prstGeom prst="rect">
            <a:avLst/>
          </a:prstGeom>
          <a:noFill/>
          <a:ln/>
        </p:spPr>
        <p:txBody>
          <a:bodyPr wrap="square" lIns="0" tIns="0" rIns="0" bIns="0" rtlCol="0" anchor="ctr"/>
          <a:lstStyle/>
          <a:p>
            <a:pPr marL="0" indent="0" algn="ctr">
              <a:buNone/>
            </a:pPr>
            <a:r>
              <a:rPr lang="en-US" sz="1800" dirty="0">
                <a:solidFill>
                  <a:srgbClr val="9AA3B0"/>
                </a:solidFill>
                <a:latin typeface="Arial" pitchFamily="34" charset="0"/>
                <a:ea typeface="Arial" pitchFamily="34" charset="-122"/>
                <a:cs typeface="Arial" pitchFamily="34" charset="-120"/>
              </a:rPr>
              <a:t>→</a:t>
            </a:r>
            <a:endParaRPr lang="en-US" sz="1800" dirty="0"/>
          </a:p>
        </p:txBody>
      </p:sp>
      <p:sp>
        <p:nvSpPr>
          <p:cNvPr id="15" name="Shape 11"/>
          <p:cNvSpPr/>
          <p:nvPr/>
        </p:nvSpPr>
        <p:spPr>
          <a:xfrm>
            <a:off x="4206240" y="2286000"/>
            <a:ext cx="1280160" cy="457200"/>
          </a:xfrm>
          <a:prstGeom prst="roundRect">
            <a:avLst>
              <a:gd name="adj" fmla="val 50000"/>
            </a:avLst>
          </a:prstGeom>
          <a:solidFill>
            <a:srgbClr val="F28C28"/>
          </a:solidFill>
          <a:ln w="12700">
            <a:solidFill>
              <a:srgbClr val="F28C28"/>
            </a:solidFill>
            <a:prstDash val="solid"/>
          </a:ln>
        </p:spPr>
      </p:sp>
      <p:sp>
        <p:nvSpPr>
          <p:cNvPr id="16" name="Text 12"/>
          <p:cNvSpPr txBox="1"/>
          <p:nvPr/>
        </p:nvSpPr>
        <p:spPr>
          <a:xfrm>
            <a:off x="4206240" y="228600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nsolas" pitchFamily="34" charset="0"/>
                <a:ea typeface="Consolas" pitchFamily="34" charset="-122"/>
                <a:cs typeface="Consolas" pitchFamily="34" charset="-120"/>
              </a:rPr>
              <a:t>main</a:t>
            </a:r>
            <a:endParaRPr lang="en-US" sz="1200" dirty="0"/>
          </a:p>
        </p:txBody>
      </p:sp>
      <p:sp>
        <p:nvSpPr>
          <p:cNvPr id="17" name="Text 13"/>
          <p:cNvSpPr txBox="1"/>
          <p:nvPr/>
        </p:nvSpPr>
        <p:spPr>
          <a:xfrm>
            <a:off x="822960" y="2926080"/>
            <a:ext cx="5394960" cy="274320"/>
          </a:xfrm>
          <a:prstGeom prst="rect">
            <a:avLst/>
          </a:prstGeom>
          <a:noFill/>
          <a:ln/>
        </p:spPr>
        <p:txBody>
          <a:bodyPr wrap="square" lIns="0" tIns="0" rIns="0" bIns="0" rtlCol="0" anchor="t"/>
          <a:lstStyle/>
          <a:p>
            <a:pPr marL="0" indent="0">
              <a:buNone/>
            </a:pPr>
            <a:r>
              <a:rPr lang="en-US" sz="1600" dirty="0">
                <a:solidFill>
                  <a:srgbClr val="4F5967"/>
                </a:solidFill>
                <a:latin typeface="Arial" pitchFamily="34" charset="0"/>
                <a:ea typeface="Arial" pitchFamily="34" charset="-122"/>
                <a:cs typeface="Arial" pitchFamily="34" charset="-120"/>
              </a:rPr>
              <a:t>Merge vào develop qua PR; main chỉ nhận bản phát hành</a:t>
            </a:r>
            <a:endParaRPr lang="en-US" sz="1600" dirty="0"/>
          </a:p>
        </p:txBody>
      </p:sp>
      <p:sp>
        <p:nvSpPr>
          <p:cNvPr id="18" name="Shape 14"/>
          <p:cNvSpPr/>
          <p:nvPr/>
        </p:nvSpPr>
        <p:spPr>
          <a:xfrm>
            <a:off x="822960" y="3429000"/>
            <a:ext cx="5394960" cy="2743200"/>
          </a:xfrm>
          <a:prstGeom prst="roundRect">
            <a:avLst>
              <a:gd name="adj" fmla="val 2667"/>
            </a:avLst>
          </a:prstGeom>
          <a:solidFill>
            <a:srgbClr val="FCFCFA"/>
          </a:solidFill>
          <a:ln w="9525">
            <a:solidFill>
              <a:srgbClr val="D5D9DE"/>
            </a:solidFill>
            <a:prstDash val="solid"/>
          </a:ln>
        </p:spPr>
      </p:sp>
      <p:sp>
        <p:nvSpPr>
          <p:cNvPr id="19" name="Text 15"/>
          <p:cNvSpPr txBox="1"/>
          <p:nvPr/>
        </p:nvSpPr>
        <p:spPr>
          <a:xfrm>
            <a:off x="1024128" y="3566160"/>
            <a:ext cx="4937760" cy="365760"/>
          </a:xfrm>
          <a:prstGeom prst="rect">
            <a:avLst/>
          </a:prstGeom>
          <a:noFill/>
          <a:ln/>
        </p:spPr>
        <p:txBody>
          <a:bodyPr wrap="square" lIns="0" tIns="0" rIns="0" bIns="0" rtlCol="0" anchor="t"/>
          <a:lstStyle/>
          <a:p>
            <a:pPr marL="0" indent="0">
              <a:buNone/>
            </a:pPr>
            <a:r>
              <a:rPr lang="en-US" b="1" dirty="0">
                <a:solidFill>
                  <a:srgbClr val="12263A"/>
                </a:solidFill>
                <a:latin typeface="Arial" pitchFamily="34" charset="0"/>
                <a:ea typeface="Arial" pitchFamily="34" charset="-122"/>
                <a:cs typeface="Arial" pitchFamily="34" charset="-120"/>
              </a:rPr>
              <a:t>Quy tắc nhóm áp dụng</a:t>
            </a:r>
            <a:endParaRPr lang="en-US" dirty="0"/>
          </a:p>
        </p:txBody>
      </p:sp>
      <p:sp>
        <p:nvSpPr>
          <p:cNvPr id="20" name="Text 16"/>
          <p:cNvSpPr txBox="1"/>
          <p:nvPr/>
        </p:nvSpPr>
        <p:spPr>
          <a:xfrm>
            <a:off x="822960" y="3950208"/>
            <a:ext cx="4983480" cy="2011680"/>
          </a:xfrm>
          <a:prstGeom prst="rect">
            <a:avLst/>
          </a:prstGeom>
          <a:noFill/>
          <a:ln/>
        </p:spPr>
        <p:txBody>
          <a:bodyPr wrap="square" lIns="13716" tIns="13716" rIns="13716" bIns="13716" rtlCol="0" anchor="t"/>
          <a:lstStyle/>
          <a:p>
            <a:pPr marL="165100" indent="-165100">
              <a:lnSpc>
                <a:spcPct val="113000"/>
              </a:lnSpc>
              <a:spcBef>
                <a:spcPts val="0"/>
              </a:spcBef>
              <a:spcAft>
                <a:spcPts val="700"/>
              </a:spcAft>
              <a:buSzPct val="100000"/>
              <a:buChar char="•"/>
            </a:pPr>
            <a:r>
              <a:rPr sz="1400">
                <a:solidFill>
                  <a:srgbClr val="4F5967"/>
                </a:solidFill>
                <a:latin typeface="Arial"/>
              </a:rPr>
              <a:t>Thành viên làm phần được giao trên bản riêng rồi gửi yêu cầu xem xét. Trưởng nhóm kiểm tra, góp ý và chỉ gộp vào bản chung khi phần việc đáp ứng yêu cầu.</a:t>
            </a:r>
            <a:endParaRPr lang="en-US" sz="1600" dirty="0"/>
          </a:p>
        </p:txBody>
      </p:sp>
      <p:sp>
        <p:nvSpPr>
          <p:cNvPr id="22" name="Text 18"/>
          <p:cNvSpPr txBox="1"/>
          <p:nvPr/>
        </p:nvSpPr>
        <p:spPr>
          <a:xfrm>
            <a:off x="6766560" y="3291840"/>
            <a:ext cx="4325112"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[Minh chứng PR #69, PR #65, PR #61 có trao đổi Code Review và Approve]</a:t>
            </a:r>
            <a:endParaRPr lang="en-US" sz="1200" dirty="0"/>
          </a:p>
        </p:txBody>
      </p:sp>
      <p:sp>
        <p:nvSpPr>
          <p:cNvPr id="23" name="Text 19"/>
          <p:cNvSpPr txBox="1"/>
          <p:nvPr/>
        </p:nvSpPr>
        <p:spPr>
          <a:xfrm>
            <a:off x="6766560" y="3886200"/>
            <a:ext cx="4325112"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Thấy được bình luận review và lần sửa sau review</a:t>
            </a:r>
            <a:endParaRPr lang="en-US" sz="1100" dirty="0"/>
          </a:p>
        </p:txBody>
      </p:sp>
      <p:sp>
        <p:nvSpPr>
          <p:cNvPr id="24" name="Text 20"/>
          <p:cNvSpPr txBox="1"/>
          <p:nvPr/>
        </p:nvSpPr>
        <p:spPr>
          <a:xfrm>
            <a:off x="7786203" y="5699645"/>
            <a:ext cx="1771866" cy="301752"/>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PR #</a:t>
            </a:r>
            <a:r>
              <a:rPr lang="vi-VN" sz="1000" dirty="0">
                <a:solidFill>
                  <a:srgbClr val="4F5967"/>
                </a:solidFill>
                <a:latin typeface="Arial" pitchFamily="34" charset="0"/>
                <a:ea typeface="Arial" pitchFamily="34" charset="-122"/>
                <a:cs typeface="Arial" pitchFamily="34" charset="-120"/>
              </a:rPr>
              <a:t>15</a:t>
            </a:r>
            <a:r>
              <a:rPr lang="en-US" sz="1000" dirty="0">
                <a:solidFill>
                  <a:srgbClr val="4F5967"/>
                </a:solidFill>
                <a:latin typeface="Arial" pitchFamily="34" charset="0"/>
                <a:ea typeface="Arial" pitchFamily="34" charset="-122"/>
                <a:cs typeface="Arial" pitchFamily="34" charset="-120"/>
              </a:rPr>
              <a:t> (N1-</a:t>
            </a:r>
            <a:r>
              <a:rPr lang="vi-VN" sz="1000" dirty="0">
                <a:solidFill>
                  <a:srgbClr val="4F5967"/>
                </a:solidFill>
                <a:latin typeface="Arial" pitchFamily="34" charset="0"/>
                <a:ea typeface="Arial" pitchFamily="34" charset="-122"/>
                <a:cs typeface="Arial" pitchFamily="34" charset="-120"/>
              </a:rPr>
              <a:t>106</a:t>
            </a:r>
            <a:r>
              <a:rPr lang="en-US" sz="1000" dirty="0">
                <a:solidFill>
                  <a:srgbClr val="4F5967"/>
                </a:solidFill>
                <a:latin typeface="Arial" pitchFamily="34" charset="0"/>
                <a:ea typeface="Arial" pitchFamily="34" charset="-122"/>
                <a:cs typeface="Arial" pitchFamily="34" charset="-120"/>
              </a:rPr>
              <a:t> </a:t>
            </a:r>
            <a:r>
              <a:rPr lang="vi-VN" sz="1000" dirty="0">
                <a:solidFill>
                  <a:srgbClr val="4F5967"/>
                </a:solidFill>
                <a:latin typeface="Arial" pitchFamily="34" charset="0"/>
                <a:ea typeface="Arial" pitchFamily="34" charset="-122"/>
                <a:cs typeface="Arial" pitchFamily="34" charset="-120"/>
              </a:rPr>
              <a:t>Create User</a:t>
            </a:r>
            <a:r>
              <a:rPr lang="en-US" sz="1000" dirty="0">
                <a:solidFill>
                  <a:srgbClr val="4F5967"/>
                </a:solidFill>
                <a:latin typeface="Arial" pitchFamily="34" charset="0"/>
                <a:ea typeface="Arial" pitchFamily="34" charset="-122"/>
                <a:cs typeface="Arial" pitchFamily="34" charset="-120"/>
              </a:rPr>
              <a:t>) </a:t>
            </a:r>
            <a:endParaRPr lang="en-US" sz="1000" dirty="0"/>
          </a:p>
        </p:txBody>
      </p:sp>
      <p:pic>
        <p:nvPicPr>
          <p:cNvPr id="26" name="Picture 25">
            <a:extLst>
              <a:ext uri="{FF2B5EF4-FFF2-40B4-BE49-F238E27FC236}">
                <a16:creationId xmlns:a16="http://schemas.microsoft.com/office/drawing/2014/main" id="{A50B670E-C7A2-6EBC-D836-C8EF4D439512}"/>
              </a:ext>
            </a:extLst>
          </p:cNvPr>
          <p:cNvPicPr>
            <a:picLocks noChangeAspect="1"/>
          </p:cNvPicPr>
          <p:nvPr/>
        </p:nvPicPr>
        <p:blipFill>
          <a:blip r:embed="rId5"/>
          <a:stretch>
            <a:fillRect/>
          </a:stretch>
        </p:blipFill>
        <p:spPr>
          <a:xfrm>
            <a:off x="6419088" y="1753143"/>
            <a:ext cx="5097176" cy="3803994"/>
          </a:xfrm>
          <a:prstGeom prst="rect">
            <a:avLst/>
          </a:prstGeom>
        </p:spPr>
      </p:pic>
      <p:sp>
        <p:nvSpPr>
          <p:cNvPr id="27" name="TextBox 2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07 — KẾT QUẢ SẢN PHẨM</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Sản phẩm đã hoàn thành</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11" name="Shape 7"/>
          <p:cNvSpPr/>
          <p:nvPr/>
        </p:nvSpPr>
        <p:spPr>
          <a:xfrm>
            <a:off x="7571232" y="1906723"/>
            <a:ext cx="4050792" cy="2148840"/>
          </a:xfrm>
          <a:prstGeom prst="roundRect">
            <a:avLst>
              <a:gd name="adj" fmla="val 3404"/>
            </a:avLst>
          </a:prstGeom>
          <a:solidFill>
            <a:srgbClr val="FCFCFA"/>
          </a:solidFill>
          <a:ln w="9525">
            <a:solidFill>
              <a:srgbClr val="D5D9DE"/>
            </a:solidFill>
            <a:prstDash val="solid"/>
          </a:ln>
        </p:spPr>
      </p:sp>
      <p:sp>
        <p:nvSpPr>
          <p:cNvPr id="12" name="Text 8"/>
          <p:cNvSpPr txBox="1"/>
          <p:nvPr/>
        </p:nvSpPr>
        <p:spPr>
          <a:xfrm>
            <a:off x="7616952" y="1965960"/>
            <a:ext cx="3657600" cy="365760"/>
          </a:xfrm>
          <a:prstGeom prst="rect">
            <a:avLst/>
          </a:prstGeom>
          <a:noFill/>
          <a:ln/>
        </p:spPr>
        <p:txBody>
          <a:bodyPr wrap="square" lIns="0" tIns="0" rIns="0" bIns="0" rtlCol="0" anchor="t"/>
          <a:lstStyle/>
          <a:p>
            <a:pPr marL="0" indent="0">
              <a:buNone/>
            </a:pPr>
            <a:r>
              <a:rPr lang="en-US" sz="1400" b="1" dirty="0">
                <a:solidFill>
                  <a:srgbClr val="12263A"/>
                </a:solidFill>
                <a:latin typeface="Arial" pitchFamily="34" charset="0"/>
                <a:ea typeface="Arial" pitchFamily="34" charset="-122"/>
                <a:cs typeface="Arial" pitchFamily="34" charset="-120"/>
              </a:rPr>
              <a:t>Tính năng chính</a:t>
            </a:r>
            <a:endParaRPr lang="en-US" sz="1400" dirty="0"/>
          </a:p>
        </p:txBody>
      </p:sp>
      <p:sp>
        <p:nvSpPr>
          <p:cNvPr id="13" name="Text 9"/>
          <p:cNvSpPr txBox="1"/>
          <p:nvPr/>
        </p:nvSpPr>
        <p:spPr>
          <a:xfrm>
            <a:off x="7616952" y="2359152"/>
            <a:ext cx="3703320" cy="1600200"/>
          </a:xfrm>
          <a:prstGeom prst="rect">
            <a:avLst/>
          </a:prstGeom>
          <a:noFill/>
          <a:ln/>
        </p:spPr>
        <p:txBody>
          <a:bodyPr wrap="square" lIns="0" tIns="0" rIns="0" bIns="0" rtlCol="0" anchor="t"/>
          <a:lstStyle/>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Phân quyền dữ liệu Data Scoping (ALL / GROUP / OWN) bảo mật tuyệt đối.</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Hồ sơ Khách hàng 360° với trường động Custom Fields &amp; Quản lý người liên hệ.</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Pipeline Kanban cơ hội bán hàng, tự động dự báo doanh số theo xác suất thắng.</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Quản lý sản phẩm, bảng giá sàn, dòng thời gian tương tác &amp; gửi mail thông báo.</a:t>
            </a:r>
            <a:endParaRPr lang="en-US" sz="1200" dirty="0"/>
          </a:p>
        </p:txBody>
      </p:sp>
      <p:sp>
        <p:nvSpPr>
          <p:cNvPr id="14" name="Shape 10"/>
          <p:cNvSpPr/>
          <p:nvPr/>
        </p:nvSpPr>
        <p:spPr>
          <a:xfrm>
            <a:off x="7616952" y="4179688"/>
            <a:ext cx="4050792" cy="2011680"/>
          </a:xfrm>
          <a:prstGeom prst="roundRect">
            <a:avLst>
              <a:gd name="adj" fmla="val 3636"/>
            </a:avLst>
          </a:prstGeom>
          <a:solidFill>
            <a:srgbClr val="FCFCFA"/>
          </a:solidFill>
          <a:ln w="9525">
            <a:solidFill>
              <a:srgbClr val="D5D9DE"/>
            </a:solidFill>
            <a:prstDash val="solid"/>
          </a:ln>
        </p:spPr>
      </p:sp>
      <p:sp>
        <p:nvSpPr>
          <p:cNvPr id="15" name="Text 11"/>
          <p:cNvSpPr txBox="1"/>
          <p:nvPr/>
        </p:nvSpPr>
        <p:spPr>
          <a:xfrm>
            <a:off x="7662672" y="4297680"/>
            <a:ext cx="3657600" cy="365760"/>
          </a:xfrm>
          <a:prstGeom prst="rect">
            <a:avLst/>
          </a:prstGeom>
          <a:noFill/>
          <a:ln/>
        </p:spPr>
        <p:txBody>
          <a:bodyPr wrap="square" lIns="0" tIns="0" rIns="0" bIns="0" rtlCol="0" anchor="t"/>
          <a:lstStyle/>
          <a:p>
            <a:pPr marL="0" indent="0">
              <a:buNone/>
            </a:pPr>
            <a:r>
              <a:rPr lang="en-US" sz="1400" b="1" dirty="0">
                <a:solidFill>
                  <a:srgbClr val="12263A"/>
                </a:solidFill>
                <a:latin typeface="Arial" pitchFamily="34" charset="0"/>
                <a:ea typeface="Arial" pitchFamily="34" charset="-122"/>
                <a:cs typeface="Arial" pitchFamily="34" charset="-120"/>
              </a:rPr>
              <a:t>Truy cập sản phẩm</a:t>
            </a:r>
            <a:endParaRPr lang="en-US" sz="1400" dirty="0"/>
          </a:p>
        </p:txBody>
      </p:sp>
      <p:sp>
        <p:nvSpPr>
          <p:cNvPr id="16" name="Text 12"/>
          <p:cNvSpPr txBox="1"/>
          <p:nvPr/>
        </p:nvSpPr>
        <p:spPr>
          <a:xfrm>
            <a:off x="7662672" y="4526280"/>
            <a:ext cx="3703320" cy="1463040"/>
          </a:xfrm>
          <a:prstGeom prst="rect">
            <a:avLst/>
          </a:prstGeom>
          <a:noFill/>
          <a:ln/>
        </p:spPr>
        <p:txBody>
          <a:bodyPr wrap="square" lIns="0" tIns="0" rIns="0" bIns="0" rtlCol="0" anchor="t"/>
          <a:lstStyle/>
          <a:p>
            <a:pPr marL="0" indent="0">
              <a:spcAft>
                <a:spcPts val="300"/>
              </a:spcAft>
              <a:buNone/>
            </a:pPr>
            <a:r>
              <a:rPr lang="en-US" sz="1200" dirty="0">
                <a:solidFill>
                  <a:srgbClr val="4F5967"/>
                </a:solidFill>
                <a:latin typeface="Arial" pitchFamily="34" charset="0"/>
                <a:ea typeface="Arial" pitchFamily="34" charset="-122"/>
                <a:cs typeface="Arial" pitchFamily="34" charset="-120"/>
              </a:rPr>
              <a:t>Web App: Localhost:5173 (Frontend) &amp; Localhost:5000 (Backend API)</a:t>
            </a:r>
            <a:endParaRPr lang="en-US" sz="1200" dirty="0"/>
          </a:p>
          <a:p>
            <a:pPr marL="0" indent="0">
              <a:spcAft>
                <a:spcPts val="300"/>
              </a:spcAft>
              <a:buNone/>
            </a:pPr>
            <a:r>
              <a:rPr lang="en-US" sz="1200" dirty="0">
                <a:solidFill>
                  <a:srgbClr val="4F5967"/>
                </a:solidFill>
                <a:latin typeface="Arial" pitchFamily="34" charset="0"/>
                <a:ea typeface="Arial" pitchFamily="34" charset="-122"/>
                <a:cs typeface="Arial" pitchFamily="34" charset="-120"/>
              </a:rPr>
              <a:t>Database: MySQL 8.x với đầy đủ Migration &amp; Seed data</a:t>
            </a:r>
            <a:endParaRPr lang="en-US" sz="1200" dirty="0"/>
          </a:p>
          <a:p>
            <a:pPr marL="0" indent="0">
              <a:spcAft>
                <a:spcPts val="300"/>
              </a:spcAft>
              <a:buNone/>
            </a:pPr>
            <a:r>
              <a:rPr lang="en-US" sz="1200" dirty="0">
                <a:solidFill>
                  <a:srgbClr val="4F5967"/>
                </a:solidFill>
                <a:latin typeface="Arial" pitchFamily="34" charset="0"/>
                <a:ea typeface="Arial" pitchFamily="34" charset="-122"/>
                <a:cs typeface="Arial" pitchFamily="34" charset="-120"/>
              </a:rPr>
              <a:t>Sẵn sàng Demo trực tiếp toàn bộ luồng nghiệp vụ trên máy</a:t>
            </a:r>
            <a:endParaRPr lang="en-US" sz="1200" dirty="0"/>
          </a:p>
          <a:p>
            <a:pPr marL="0" indent="0">
              <a:spcAft>
                <a:spcPts val="300"/>
              </a:spcAft>
              <a:buNone/>
            </a:pPr>
            <a:r>
              <a:rPr lang="en-US" sz="1200" dirty="0">
                <a:solidFill>
                  <a:srgbClr val="4F5967"/>
                </a:solidFill>
                <a:latin typeface="Arial" pitchFamily="34" charset="0"/>
                <a:ea typeface="Arial" pitchFamily="34" charset="-122"/>
                <a:cs typeface="Arial" pitchFamily="34" charset="-120"/>
              </a:rPr>
              <a:t>Mức hoàn thiện: Hoàn chỉnh 100% cả 4 Sprint</a:t>
            </a:r>
            <a:endParaRPr lang="en-US" sz="1200" dirty="0"/>
          </a:p>
        </p:txBody>
      </p:sp>
      <p:pic>
        <p:nvPicPr>
          <p:cNvPr id="18" name="Picture 17">
            <a:extLst>
              <a:ext uri="{FF2B5EF4-FFF2-40B4-BE49-F238E27FC236}">
                <a16:creationId xmlns:a16="http://schemas.microsoft.com/office/drawing/2014/main" id="{CB515E75-373B-C61D-116E-1DD8355E1AB7}"/>
              </a:ext>
            </a:extLst>
          </p:cNvPr>
          <p:cNvPicPr>
            <a:picLocks noChangeAspect="1"/>
          </p:cNvPicPr>
          <p:nvPr/>
        </p:nvPicPr>
        <p:blipFill>
          <a:blip r:embed="rId5"/>
          <a:stretch>
            <a:fillRect/>
          </a:stretch>
        </p:blipFill>
        <p:spPr>
          <a:xfrm>
            <a:off x="152400" y="1828800"/>
            <a:ext cx="7181088" cy="4748689"/>
          </a:xfrm>
          <a:prstGeom prst="rect">
            <a:avLst/>
          </a:prstGeom>
        </p:spPr>
      </p:pic>
      <p:sp>
        <p:nvSpPr>
          <p:cNvPr id="19" name="TextBox 18"/>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08 — KỸ THUẬT</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Kiến trúc &amp; công nghệ</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Shape 4"/>
          <p:cNvSpPr/>
          <p:nvPr/>
        </p:nvSpPr>
        <p:spPr>
          <a:xfrm>
            <a:off x="822960" y="1828800"/>
            <a:ext cx="5852160" cy="4343400"/>
          </a:xfrm>
          <a:prstGeom prst="roundRect">
            <a:avLst>
              <a:gd name="adj" fmla="val 1684"/>
            </a:avLst>
          </a:prstGeom>
          <a:solidFill>
            <a:srgbClr val="EDEEEA"/>
          </a:solidFill>
          <a:ln w="12700">
            <a:solidFill>
              <a:srgbClr val="A9B2BD"/>
            </a:solidFill>
            <a:prstDash val="dash"/>
          </a:ln>
        </p:spPr>
      </p:sp>
      <p:sp>
        <p:nvSpPr>
          <p:cNvPr id="9" name="Text 5"/>
          <p:cNvSpPr txBox="1"/>
          <p:nvPr/>
        </p:nvSpPr>
        <p:spPr>
          <a:xfrm>
            <a:off x="1097280" y="3589020"/>
            <a:ext cx="5303520" cy="548640"/>
          </a:xfrm>
          <a:prstGeom prst="rect">
            <a:avLst/>
          </a:prstGeom>
          <a:noFill/>
          <a:ln/>
        </p:spPr>
        <p:txBody>
          <a:bodyPr wrap="square" lIns="0" tIns="0" rIns="0" bIns="0" rtlCol="0" anchor="b"/>
          <a:lstStyle/>
          <a:p>
            <a:pPr marL="0" indent="0" algn="ctr">
              <a:buNone/>
            </a:pPr>
            <a:r>
              <a:rPr lang="en-US" sz="1200" b="1" dirty="0">
                <a:solidFill>
                  <a:srgbClr val="4F5967"/>
                </a:solidFill>
                <a:latin typeface="Arial" pitchFamily="34" charset="0"/>
                <a:ea typeface="Arial" pitchFamily="34" charset="-122"/>
                <a:cs typeface="Arial" pitchFamily="34" charset="-120"/>
              </a:rPr>
              <a:t>[Kiến trúc 3 lớp: React Client &lt;-&gt; Express RESTful API &lt;-&gt; MySQL Database]</a:t>
            </a:r>
            <a:endParaRPr lang="en-US" sz="1200" dirty="0"/>
          </a:p>
        </p:txBody>
      </p:sp>
      <p:sp>
        <p:nvSpPr>
          <p:cNvPr id="10" name="Text 6"/>
          <p:cNvSpPr txBox="1"/>
          <p:nvPr/>
        </p:nvSpPr>
        <p:spPr>
          <a:xfrm>
            <a:off x="1097280" y="4183380"/>
            <a:ext cx="5303520" cy="457200"/>
          </a:xfrm>
          <a:prstGeom prst="rect">
            <a:avLst/>
          </a:prstGeom>
          <a:noFill/>
          <a:ln/>
        </p:spPr>
        <p:txBody>
          <a:bodyPr wrap="square" lIns="0" tIns="0" rIns="0" bIns="0" rtlCol="0" anchor="t"/>
          <a:lstStyle/>
          <a:p>
            <a:pPr marL="0" indent="0" algn="ctr">
              <a:buNone/>
            </a:pPr>
            <a:r>
              <a:rPr lang="en-US" sz="1100" dirty="0">
                <a:solidFill>
                  <a:srgbClr val="6B7684"/>
                </a:solidFill>
                <a:latin typeface="Arial" pitchFamily="34" charset="0"/>
                <a:ea typeface="Arial" pitchFamily="34" charset="-122"/>
                <a:cs typeface="Arial" pitchFamily="34" charset="-120"/>
              </a:rPr>
              <a:t>Client → API → Database</a:t>
            </a:r>
            <a:endParaRPr lang="en-US" sz="1100" dirty="0"/>
          </a:p>
        </p:txBody>
      </p:sp>
      <p:sp>
        <p:nvSpPr>
          <p:cNvPr id="11" name="Text 7"/>
          <p:cNvSpPr txBox="1"/>
          <p:nvPr/>
        </p:nvSpPr>
        <p:spPr>
          <a:xfrm>
            <a:off x="6949440" y="1828800"/>
            <a:ext cx="4389120"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LẬP TRÌNH WEB</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49440" y="2194560"/>
          <a:ext cx="4416552" cy="3474720"/>
        </p:xfrm>
        <a:graphic>
          <a:graphicData uri="http://schemas.openxmlformats.org/drawingml/2006/table">
            <a:tbl>
              <a:tblPr/>
              <a:tblGrid>
                <a:gridCol w="1188720">
                  <a:extLst>
                    <a:ext uri="{9D8B030D-6E8A-4147-A177-3AD203B41FA5}">
                      <a16:colId xmlns:a16="http://schemas.microsoft.com/office/drawing/2014/main" val="20000"/>
                    </a:ext>
                  </a:extLst>
                </a:gridCol>
                <a:gridCol w="3227832">
                  <a:extLst>
                    <a:ext uri="{9D8B030D-6E8A-4147-A177-3AD203B41FA5}">
                      <a16:colId xmlns:a16="http://schemas.microsoft.com/office/drawing/2014/main" val="20001"/>
                    </a:ext>
                  </a:extLst>
                </a:gridCol>
              </a:tblGrid>
              <a:tr h="868680">
                <a:tc>
                  <a:txBody>
                    <a:bodyPr/>
                    <a:lstStyle/>
                    <a:p>
                      <a:pPr marL="0" indent="0">
                        <a:buNone/>
                      </a:pPr>
                      <a:r>
                        <a:rPr lang="en-US" sz="1150" b="1" dirty="0">
                          <a:solidFill>
                            <a:srgbClr val="12263A"/>
                          </a:solidFill>
                          <a:latin typeface="Arial" pitchFamily="34" charset="0"/>
                          <a:ea typeface="Arial" pitchFamily="34" charset="-122"/>
                          <a:cs typeface="Arial" pitchFamily="34" charset="-120"/>
                        </a:rPr>
                        <a:t>Frontend</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React 19, Vite, Ant Design v6, Axios, React Router v7, React Quill</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0"/>
                  </a:ext>
                </a:extLst>
              </a:tr>
              <a:tr h="868680">
                <a:tc>
                  <a:txBody>
                    <a:bodyPr/>
                    <a:lstStyle/>
                    <a:p>
                      <a:pPr marL="0" indent="0">
                        <a:buNone/>
                      </a:pPr>
                      <a:r>
                        <a:rPr lang="en-US" sz="1150" b="1" dirty="0">
                          <a:solidFill>
                            <a:srgbClr val="12263A"/>
                          </a:solidFill>
                          <a:latin typeface="Arial" pitchFamily="34" charset="0"/>
                          <a:ea typeface="Arial" pitchFamily="34" charset="-122"/>
                          <a:cs typeface="Arial" pitchFamily="34" charset="-120"/>
                        </a:rPr>
                        <a:t>Backend</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Node.js (Express v5), JWT Auth, Bcryptjs, Multer, Sharp, Nodemailer</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868680">
                <a:tc>
                  <a:txBody>
                    <a:bodyPr/>
                    <a:lstStyle/>
                    <a:p>
                      <a:pPr marL="0" indent="0">
                        <a:buNone/>
                      </a:pPr>
                      <a:r>
                        <a:rPr lang="en-US" sz="1150" b="1" dirty="0">
                          <a:solidFill>
                            <a:srgbClr val="12263A"/>
                          </a:solidFill>
                          <a:latin typeface="Arial" pitchFamily="34" charset="0"/>
                          <a:ea typeface="Arial" pitchFamily="34" charset="-122"/>
                          <a:cs typeface="Arial" pitchFamily="34" charset="-120"/>
                        </a:rPr>
                        <a:t>Database</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MySQL 8.0 (MySQL2 Pool Connection), InnoDB, Foreign Keys</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868680">
                <a:tc>
                  <a:txBody>
                    <a:bodyPr/>
                    <a:lstStyle/>
                    <a:p>
                      <a:pPr marL="0" indent="0">
                        <a:buNone/>
                      </a:pPr>
                      <a:r>
                        <a:rPr lang="en-US" sz="1150" b="1" dirty="0">
                          <a:solidFill>
                            <a:srgbClr val="12263A"/>
                          </a:solidFill>
                          <a:latin typeface="Arial" pitchFamily="34" charset="0"/>
                          <a:ea typeface="Arial" pitchFamily="34" charset="-122"/>
                          <a:cs typeface="Arial" pitchFamily="34" charset="-120"/>
                        </a:rPr>
                        <a:t>Triển khai</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Git Flow, Jest &amp; Supertest API Testing, Nodemailer SMTP</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09 — KẾT QUẢ SẢN PHẨM</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Mục tiêu đầu kỳ ↔ Kết quả thực tế</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10543032" cy="4069080"/>
        </p:xfrm>
        <a:graphic>
          <a:graphicData uri="http://schemas.openxmlformats.org/drawingml/2006/table">
            <a:tbl>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99032">
                  <a:extLst>
                    <a:ext uri="{9D8B030D-6E8A-4147-A177-3AD203B41FA5}">
                      <a16:colId xmlns:a16="http://schemas.microsoft.com/office/drawing/2014/main" val="20005"/>
                    </a:ext>
                  </a:extLst>
                </a:gridCol>
              </a:tblGrid>
              <a:tr h="411480">
                <a:tc>
                  <a:txBody>
                    <a:bodyPr/>
                    <a:lstStyle/>
                    <a:p>
                      <a:pPr marL="0" indent="0">
                        <a:buNone/>
                      </a:pPr>
                      <a:r>
                        <a:rPr lang="en-US" sz="1050" b="1" dirty="0">
                          <a:solidFill>
                            <a:srgbClr val="FFFFFF"/>
                          </a:solidFill>
                          <a:latin typeface="Arial" pitchFamily="34" charset="0"/>
                          <a:ea typeface="Arial" pitchFamily="34" charset="-122"/>
                          <a:cs typeface="Arial" pitchFamily="34" charset="-120"/>
                        </a:rPr>
                        <a:t>STT</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Tính năng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Mục tiêu đầu kỳ</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Kết quả thực tế</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Trạng thái</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50" b="1" dirty="0">
                          <a:solidFill>
                            <a:srgbClr val="FFFFFF"/>
                          </a:solidFill>
                          <a:latin typeface="Arial" pitchFamily="34" charset="0"/>
                          <a:ea typeface="Arial" pitchFamily="34" charset="-122"/>
                          <a:cs typeface="Arial" pitchFamily="34" charset="-120"/>
                        </a:rPr>
                        <a:t>Minh chứng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extLst>
                  <a:ext uri="{0D108BD9-81ED-4DB2-BD59-A6C34878D82A}">
                    <a16:rowId xmlns:a16="http://schemas.microsoft.com/office/drawing/2014/main" val="10000"/>
                  </a:ext>
                </a:extLst>
              </a:tr>
              <a:tr h="731520">
                <a:tc>
                  <a:txBody>
                    <a:bodyPr/>
                    <a:lstStyle/>
                    <a:p>
                      <a:pPr marL="0" indent="0">
                        <a:buNone/>
                      </a:pPr>
                      <a:r>
                        <a:rPr lang="en-US" sz="1050" dirty="0">
                          <a:solidFill>
                            <a:srgbClr val="12263A"/>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Quản trị người dùng &amp; Phân quyền RBAC</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Xác thực JWT, phân quyền 7 role, Data Scoping đa cấp</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 thành 100%, bảo vệ route, middleware filter OWN/GROUP/ALL</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b="1" dirty="0">
                          <a:solidFill>
                            <a:srgbClr val="2A55C5"/>
                          </a:solidFill>
                          <a:latin typeface="Arial" pitchFamily="34" charset="0"/>
                          <a:ea typeface="Arial" pitchFamily="34" charset="-122"/>
                          <a:cs typeface="Arial" pitchFamily="34" charset="-120"/>
                        </a:rPr>
                        <a:t>Hoàn thành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PR #60, PR #68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731520">
                <a:tc>
                  <a:txBody>
                    <a:bodyPr/>
                    <a:lstStyle/>
                    <a:p>
                      <a:pPr marL="0" indent="0">
                        <a:buNone/>
                      </a:pPr>
                      <a:r>
                        <a:rPr lang="en-US" sz="1050" dirty="0">
                          <a:solidFill>
                            <a:srgbClr val="12263A"/>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Danh mục sản phẩm, Giá sàn &amp; Master Data</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CRUD sản phẩm, bảng giá sàn, danh mục ngành nghề dùng chung</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 thành 100%, validate chặn giá thấp hơn sàn, ẩn giá vốn</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b="1" dirty="0">
                          <a:solidFill>
                            <a:srgbClr val="2A55C5"/>
                          </a:solidFill>
                          <a:latin typeface="Arial" pitchFamily="34" charset="0"/>
                          <a:ea typeface="Arial" pitchFamily="34" charset="-122"/>
                          <a:cs typeface="Arial" pitchFamily="34" charset="-120"/>
                        </a:rPr>
                        <a:t>Hoàn thành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PR #65, PR #69</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731520">
                <a:tc>
                  <a:txBody>
                    <a:bodyPr/>
                    <a:lstStyle/>
                    <a:p>
                      <a:pPr marL="0" indent="0">
                        <a:buNone/>
                      </a:pPr>
                      <a:r>
                        <a:rPr lang="en-US" sz="1050" dirty="0">
                          <a:solidFill>
                            <a:srgbClr val="12263A"/>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Khách hàng 360° &amp; Dynamic Custom Fields</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Quản lý người liên hệ, Custom Fields động đa dạng loại dữ liệu</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 thành 100%, render form động từ schema DB</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b="1" dirty="0">
                          <a:solidFill>
                            <a:srgbClr val="2A55C5"/>
                          </a:solidFill>
                          <a:latin typeface="Arial" pitchFamily="34" charset="0"/>
                          <a:ea typeface="Arial" pitchFamily="34" charset="-122"/>
                          <a:cs typeface="Arial" pitchFamily="34" charset="-120"/>
                        </a:rPr>
                        <a:t>Hoàn thành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PR #61, PR #88</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r h="731520">
                <a:tc>
                  <a:txBody>
                    <a:bodyPr/>
                    <a:lstStyle/>
                    <a:p>
                      <a:pPr marL="0" indent="0">
                        <a:buNone/>
                      </a:pPr>
                      <a:r>
                        <a:rPr lang="en-US" sz="1050" dirty="0">
                          <a:solidFill>
                            <a:srgbClr val="12263A"/>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Pipeline Kanban cơ hội &amp; Dự báo doanh thu</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Kéo thả Kanban, tính doanh số theo xác suất thắng/thua</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 thành 100%, tự động tính trọng số doanh thu</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b="1" dirty="0">
                          <a:solidFill>
                            <a:srgbClr val="2A55C5"/>
                          </a:solidFill>
                          <a:latin typeface="Arial" pitchFamily="34" charset="0"/>
                          <a:ea typeface="Arial" pitchFamily="34" charset="-122"/>
                          <a:cs typeface="Arial" pitchFamily="34" charset="-120"/>
                        </a:rPr>
                        <a:t>Hoàn thành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PR #88, S3-05</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4"/>
                  </a:ext>
                </a:extLst>
              </a:tr>
              <a:tr h="731520">
                <a:tc>
                  <a:txBody>
                    <a:bodyPr/>
                    <a:lstStyle/>
                    <a:p>
                      <a:pPr marL="0" indent="0">
                        <a:buNone/>
                      </a:pPr>
                      <a:r>
                        <a:rPr lang="en-US" sz="1050" dirty="0">
                          <a:solidFill>
                            <a:srgbClr val="12263A"/>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Audit Log ghi vết nhạy cảm &amp; Reset mật khẩu qua email</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Ghi vết sửa đổi dữ liệu quan trọng, reset mật khẩu qua email</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Hoàn thành 100%, diff viewer trực quan, email Nodemailer SMTP</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b="1" dirty="0">
                          <a:solidFill>
                            <a:srgbClr val="2A55C5"/>
                          </a:solidFill>
                          <a:latin typeface="Arial" pitchFamily="34" charset="0"/>
                          <a:ea typeface="Arial" pitchFamily="34" charset="-122"/>
                          <a:cs typeface="Arial" pitchFamily="34" charset="-120"/>
                        </a:rPr>
                        <a:t>Hoàn thành</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50" dirty="0">
                          <a:solidFill>
                            <a:srgbClr val="12263A"/>
                          </a:solidFill>
                          <a:latin typeface="Arial" pitchFamily="34" charset="0"/>
                          <a:ea typeface="Arial" pitchFamily="34" charset="-122"/>
                          <a:cs typeface="Arial" pitchFamily="34" charset="-120"/>
                        </a:rPr>
                        <a:t>PR #88, S2-04</a:t>
                      </a:r>
                      <a:endParaRPr lang="en-US" sz="10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5"/>
                  </a:ext>
                </a:extLst>
              </a:tr>
            </a:tbl>
          </a:graphicData>
        </a:graphic>
      </p:graphicFrame>
      <p:sp>
        <p:nvSpPr>
          <p:cNvPr id="9" name="Text 4"/>
          <p:cNvSpPr txBox="1"/>
          <p:nvPr/>
        </p:nvSpPr>
        <p:spPr>
          <a:xfrm>
            <a:off x="822960" y="5989320"/>
            <a:ext cx="6766560" cy="274320"/>
          </a:xfrm>
          <a:prstGeom prst="rect">
            <a:avLst/>
          </a:prstGeom>
          <a:noFill/>
          <a:ln/>
        </p:spPr>
        <p:txBody>
          <a:bodyPr wrap="square" lIns="0" tIns="0" rIns="0" bIns="0" rtlCol="0" anchor="t"/>
          <a:lstStyle/>
          <a:p>
            <a:pPr marL="0" indent="0">
              <a:buNone/>
            </a:pPr>
            <a:r>
              <a:rPr lang="en-US" sz="1200" b="1" dirty="0">
                <a:solidFill>
                  <a:srgbClr val="12263A"/>
                </a:solidFill>
                <a:latin typeface="Arial" pitchFamily="34" charset="0"/>
                <a:ea typeface="Arial" pitchFamily="34" charset="-122"/>
                <a:cs typeface="Arial" pitchFamily="34" charset="-120"/>
              </a:rPr>
              <a:t>Hoàn thành phạm vi 4 Sprint: 100% (9/9 Epics cốt lõi hoạt động trơn tru)</a:t>
            </a:r>
            <a:endParaRPr lang="en-US" sz="1200" dirty="0"/>
          </a:p>
        </p:txBody>
      </p:sp>
      <p:sp>
        <p:nvSpPr>
          <p:cNvPr id="10" name="Text 5"/>
          <p:cNvSpPr txBox="1"/>
          <p:nvPr/>
        </p:nvSpPr>
        <p:spPr>
          <a:xfrm>
            <a:off x="7680960" y="5989320"/>
            <a:ext cx="3685032" cy="274320"/>
          </a:xfrm>
          <a:prstGeom prst="rect">
            <a:avLst/>
          </a:prstGeom>
          <a:noFill/>
          <a:ln/>
        </p:spPr>
        <p:txBody>
          <a:bodyPr wrap="square" lIns="0" tIns="0" rIns="0" bIns="0" rtlCol="0" anchor="t"/>
          <a:lstStyle/>
          <a:p>
            <a:pPr marL="0" indent="0" algn="r">
              <a:buNone/>
            </a:pPr>
            <a:r>
              <a:rPr lang="en-US" sz="1050" dirty="0">
                <a:solidFill>
                  <a:srgbClr val="4F5967"/>
                </a:solidFill>
                <a:latin typeface="Arial" pitchFamily="34" charset="0"/>
                <a:ea typeface="Arial" pitchFamily="34" charset="-122"/>
                <a:cs typeface="Arial" pitchFamily="34" charset="-120"/>
              </a:rPr>
              <a:t>Trạng thái: Hoàn thành · Một phần · Chưa làm</a:t>
            </a:r>
            <a:endParaRPr lang="en-US" sz="1050" dirty="0"/>
          </a:p>
        </p:txBody>
      </p:sp>
      <p:sp>
        <p:nvSpPr>
          <p:cNvPr id="13" name="TextBox 1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10 — KẾT QUẢ SẢN PHẨM</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Chỉ số chất lượng &amp; hiệu năng</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Nguồn: Jira Software · Jest / Supertest · Postman · Chrome DevTools</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sp>
        <p:nvSpPr>
          <p:cNvPr id="8" name="Shape 4"/>
          <p:cNvSpPr/>
          <p:nvPr/>
        </p:nvSpPr>
        <p:spPr>
          <a:xfrm>
            <a:off x="822960" y="1828800"/>
            <a:ext cx="2496312" cy="1188720"/>
          </a:xfrm>
          <a:prstGeom prst="roundRect">
            <a:avLst>
              <a:gd name="adj" fmla="val 6154"/>
            </a:avLst>
          </a:prstGeom>
          <a:solidFill>
            <a:srgbClr val="FCFCFA"/>
          </a:solidFill>
          <a:ln w="9525">
            <a:solidFill>
              <a:srgbClr val="D5D9DE"/>
            </a:solidFill>
            <a:prstDash val="solid"/>
          </a:ln>
        </p:spPr>
      </p:sp>
      <p:sp>
        <p:nvSpPr>
          <p:cNvPr id="9" name="Shape 5"/>
          <p:cNvSpPr/>
          <p:nvPr/>
        </p:nvSpPr>
        <p:spPr>
          <a:xfrm>
            <a:off x="841248" y="1828800"/>
            <a:ext cx="2459736" cy="45720"/>
          </a:xfrm>
          <a:prstGeom prst="rect">
            <a:avLst/>
          </a:prstGeom>
          <a:solidFill>
            <a:srgbClr val="F28C28"/>
          </a:solidFill>
          <a:ln w="12700">
            <a:solidFill>
              <a:srgbClr val="F28C28"/>
            </a:solidFill>
            <a:prstDash val="solid"/>
          </a:ln>
        </p:spPr>
      </p:sp>
      <p:sp>
        <p:nvSpPr>
          <p:cNvPr id="10" name="Text 6"/>
          <p:cNvSpPr txBox="1"/>
          <p:nvPr/>
        </p:nvSpPr>
        <p:spPr>
          <a:xfrm>
            <a:off x="987552" y="19842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Story point Done</a:t>
            </a:r>
            <a:endParaRPr lang="en-US" sz="1100" dirty="0"/>
          </a:p>
        </p:txBody>
      </p:sp>
      <p:sp>
        <p:nvSpPr>
          <p:cNvPr id="11" name="Text 7"/>
          <p:cNvSpPr txBox="1"/>
          <p:nvPr/>
        </p:nvSpPr>
        <p:spPr>
          <a:xfrm>
            <a:off x="987552" y="2286000"/>
            <a:ext cx="2221992" cy="64008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136 / 136</a:t>
            </a:r>
            <a:endParaRPr lang="en-US" sz="2200" dirty="0"/>
          </a:p>
        </p:txBody>
      </p:sp>
      <p:sp>
        <p:nvSpPr>
          <p:cNvPr id="12" name="Shape 8"/>
          <p:cNvSpPr/>
          <p:nvPr/>
        </p:nvSpPr>
        <p:spPr>
          <a:xfrm>
            <a:off x="3502152" y="1828800"/>
            <a:ext cx="2496312" cy="1188720"/>
          </a:xfrm>
          <a:prstGeom prst="roundRect">
            <a:avLst>
              <a:gd name="adj" fmla="val 6154"/>
            </a:avLst>
          </a:prstGeom>
          <a:solidFill>
            <a:srgbClr val="FCFCFA"/>
          </a:solidFill>
          <a:ln w="9525">
            <a:solidFill>
              <a:srgbClr val="D5D9DE"/>
            </a:solidFill>
            <a:prstDash val="solid"/>
          </a:ln>
        </p:spPr>
      </p:sp>
      <p:sp>
        <p:nvSpPr>
          <p:cNvPr id="13" name="Shape 9"/>
          <p:cNvSpPr/>
          <p:nvPr/>
        </p:nvSpPr>
        <p:spPr>
          <a:xfrm>
            <a:off x="3520440" y="1828800"/>
            <a:ext cx="2459736" cy="45720"/>
          </a:xfrm>
          <a:prstGeom prst="rect">
            <a:avLst/>
          </a:prstGeom>
          <a:solidFill>
            <a:srgbClr val="F28C28"/>
          </a:solidFill>
          <a:ln w="12700">
            <a:solidFill>
              <a:srgbClr val="F28C28"/>
            </a:solidFill>
            <a:prstDash val="solid"/>
          </a:ln>
        </p:spPr>
      </p:sp>
      <p:sp>
        <p:nvSpPr>
          <p:cNvPr id="14" name="Text 10"/>
          <p:cNvSpPr txBox="1"/>
          <p:nvPr/>
        </p:nvSpPr>
        <p:spPr>
          <a:xfrm>
            <a:off x="3666744" y="19842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Bug đã xử lý</a:t>
            </a:r>
            <a:endParaRPr lang="en-US" sz="1100" dirty="0"/>
          </a:p>
        </p:txBody>
      </p:sp>
      <p:sp>
        <p:nvSpPr>
          <p:cNvPr id="15" name="Text 11"/>
          <p:cNvSpPr txBox="1"/>
          <p:nvPr/>
        </p:nvSpPr>
        <p:spPr>
          <a:xfrm>
            <a:off x="3666744" y="2286000"/>
            <a:ext cx="2221992" cy="64008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24</a:t>
            </a:r>
            <a:endParaRPr lang="en-US" sz="2200" dirty="0"/>
          </a:p>
        </p:txBody>
      </p:sp>
      <p:sp>
        <p:nvSpPr>
          <p:cNvPr id="16" name="Shape 12"/>
          <p:cNvSpPr/>
          <p:nvPr/>
        </p:nvSpPr>
        <p:spPr>
          <a:xfrm>
            <a:off x="6181344" y="1828800"/>
            <a:ext cx="2496312" cy="1188720"/>
          </a:xfrm>
          <a:prstGeom prst="roundRect">
            <a:avLst>
              <a:gd name="adj" fmla="val 6154"/>
            </a:avLst>
          </a:prstGeom>
          <a:solidFill>
            <a:srgbClr val="FCFCFA"/>
          </a:solidFill>
          <a:ln w="9525">
            <a:solidFill>
              <a:srgbClr val="D5D9DE"/>
            </a:solidFill>
            <a:prstDash val="solid"/>
          </a:ln>
        </p:spPr>
      </p:sp>
      <p:sp>
        <p:nvSpPr>
          <p:cNvPr id="17" name="Shape 13"/>
          <p:cNvSpPr/>
          <p:nvPr/>
        </p:nvSpPr>
        <p:spPr>
          <a:xfrm>
            <a:off x="6199632" y="1828800"/>
            <a:ext cx="2459736" cy="45720"/>
          </a:xfrm>
          <a:prstGeom prst="rect">
            <a:avLst/>
          </a:prstGeom>
          <a:solidFill>
            <a:srgbClr val="F28C28"/>
          </a:solidFill>
          <a:ln w="12700">
            <a:solidFill>
              <a:srgbClr val="F28C28"/>
            </a:solidFill>
            <a:prstDash val="solid"/>
          </a:ln>
        </p:spPr>
      </p:sp>
      <p:sp>
        <p:nvSpPr>
          <p:cNvPr id="18" name="Text 14"/>
          <p:cNvSpPr txBox="1"/>
          <p:nvPr/>
        </p:nvSpPr>
        <p:spPr>
          <a:xfrm>
            <a:off x="6345936" y="19842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Test case đạt</a:t>
            </a:r>
            <a:endParaRPr lang="en-US" sz="1100" dirty="0"/>
          </a:p>
        </p:txBody>
      </p:sp>
      <p:sp>
        <p:nvSpPr>
          <p:cNvPr id="19" name="Text 15"/>
          <p:cNvSpPr txBox="1"/>
          <p:nvPr/>
        </p:nvSpPr>
        <p:spPr>
          <a:xfrm>
            <a:off x="6345936" y="2286000"/>
            <a:ext cx="2221992" cy="64008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100%</a:t>
            </a:r>
            <a:endParaRPr lang="en-US" sz="2200" dirty="0"/>
          </a:p>
        </p:txBody>
      </p:sp>
      <p:sp>
        <p:nvSpPr>
          <p:cNvPr id="20" name="Shape 16"/>
          <p:cNvSpPr/>
          <p:nvPr/>
        </p:nvSpPr>
        <p:spPr>
          <a:xfrm>
            <a:off x="8860536" y="1828800"/>
            <a:ext cx="2496312" cy="1188720"/>
          </a:xfrm>
          <a:prstGeom prst="roundRect">
            <a:avLst>
              <a:gd name="adj" fmla="val 6154"/>
            </a:avLst>
          </a:prstGeom>
          <a:solidFill>
            <a:srgbClr val="FCFCFA"/>
          </a:solidFill>
          <a:ln w="9525">
            <a:solidFill>
              <a:srgbClr val="D5D9DE"/>
            </a:solidFill>
            <a:prstDash val="solid"/>
          </a:ln>
        </p:spPr>
      </p:sp>
      <p:sp>
        <p:nvSpPr>
          <p:cNvPr id="21" name="Shape 17"/>
          <p:cNvSpPr/>
          <p:nvPr/>
        </p:nvSpPr>
        <p:spPr>
          <a:xfrm>
            <a:off x="8878824" y="1828800"/>
            <a:ext cx="2459736" cy="45720"/>
          </a:xfrm>
          <a:prstGeom prst="rect">
            <a:avLst/>
          </a:prstGeom>
          <a:solidFill>
            <a:srgbClr val="F28C28"/>
          </a:solidFill>
          <a:ln w="12700">
            <a:solidFill>
              <a:srgbClr val="F28C28"/>
            </a:solidFill>
            <a:prstDash val="solid"/>
          </a:ln>
        </p:spPr>
      </p:sp>
      <p:sp>
        <p:nvSpPr>
          <p:cNvPr id="22" name="Text 18"/>
          <p:cNvSpPr txBox="1"/>
          <p:nvPr/>
        </p:nvSpPr>
        <p:spPr>
          <a:xfrm>
            <a:off x="9025128" y="1984248"/>
            <a:ext cx="2221992" cy="274320"/>
          </a:xfrm>
          <a:prstGeom prst="rect">
            <a:avLst/>
          </a:prstGeom>
          <a:noFill/>
          <a:ln/>
        </p:spPr>
        <p:txBody>
          <a:bodyPr wrap="square" lIns="0" tIns="0" rIns="0" bIns="0" rtlCol="0" anchor="t"/>
          <a:lstStyle/>
          <a:p>
            <a:pPr marL="0" indent="0">
              <a:buNone/>
            </a:pPr>
            <a:r>
              <a:rPr lang="en-US" sz="1100" dirty="0">
                <a:solidFill>
                  <a:srgbClr val="4F5967"/>
                </a:solidFill>
                <a:latin typeface="Arial" pitchFamily="34" charset="0"/>
                <a:ea typeface="Arial" pitchFamily="34" charset="-122"/>
                <a:cs typeface="Arial" pitchFamily="34" charset="-120"/>
              </a:rPr>
              <a:t>Người dùng thử</a:t>
            </a:r>
            <a:endParaRPr lang="en-US" sz="1100" dirty="0"/>
          </a:p>
        </p:txBody>
      </p:sp>
      <p:sp>
        <p:nvSpPr>
          <p:cNvPr id="23" name="Text 19"/>
          <p:cNvSpPr txBox="1"/>
          <p:nvPr/>
        </p:nvSpPr>
        <p:spPr>
          <a:xfrm>
            <a:off x="9025128" y="2286000"/>
            <a:ext cx="2221992" cy="640080"/>
          </a:xfrm>
          <a:prstGeom prst="rect">
            <a:avLst/>
          </a:prstGeom>
          <a:noFill/>
          <a:ln/>
        </p:spPr>
        <p:txBody>
          <a:bodyPr wrap="square" lIns="0" tIns="0" rIns="0" bIns="0" rtlCol="0" anchor="t"/>
          <a:lstStyle/>
          <a:p>
            <a:pPr marL="0" indent="0">
              <a:buNone/>
            </a:pPr>
            <a:r>
              <a:rPr lang="en-US" sz="2200" b="1" dirty="0">
                <a:solidFill>
                  <a:srgbClr val="12263A"/>
                </a:solidFill>
                <a:latin typeface="Arial" pitchFamily="34" charset="0"/>
                <a:ea typeface="Arial" pitchFamily="34" charset="-122"/>
                <a:cs typeface="Arial" pitchFamily="34" charset="-120"/>
              </a:rPr>
              <a:t>15 users</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 y="3337560"/>
          <a:ext cx="10543032" cy="2468880"/>
        </p:xfrm>
        <a:graphic>
          <a:graphicData uri="http://schemas.openxmlformats.org/drawingml/2006/table">
            <a:tbl>
              <a:tblPr/>
              <a:tblGrid>
                <a:gridCol w="16459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411480">
                <a:tc>
                  <a:txBody>
                    <a:bodyPr/>
                    <a:lstStyle/>
                    <a:p>
                      <a:pPr marL="0" indent="0">
                        <a:buNone/>
                      </a:pPr>
                      <a:r>
                        <a:rPr lang="en-US" sz="1150" b="1" dirty="0">
                          <a:solidFill>
                            <a:srgbClr val="FFFFFF"/>
                          </a:solidFill>
                          <a:latin typeface="Arial" pitchFamily="34" charset="0"/>
                          <a:ea typeface="Arial" pitchFamily="34" charset="-122"/>
                          <a:cs typeface="Arial" pitchFamily="34" charset="-120"/>
                        </a:rPr>
                        <a:t>Nhóm chỉ số</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Web — Tiêu chí đo</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Đơn vị / Công cụ</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Kết quả của nhóm</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extLst>
                  <a:ext uri="{0D108BD9-81ED-4DB2-BD59-A6C34878D82A}">
                    <a16:rowId xmlns:a16="http://schemas.microsoft.com/office/drawing/2014/main" val="10000"/>
                  </a:ext>
                </a:extLst>
              </a:tr>
              <a:tr h="685800">
                <a:tc>
                  <a:txBody>
                    <a:bodyPr/>
                    <a:lstStyle/>
                    <a:p>
                      <a:pPr marL="0" indent="0">
                        <a:buNone/>
                      </a:pPr>
                      <a:r>
                        <a:rPr lang="en-US" sz="1150" b="1" dirty="0">
                          <a:solidFill>
                            <a:srgbClr val="12263A"/>
                          </a:solidFill>
                          <a:latin typeface="Arial" pitchFamily="34" charset="0"/>
                          <a:ea typeface="Arial" pitchFamily="34" charset="-122"/>
                          <a:cs typeface="Arial" pitchFamily="34" charset="-120"/>
                        </a:rPr>
                        <a:t>Chất lượng</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24 bug đã xử lý triệt để, 100% pass unit test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Jest &amp; Supertest</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100% Pass Unit Test / Response &lt; 50ms / Sẵn sàng Demo</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685800">
                <a:tc>
                  <a:txBody>
                    <a:bodyPr/>
                    <a:lstStyle/>
                    <a:p>
                      <a:pPr marL="0" indent="0">
                        <a:buNone/>
                      </a:pPr>
                      <a:r>
                        <a:rPr lang="en-US" sz="1150" b="1" dirty="0">
                          <a:solidFill>
                            <a:srgbClr val="12263A"/>
                          </a:solidFill>
                          <a:latin typeface="Arial" pitchFamily="34" charset="0"/>
                          <a:ea typeface="Arial" pitchFamily="34" charset="-122"/>
                          <a:cs typeface="Arial" pitchFamily="34" charset="-120"/>
                        </a:rPr>
                        <a:t>Hiệu năng</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Thời gian tải trang &lt; 1.2s, phản hồi API &lt; 50ms</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Chrome DevTools, Postman</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Giao diện phản hồi tức thì, tối ưu câu lệnh truy vấn</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685800">
                <a:tc>
                  <a:txBody>
                    <a:bodyPr/>
                    <a:lstStyle/>
                    <a:p>
                      <a:pPr marL="0" indent="0">
                        <a:buNone/>
                      </a:pPr>
                      <a:r>
                        <a:rPr lang="en-US" sz="1150" b="1" dirty="0">
                          <a:solidFill>
                            <a:srgbClr val="12263A"/>
                          </a:solidFill>
                          <a:latin typeface="Arial" pitchFamily="34" charset="0"/>
                          <a:ea typeface="Arial" pitchFamily="34" charset="-122"/>
                          <a:cs typeface="Arial" pitchFamily="34" charset="-120"/>
                        </a:rPr>
                        <a:t>Hoàn thiện</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Đã chạy ổn định local, 15 user test nội bộ</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Nhóm kiểm thử &amp; Mentor</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150" dirty="0">
                          <a:solidFill>
                            <a:srgbClr val="12263A"/>
                          </a:solidFill>
                          <a:latin typeface="Arial" pitchFamily="34" charset="0"/>
                          <a:ea typeface="Arial" pitchFamily="34" charset="-122"/>
                          <a:cs typeface="Arial" pitchFamily="34" charset="-120"/>
                        </a:rPr>
                        <a:t>Sẵn sàng Demo trực tiếp toàn bộ luồng nghiệp vụ 100%</a:t>
                      </a:r>
                      <a:endParaRPr lang="en-US" sz="115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bl>
          </a:graphicData>
        </a:graphic>
      </p:graphicFrame>
      <p:sp>
        <p:nvSpPr>
          <p:cNvPr id="25" name="TextBox 24"/>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A · 11 — ĐÓNG GÓP</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Tỉ lệ đóng góp của thành viên</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Nguồn: số liệu cá nhân Phần B (Jira · Git) · phiếu đánh giá chéo · nhận xét mentor</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A — Kết quả nhóm</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3877056"/>
        </p:xfrm>
        <a:graphic>
          <a:graphicData uri="http://schemas.openxmlformats.org/drawingml/2006/table">
            <a:tbl>
              <a:tblPr/>
              <a:tblGrid>
                <a:gridCol w="30175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16152">
                  <a:extLst>
                    <a:ext uri="{9D8B030D-6E8A-4147-A177-3AD203B41FA5}">
                      <a16:colId xmlns:a16="http://schemas.microsoft.com/office/drawing/2014/main" val="20005"/>
                    </a:ext>
                  </a:extLst>
                </a:gridCol>
              </a:tblGrid>
              <a:tr h="457200">
                <a:tc>
                  <a:txBody>
                    <a:bodyPr/>
                    <a:lstStyle/>
                    <a:p>
                      <a:pPr marL="0" indent="0">
                        <a:buNone/>
                      </a:pPr>
                      <a:r>
                        <a:rPr lang="en-US" sz="1000" b="1" dirty="0">
                          <a:solidFill>
                            <a:srgbClr val="FFFFFF"/>
                          </a:solidFill>
                          <a:latin typeface="Arial" pitchFamily="34" charset="0"/>
                          <a:ea typeface="Arial" pitchFamily="34" charset="-122"/>
                          <a:cs typeface="Arial" pitchFamily="34" charset="-120"/>
                        </a:rPr>
                        <a:t>Thành viên</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Story point (40%)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PR merge + review (30%)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Đánh giá chéo (20%)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Mentor (10%)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tc>
                  <a:txBody>
                    <a:bodyPr/>
                    <a:lstStyle/>
                    <a:p>
                      <a:pPr marL="0" indent="0">
                        <a:buNone/>
                      </a:pPr>
                      <a:r>
                        <a:rPr lang="en-US" sz="1000" b="1" dirty="0">
                          <a:solidFill>
                            <a:srgbClr val="FFFFFF"/>
                          </a:solidFill>
                          <a:latin typeface="Arial" pitchFamily="34" charset="0"/>
                          <a:ea typeface="Arial" pitchFamily="34" charset="-122"/>
                          <a:cs typeface="Arial" pitchFamily="34" charset="-120"/>
                        </a:rPr>
                        <a:t>Tổng</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10253A"/>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Triệu Quang Dũng (Leader)</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19,8%</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31,1%</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Lê Minh Danh</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Nguyễn Trần Việt Anh</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7,8%</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Đỗ Tuấn Dũng</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7,5%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5,6%</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Nguyễn Thùy Chang</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9,4%</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8,9%</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Phạm Xuân Bính</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Nguyễn Ngọc Anh</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10,4%</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8,9%</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7"/>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Chẩu Thùy Dung</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7,8%</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8"/>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Hoàng Lan Anh</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10,4%</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09"/>
                  </a:ext>
                </a:extLst>
              </a:tr>
              <a:tr h="310896">
                <a:tc>
                  <a:txBody>
                    <a:bodyPr/>
                    <a:lstStyle/>
                    <a:p>
                      <a:pPr marL="0" indent="0">
                        <a:buNone/>
                      </a:pPr>
                      <a:r>
                        <a:rPr lang="en-US" sz="1000" dirty="0">
                          <a:solidFill>
                            <a:srgbClr val="12263A"/>
                          </a:solidFill>
                          <a:latin typeface="Arial" pitchFamily="34" charset="0"/>
                          <a:ea typeface="Arial" pitchFamily="34" charset="-122"/>
                          <a:cs typeface="Arial" pitchFamily="34" charset="-120"/>
                        </a:rPr>
                        <a:t>Hứa Huệ An</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tc>
                  <a:txBody>
                    <a:bodyPr/>
                    <a:lstStyle/>
                    <a:p>
                      <a:pPr marL="0" indent="0">
                        <a:buNone/>
                      </a:pPr>
                      <a:r>
                        <a:rPr lang="en-US" sz="1000" dirty="0">
                          <a:solidFill>
                            <a:srgbClr val="12263A"/>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FCFCFA"/>
                    </a:solidFill>
                  </a:tcPr>
                </a:tc>
                <a:extLst>
                  <a:ext uri="{0D108BD9-81ED-4DB2-BD59-A6C34878D82A}">
                    <a16:rowId xmlns:a16="http://schemas.microsoft.com/office/drawing/2014/main" val="10010"/>
                  </a:ext>
                </a:extLst>
              </a:tr>
              <a:tr h="310896">
                <a:tc>
                  <a:txBody>
                    <a:bodyPr/>
                    <a:lstStyle/>
                    <a:p>
                      <a:pPr marL="0" indent="0">
                        <a:buNone/>
                      </a:pPr>
                      <a:r>
                        <a:rPr lang="en-US" sz="1000" b="1" dirty="0">
                          <a:solidFill>
                            <a:srgbClr val="12263A"/>
                          </a:solidFill>
                          <a:latin typeface="Arial" pitchFamily="34" charset="0"/>
                          <a:ea typeface="Arial" pitchFamily="34" charset="-122"/>
                          <a:cs typeface="Arial" pitchFamily="34" charset="-120"/>
                        </a:rPr>
                        <a:t>Tổng nhóm</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00" b="1"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00" b="1"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00" b="1"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00" b="1"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tc>
                  <a:txBody>
                    <a:bodyPr/>
                    <a:lstStyle/>
                    <a:p>
                      <a:pPr marL="0" indent="0">
                        <a:buNone/>
                      </a:pPr>
                      <a:r>
                        <a:rPr lang="en-US" sz="1000" b="1" dirty="0">
                          <a:solidFill>
                            <a:srgbClr val="12263A"/>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anchor="ctr">
                    <a:lnL w="9525" cap="flat" cmpd="sng" algn="ctr">
                      <a:solidFill>
                        <a:srgbClr val="D5D9DE"/>
                      </a:solidFill>
                      <a:prstDash val="solid"/>
                      <a:round/>
                      <a:headEnd type="none" w="med" len="med"/>
                      <a:tailEnd type="none" w="med" len="med"/>
                    </a:lnL>
                    <a:lnR w="9525" cap="flat" cmpd="sng" algn="ctr">
                      <a:solidFill>
                        <a:srgbClr val="D5D9DE"/>
                      </a:solidFill>
                      <a:prstDash val="solid"/>
                      <a:round/>
                      <a:headEnd type="none" w="med" len="med"/>
                      <a:tailEnd type="none" w="med" len="med"/>
                    </a:lnR>
                    <a:lnT w="9525" cap="flat" cmpd="sng" algn="ctr">
                      <a:solidFill>
                        <a:srgbClr val="D5D9DE"/>
                      </a:solidFill>
                      <a:prstDash val="solid"/>
                      <a:round/>
                      <a:headEnd type="none" w="med" len="med"/>
                      <a:tailEnd type="none" w="med" len="med"/>
                    </a:lnT>
                    <a:lnB w="9525" cap="flat" cmpd="sng" algn="ctr">
                      <a:solidFill>
                        <a:srgbClr val="D5D9DE"/>
                      </a:solidFill>
                      <a:prstDash val="solid"/>
                      <a:round/>
                      <a:headEnd type="none" w="med" len="med"/>
                      <a:tailEnd type="none" w="med" len="med"/>
                    </a:lnB>
                    <a:solidFill>
                      <a:srgbClr val="E6E8EB"/>
                    </a:solidFill>
                  </a:tcPr>
                </a:tc>
                <a:extLst>
                  <a:ext uri="{0D108BD9-81ED-4DB2-BD59-A6C34878D82A}">
                    <a16:rowId xmlns:a16="http://schemas.microsoft.com/office/drawing/2014/main" val="10011"/>
                  </a:ext>
                </a:extLst>
              </a:tr>
            </a:tbl>
          </a:graphicData>
        </a:graphic>
      </p:graphicFrame>
      <p:sp>
        <p:nvSpPr>
          <p:cNvPr id="9" name="Text 4"/>
          <p:cNvSpPr txBox="1"/>
          <p:nvPr/>
        </p:nvSpPr>
        <p:spPr>
          <a:xfrm>
            <a:off x="822960" y="5989320"/>
            <a:ext cx="10543032" cy="365760"/>
          </a:xfrm>
          <a:prstGeom prst="rect">
            <a:avLst/>
          </a:prstGeom>
          <a:noFill/>
          <a:ln/>
        </p:spPr>
        <p:txBody>
          <a:bodyPr wrap="square" lIns="0" tIns="0" rIns="0" bIns="0" rtlCol="0" anchor="t"/>
          <a:lstStyle/>
          <a:p>
            <a:pPr marL="0" indent="0">
              <a:buNone/>
            </a:pPr>
            <a:r>
              <a:rPr lang="en-US" sz="950" dirty="0">
                <a:solidFill>
                  <a:srgbClr val="4F5967"/>
                </a:solidFill>
                <a:latin typeface="Arial" pitchFamily="34" charset="0"/>
                <a:ea typeface="Arial" pitchFamily="34" charset="-122"/>
                <a:cs typeface="Arial" pitchFamily="34" charset="-120"/>
              </a:rPr>
              <a:t>Tổng = 0,4 × Story point + 0,3 × PR + 0,2 × Đánh giá chéo + 0,1 × Mentor (mỗi tiêu chí quy về % trong nhóm) · Cột PR hiện tính theo PR merge; các ô [—%] bổ sung khi có phiếu đánh giá chéo và nhận xét mentor · Mentor xác nhận: [Họ tên, DD/MM/YYYY]</a:t>
            </a:r>
            <a:endParaRPr lang="en-US" sz="950" dirty="0"/>
          </a:p>
        </p:txBody>
      </p:sp>
      <p:sp>
        <p:nvSpPr>
          <p:cNvPr id="15" name="TextBox 14"/>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53A"/>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2651760"/>
            <a:ext cx="10543032" cy="365760"/>
          </a:xfrm>
          <a:prstGeom prst="rect">
            <a:avLst/>
          </a:prstGeom>
          <a:noFill/>
          <a:ln/>
        </p:spPr>
        <p:txBody>
          <a:bodyPr wrap="square" lIns="0" tIns="0" rIns="0" bIns="0" rtlCol="0" anchor="t"/>
          <a:lstStyle/>
          <a:p>
            <a:pPr marL="0" indent="0">
              <a:buNone/>
            </a:pPr>
            <a:r>
              <a:rPr lang="en-US" sz="1600" b="1" dirty="0">
                <a:solidFill>
                  <a:srgbClr val="F28C28"/>
                </a:solidFill>
                <a:latin typeface="Arial" pitchFamily="34" charset="0"/>
                <a:ea typeface="Arial" pitchFamily="34" charset="-122"/>
                <a:cs typeface="Arial" pitchFamily="34" charset="-120"/>
              </a:rPr>
              <a:t>PHẦN B</a:t>
            </a:r>
            <a:endParaRPr lang="en-US" sz="1600" dirty="0"/>
          </a:p>
        </p:txBody>
      </p:sp>
      <p:sp>
        <p:nvSpPr>
          <p:cNvPr id="5" name="Text 1"/>
          <p:cNvSpPr txBox="1"/>
          <p:nvPr/>
        </p:nvSpPr>
        <p:spPr>
          <a:xfrm>
            <a:off x="822960" y="3017520"/>
            <a:ext cx="10543032"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Đóng góp cá nhân</a:t>
            </a:r>
            <a:endParaRPr lang="en-US" sz="4000" dirty="0"/>
          </a:p>
        </p:txBody>
      </p:sp>
      <p:sp>
        <p:nvSpPr>
          <p:cNvPr id="6" name="Text 2"/>
          <p:cNvSpPr txBox="1"/>
          <p:nvPr/>
        </p:nvSpPr>
        <p:spPr>
          <a:xfrm>
            <a:off x="822960" y="4023360"/>
            <a:ext cx="10543032" cy="45720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000">
                <a:solidFill>
                  <a:srgbClr val="C5D0DC"/>
                </a:solidFill>
                <a:latin typeface="Arial"/>
              </a:rPr>
              <a:t>Phần việc phụ trách · Đóng góp cho nhóm · Một đóng góp tiêu biểu</a:t>
            </a:r>
            <a:endParaRPr lang="en-US" sz="1800" dirty="0"/>
          </a:p>
        </p:txBody>
      </p:sp>
      <p:sp>
        <p:nvSpPr>
          <p:cNvPr id="7" name="Text 3"/>
          <p:cNvSpPr txBox="1"/>
          <p:nvPr/>
        </p:nvSpPr>
        <p:spPr>
          <a:xfrm>
            <a:off x="822960" y="4617720"/>
            <a:ext cx="10543032" cy="365760"/>
          </a:xfrm>
          <a:prstGeom prst="rect">
            <a:avLst/>
          </a:prstGeom>
          <a:noFill/>
          <a:ln/>
        </p:spPr>
        <p:txBody>
          <a:bodyPr wrap="square" lIns="0" tIns="0" rIns="0" bIns="0" rtlCol="0" anchor="t"/>
          <a:lstStyle/>
          <a:p>
            <a:pPr marL="0" indent="0">
              <a:buNone/>
            </a:pPr>
            <a:r>
              <a:rPr lang="en-US" sz="1400" dirty="0">
                <a:solidFill>
                  <a:srgbClr val="A9B6C5"/>
                </a:solidFill>
                <a:latin typeface="Arial" pitchFamily="34" charset="0"/>
                <a:ea typeface="Arial" pitchFamily="34" charset="-122"/>
                <a:cs typeface="Arial" pitchFamily="34" charset="-120"/>
              </a:rPr>
              <a:t>Thứ tự: Triệu Quang Dũng (Leader) → Team Backend (5 devs) → Team Frontend (4 devs) · 10 thành viên</a:t>
            </a:r>
            <a:endParaRPr lang="en-US" sz="1400" dirty="0"/>
          </a:p>
        </p:txBody>
      </p:sp>
      <p:sp>
        <p:nvSpPr>
          <p:cNvPr id="8" name="TextBox 7"/>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253A"/>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2651760"/>
            <a:ext cx="10543032" cy="365760"/>
          </a:xfrm>
          <a:prstGeom prst="rect">
            <a:avLst/>
          </a:prstGeom>
          <a:noFill/>
          <a:ln/>
        </p:spPr>
        <p:txBody>
          <a:bodyPr wrap="square" lIns="0" tIns="0" rIns="0" bIns="0" rtlCol="0" anchor="t"/>
          <a:lstStyle/>
          <a:p>
            <a:pPr marL="0" indent="0">
              <a:buNone/>
            </a:pPr>
            <a:r>
              <a:rPr lang="en-US" sz="1600" b="1" dirty="0">
                <a:solidFill>
                  <a:srgbClr val="F28C28"/>
                </a:solidFill>
                <a:latin typeface="Arial" pitchFamily="34" charset="0"/>
                <a:ea typeface="Arial" pitchFamily="34" charset="-122"/>
                <a:cs typeface="Arial" pitchFamily="34" charset="-120"/>
              </a:rPr>
              <a:t>PHẦN C</a:t>
            </a:r>
            <a:endParaRPr lang="en-US" sz="1600" dirty="0"/>
          </a:p>
        </p:txBody>
      </p:sp>
      <p:sp>
        <p:nvSpPr>
          <p:cNvPr id="5" name="Text 1"/>
          <p:cNvSpPr txBox="1"/>
          <p:nvPr/>
        </p:nvSpPr>
        <p:spPr>
          <a:xfrm>
            <a:off x="822960" y="3017520"/>
            <a:ext cx="10543032" cy="82296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Tổng kết</a:t>
            </a:r>
            <a:endParaRPr lang="en-US" sz="4000" dirty="0"/>
          </a:p>
        </p:txBody>
      </p:sp>
      <p:sp>
        <p:nvSpPr>
          <p:cNvPr id="6" name="Text 2"/>
          <p:cNvSpPr txBox="1"/>
          <p:nvPr/>
        </p:nvSpPr>
        <p:spPr>
          <a:xfrm>
            <a:off x="822960" y="4023360"/>
            <a:ext cx="10543032" cy="457200"/>
          </a:xfrm>
          <a:prstGeom prst="rect">
            <a:avLst/>
          </a:prstGeom>
          <a:noFill/>
          <a:ln/>
        </p:spPr>
        <p:txBody>
          <a:bodyPr wrap="square" lIns="0" tIns="0" rIns="0" bIns="0" rtlCol="0" anchor="t"/>
          <a:lstStyle/>
          <a:p>
            <a:pPr marL="0" indent="0">
              <a:buNone/>
            </a:pPr>
            <a:r>
              <a:rPr lang="en-US" sz="1800" dirty="0">
                <a:solidFill>
                  <a:srgbClr val="C5D0DC"/>
                </a:solidFill>
                <a:latin typeface="Arial" pitchFamily="34" charset="0"/>
                <a:ea typeface="Arial" pitchFamily="34" charset="-122"/>
                <a:cs typeface="Arial" pitchFamily="34" charset="-120"/>
              </a:rPr>
              <a:t>Giá trị đạt được · Bài học · Hướng phát triển · Demo</a:t>
            </a:r>
            <a:endParaRPr lang="en-US" sz="1800" dirty="0"/>
          </a:p>
        </p:txBody>
      </p:sp>
      <p:sp>
        <p:nvSpPr>
          <p:cNvPr id="7" name="Text 3"/>
          <p:cNvSpPr txBox="1"/>
          <p:nvPr/>
        </p:nvSpPr>
        <p:spPr>
          <a:xfrm>
            <a:off x="822960" y="4617720"/>
            <a:ext cx="10543032" cy="365760"/>
          </a:xfrm>
          <a:prstGeom prst="rect">
            <a:avLst/>
          </a:prstGeom>
          <a:noFill/>
          <a:ln/>
        </p:spPr>
        <p:txBody>
          <a:bodyPr wrap="square" lIns="0" tIns="0" rIns="0" bIns="0" rtlCol="0" anchor="t"/>
          <a:lstStyle/>
          <a:p>
            <a:pPr marL="0" indent="0">
              <a:buNone/>
            </a:pPr>
            <a:r>
              <a:rPr lang="en-US" sz="1400" dirty="0">
                <a:solidFill>
                  <a:srgbClr val="A9B6C5"/>
                </a:solidFill>
                <a:latin typeface="Arial" pitchFamily="34" charset="0"/>
                <a:ea typeface="Arial" pitchFamily="34" charset="-122"/>
                <a:cs typeface="Arial" pitchFamily="34" charset="-120"/>
              </a:rPr>
              <a:t>Người trình bày: Triệu Quang Dũng &amp; Đại diện Nhóm 1 · Khoảng 7 phút</a:t>
            </a:r>
            <a:endParaRPr lang="en-US" sz="1400" dirty="0"/>
          </a:p>
        </p:txBody>
      </p:sp>
      <p:sp>
        <p:nvSpPr>
          <p:cNvPr id="8" name="TextBox 7"/>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C · 01 — GIÁ TRỊ</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Giá trị đạt được</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C — Tổng kết</a:t>
            </a:r>
            <a:endParaRPr lang="en-US" sz="1000" dirty="0"/>
          </a:p>
        </p:txBody>
      </p:sp>
      <p:sp>
        <p:nvSpPr>
          <p:cNvPr id="8" name="Shape 4"/>
          <p:cNvSpPr/>
          <p:nvPr/>
        </p:nvSpPr>
        <p:spPr>
          <a:xfrm>
            <a:off x="822960" y="1828800"/>
            <a:ext cx="3392424" cy="3383280"/>
          </a:xfrm>
          <a:prstGeom prst="roundRect">
            <a:avLst>
              <a:gd name="adj" fmla="val 2162"/>
            </a:avLst>
          </a:prstGeom>
          <a:solidFill>
            <a:srgbClr val="FCFCFA"/>
          </a:solidFill>
          <a:ln w="9525">
            <a:solidFill>
              <a:srgbClr val="D5D9DE"/>
            </a:solidFill>
            <a:prstDash val="solid"/>
          </a:ln>
        </p:spPr>
      </p:sp>
      <p:sp>
        <p:nvSpPr>
          <p:cNvPr id="9" name="Text 5"/>
          <p:cNvSpPr txBox="1"/>
          <p:nvPr/>
        </p:nvSpPr>
        <p:spPr>
          <a:xfrm>
            <a:off x="1024128" y="1965960"/>
            <a:ext cx="3026664" cy="365760"/>
          </a:xfrm>
          <a:prstGeom prst="rect">
            <a:avLst/>
          </a:prstGeom>
          <a:noFill/>
          <a:ln/>
        </p:spPr>
        <p:txBody>
          <a:bodyPr wrap="square" lIns="0" tIns="0" rIns="0" bIns="0" rtlCol="0" anchor="t"/>
          <a:lstStyle/>
          <a:p>
            <a:pPr marL="0" indent="0">
              <a:buNone/>
            </a:pPr>
            <a:r>
              <a:rPr lang="en-US" sz="1450" b="1" dirty="0">
                <a:solidFill>
                  <a:srgbClr val="12263A"/>
                </a:solidFill>
                <a:latin typeface="Arial" pitchFamily="34" charset="0"/>
                <a:ea typeface="Arial" pitchFamily="34" charset="-122"/>
                <a:cs typeface="Arial" pitchFamily="34" charset="-120"/>
              </a:rPr>
              <a:t>Cho sản phẩm / doanh nghiệp</a:t>
            </a:r>
            <a:endParaRPr lang="en-US" sz="1450" dirty="0"/>
          </a:p>
        </p:txBody>
      </p:sp>
      <p:sp>
        <p:nvSpPr>
          <p:cNvPr id="10" name="Text 6"/>
          <p:cNvSpPr txBox="1"/>
          <p:nvPr/>
        </p:nvSpPr>
        <p:spPr>
          <a:xfrm>
            <a:off x="1024128" y="2514600"/>
            <a:ext cx="2990088" cy="2651760"/>
          </a:xfrm>
          <a:prstGeom prst="rect">
            <a:avLst/>
          </a:prstGeom>
          <a:noFill/>
          <a:ln/>
        </p:spPr>
        <p:txBody>
          <a:bodyPr wrap="square" lIns="0" tIns="0" rIns="0" bIns="0" rtlCol="0" anchor="t"/>
          <a:lstStyle/>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Hệ thống CRM hoàn chỉnh, sẵn sàng triển khai thử nghiệm tại doanh nghiệp vừa và nhỏ.</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Thư viện Custom Fields động, Dynamic Filter và Middleware RBAC tái sử dụng cao.</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Tài liệu API Postman, hướng dẫn cài đặt README và cơ sở dữ liệu Seed Data đầy đủ.</a:t>
            </a:r>
            <a:endParaRPr lang="en-US" sz="1200" dirty="0"/>
          </a:p>
        </p:txBody>
      </p:sp>
      <p:sp>
        <p:nvSpPr>
          <p:cNvPr id="11" name="Shape 7"/>
          <p:cNvSpPr/>
          <p:nvPr/>
        </p:nvSpPr>
        <p:spPr>
          <a:xfrm>
            <a:off x="4398264" y="1828800"/>
            <a:ext cx="3392424" cy="3383280"/>
          </a:xfrm>
          <a:prstGeom prst="roundRect">
            <a:avLst>
              <a:gd name="adj" fmla="val 2162"/>
            </a:avLst>
          </a:prstGeom>
          <a:solidFill>
            <a:srgbClr val="FCFCFA"/>
          </a:solidFill>
          <a:ln w="9525">
            <a:solidFill>
              <a:srgbClr val="D5D9DE"/>
            </a:solidFill>
            <a:prstDash val="solid"/>
          </a:ln>
        </p:spPr>
      </p:sp>
      <p:sp>
        <p:nvSpPr>
          <p:cNvPr id="12" name="Text 8"/>
          <p:cNvSpPr txBox="1"/>
          <p:nvPr/>
        </p:nvSpPr>
        <p:spPr>
          <a:xfrm>
            <a:off x="4599432" y="1965960"/>
            <a:ext cx="3026664" cy="365760"/>
          </a:xfrm>
          <a:prstGeom prst="rect">
            <a:avLst/>
          </a:prstGeom>
          <a:noFill/>
          <a:ln/>
        </p:spPr>
        <p:txBody>
          <a:bodyPr wrap="square" lIns="0" tIns="0" rIns="0" bIns="0" rtlCol="0" anchor="t"/>
          <a:lstStyle/>
          <a:p>
            <a:pPr marL="0" indent="0">
              <a:buNone/>
            </a:pPr>
            <a:r>
              <a:rPr lang="en-US" sz="1450" b="1" dirty="0">
                <a:solidFill>
                  <a:srgbClr val="12263A"/>
                </a:solidFill>
                <a:latin typeface="Arial" pitchFamily="34" charset="0"/>
                <a:ea typeface="Arial" pitchFamily="34" charset="-122"/>
                <a:cs typeface="Arial" pitchFamily="34" charset="-120"/>
              </a:rPr>
              <a:t>Cho nhóm</a:t>
            </a:r>
            <a:endParaRPr lang="en-US" sz="1450" dirty="0"/>
          </a:p>
        </p:txBody>
      </p:sp>
      <p:sp>
        <p:nvSpPr>
          <p:cNvPr id="13" name="Text 9"/>
          <p:cNvSpPr txBox="1"/>
          <p:nvPr/>
        </p:nvSpPr>
        <p:spPr>
          <a:xfrm>
            <a:off x="4599432" y="2514600"/>
            <a:ext cx="2990088" cy="2651760"/>
          </a:xfrm>
          <a:prstGeom prst="rect">
            <a:avLst/>
          </a:prstGeom>
          <a:noFill/>
          <a:ln/>
        </p:spPr>
        <p:txBody>
          <a:bodyPr wrap="square" lIns="0" tIns="0" rIns="0" bIns="0" rtlCol="0" anchor="t"/>
          <a:lstStyle/>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Vận hành thuần thục mô hình Agile/Scrum: Sprint Planning, Daily Scrum, Sprint Retrospective.</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100% thành viên tuân thủ nghiêm ngặt Git Flow, văn hóa Code Review hỗ trợ lẫn nhau.</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Sản phẩm thực tế chạy mượt mà, giao diện hiện đại và tính bảo mật cao.</a:t>
            </a:r>
            <a:endParaRPr lang="en-US" sz="1200" dirty="0"/>
          </a:p>
        </p:txBody>
      </p:sp>
      <p:sp>
        <p:nvSpPr>
          <p:cNvPr id="14" name="Shape 10"/>
          <p:cNvSpPr/>
          <p:nvPr/>
        </p:nvSpPr>
        <p:spPr>
          <a:xfrm>
            <a:off x="7973568" y="1828800"/>
            <a:ext cx="3392424" cy="3383280"/>
          </a:xfrm>
          <a:prstGeom prst="roundRect">
            <a:avLst>
              <a:gd name="adj" fmla="val 2162"/>
            </a:avLst>
          </a:prstGeom>
          <a:solidFill>
            <a:srgbClr val="FCFCFA"/>
          </a:solidFill>
          <a:ln w="9525">
            <a:solidFill>
              <a:srgbClr val="D5D9DE"/>
            </a:solidFill>
            <a:prstDash val="solid"/>
          </a:ln>
        </p:spPr>
      </p:sp>
      <p:sp>
        <p:nvSpPr>
          <p:cNvPr id="15" name="Text 11"/>
          <p:cNvSpPr txBox="1"/>
          <p:nvPr/>
        </p:nvSpPr>
        <p:spPr>
          <a:xfrm>
            <a:off x="8174736" y="1965960"/>
            <a:ext cx="3026664" cy="365760"/>
          </a:xfrm>
          <a:prstGeom prst="rect">
            <a:avLst/>
          </a:prstGeom>
          <a:noFill/>
          <a:ln/>
        </p:spPr>
        <p:txBody>
          <a:bodyPr wrap="square" lIns="0" tIns="0" rIns="0" bIns="0" rtlCol="0" anchor="t"/>
          <a:lstStyle/>
          <a:p>
            <a:pPr marL="0" indent="0">
              <a:buNone/>
            </a:pPr>
            <a:r>
              <a:rPr lang="en-US" sz="1450" b="1" dirty="0">
                <a:solidFill>
                  <a:srgbClr val="12263A"/>
                </a:solidFill>
                <a:latin typeface="Arial" pitchFamily="34" charset="0"/>
                <a:ea typeface="Arial" pitchFamily="34" charset="-122"/>
                <a:cs typeface="Arial" pitchFamily="34" charset="-120"/>
              </a:rPr>
              <a:t>Cho cá nhân</a:t>
            </a:r>
            <a:endParaRPr lang="en-US" sz="1450" dirty="0"/>
          </a:p>
        </p:txBody>
      </p:sp>
      <p:sp>
        <p:nvSpPr>
          <p:cNvPr id="16" name="Text 12"/>
          <p:cNvSpPr txBox="1"/>
          <p:nvPr/>
        </p:nvSpPr>
        <p:spPr>
          <a:xfrm>
            <a:off x="8174736" y="2514600"/>
            <a:ext cx="2990088" cy="2651760"/>
          </a:xfrm>
          <a:prstGeom prst="rect">
            <a:avLst/>
          </a:prstGeom>
          <a:noFill/>
          <a:ln/>
        </p:spPr>
        <p:txBody>
          <a:bodyPr wrap="square" lIns="0" tIns="0" rIns="0" bIns="0" rtlCol="0" anchor="t"/>
          <a:lstStyle/>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Nâng cao vượt bậc tư duy lập trình Fullstack, kỹ năng kiểm thử và làm việc nhóm thực tế.</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Dự án CRM hoàn thiện là minh chứng năng lực trong CV xin việc của các thành viên.</a:t>
            </a:r>
            <a:endParaRPr lang="en-US" sz="1200" dirty="0"/>
          </a:p>
          <a:p>
            <a:pPr marL="165100" indent="-165100">
              <a:spcAft>
                <a:spcPts val="500"/>
              </a:spcAft>
              <a:buSzPct val="100000"/>
              <a:buChar char="•"/>
            </a:pPr>
            <a:r>
              <a:rPr lang="en-US" sz="1150" dirty="0">
                <a:solidFill>
                  <a:srgbClr val="4F5967"/>
                </a:solidFill>
                <a:latin typeface="Arial" pitchFamily="34" charset="0"/>
                <a:ea typeface="Arial" pitchFamily="34" charset="-122"/>
                <a:cs typeface="Arial" pitchFamily="34" charset="-120"/>
              </a:rPr>
              <a:t>Tự tin ứng tuyển các vị trí Fresher/Junior Fullstack Developer.</a:t>
            </a:r>
            <a:endParaRPr lang="en-US" sz="1200" dirty="0"/>
          </a:p>
        </p:txBody>
      </p:sp>
      <p:sp>
        <p:nvSpPr>
          <p:cNvPr id="17" name="Shape 13"/>
          <p:cNvSpPr/>
          <p:nvPr/>
        </p:nvSpPr>
        <p:spPr>
          <a:xfrm>
            <a:off x="822960" y="5394960"/>
            <a:ext cx="10543032" cy="731520"/>
          </a:xfrm>
          <a:prstGeom prst="roundRect">
            <a:avLst>
              <a:gd name="adj" fmla="val 10000"/>
            </a:avLst>
          </a:prstGeom>
          <a:solidFill>
            <a:srgbClr val="10253A"/>
          </a:solidFill>
          <a:ln w="12700">
            <a:solidFill>
              <a:srgbClr val="10253A"/>
            </a:solidFill>
            <a:prstDash val="solid"/>
          </a:ln>
        </p:spPr>
      </p:sp>
      <p:sp>
        <p:nvSpPr>
          <p:cNvPr id="18" name="Text 14"/>
          <p:cNvSpPr txBox="1"/>
          <p:nvPr/>
        </p:nvSpPr>
        <p:spPr>
          <a:xfrm>
            <a:off x="1051560" y="5394960"/>
            <a:ext cx="10085832" cy="731520"/>
          </a:xfrm>
          <a:prstGeom prst="rect">
            <a:avLst/>
          </a:prstGeom>
          <a:noFill/>
          <a:ln/>
        </p:spPr>
        <p:txBody>
          <a:bodyPr wrap="square" lIns="0" tIns="0" rIns="0" bIns="0" rtlCol="0" anchor="ctr"/>
          <a:lstStyle/>
          <a:p>
            <a:pPr marL="0" indent="0">
              <a:buNone/>
            </a:pPr>
            <a:r>
              <a:rPr lang="en-US" sz="1300" b="1" dirty="0">
                <a:solidFill>
                  <a:srgbClr val="F28C28"/>
                </a:solidFill>
                <a:latin typeface="Arial" pitchFamily="34" charset="0"/>
                <a:ea typeface="Arial" pitchFamily="34" charset="-122"/>
                <a:cs typeface="Arial" pitchFamily="34" charset="-120"/>
              </a:rPr>
              <a:t>Tổng kết một câu: Chuyển hóa lý thuyết trường học thành một sản phẩm công nghệ hoàn chỉnh giải quyết bài toán thực tế.</a:t>
            </a:r>
            <a:endParaRPr lang="en-US" sz="1300" dirty="0"/>
          </a:p>
        </p:txBody>
      </p:sp>
      <p:sp>
        <p:nvSpPr>
          <p:cNvPr id="19" name="TextBox 18"/>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C · 02 — BÀI HỌC</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Bài học &amp; điểm cần cải thiện</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C — Tổng kết</a:t>
            </a:r>
            <a:endParaRPr lang="en-US" sz="1000" dirty="0"/>
          </a:p>
        </p:txBody>
      </p:sp>
      <p:sp>
        <p:nvSpPr>
          <p:cNvPr id="8" name="Shape 4"/>
          <p:cNvSpPr/>
          <p:nvPr/>
        </p:nvSpPr>
        <p:spPr>
          <a:xfrm>
            <a:off x="822960" y="1828800"/>
            <a:ext cx="5175504" cy="2880360"/>
          </a:xfrm>
          <a:prstGeom prst="roundRect">
            <a:avLst>
              <a:gd name="adj" fmla="val 2540"/>
            </a:avLst>
          </a:prstGeom>
          <a:solidFill>
            <a:srgbClr val="FCFCFA"/>
          </a:solidFill>
          <a:ln w="9525">
            <a:solidFill>
              <a:srgbClr val="D5D9DE"/>
            </a:solidFill>
            <a:prstDash val="solid"/>
          </a:ln>
        </p:spPr>
      </p:sp>
      <p:sp>
        <p:nvSpPr>
          <p:cNvPr id="9" name="Text 5"/>
          <p:cNvSpPr txBox="1"/>
          <p:nvPr/>
        </p:nvSpPr>
        <p:spPr>
          <a:xfrm>
            <a:off x="1024128" y="1938528"/>
            <a:ext cx="4754880" cy="365760"/>
          </a:xfrm>
          <a:prstGeom prst="rect">
            <a:avLst/>
          </a:prstGeom>
          <a:noFill/>
          <a:ln/>
        </p:spPr>
        <p:txBody>
          <a:bodyPr wrap="square" lIns="0" tIns="0" rIns="0" bIns="0" rtlCol="0" anchor="t"/>
          <a:lstStyle/>
          <a:p>
            <a:pPr marL="0" indent="0">
              <a:buNone/>
            </a:pPr>
            <a:r>
              <a:rPr lang="en-US" sz="1600" b="1" dirty="0">
                <a:solidFill>
                  <a:srgbClr val="12263A"/>
                </a:solidFill>
                <a:latin typeface="Arial" pitchFamily="34" charset="0"/>
                <a:ea typeface="Arial" pitchFamily="34" charset="-122"/>
                <a:cs typeface="Arial" pitchFamily="34" charset="-120"/>
              </a:rPr>
              <a:t>Kỹ thuật</a:t>
            </a:r>
            <a:endParaRPr lang="en-US" sz="1600" dirty="0"/>
          </a:p>
        </p:txBody>
      </p:sp>
      <p:sp>
        <p:nvSpPr>
          <p:cNvPr id="10" name="Text 6"/>
          <p:cNvSpPr txBox="1"/>
          <p:nvPr/>
        </p:nvSpPr>
        <p:spPr>
          <a:xfrm>
            <a:off x="1024128" y="2377440"/>
            <a:ext cx="4800600" cy="2286000"/>
          </a:xfrm>
          <a:prstGeom prst="rect">
            <a:avLst/>
          </a:prstGeom>
          <a:noFill/>
          <a:ln/>
        </p:spPr>
        <p:txBody>
          <a:bodyPr wrap="square" lIns="0" tIns="0" rIns="0" bIns="0" rtlCol="0" anchor="t"/>
          <a:lstStyle/>
          <a:p>
            <a:pPr marL="0" indent="0">
              <a:spcBef>
                <a:spcPts val="200"/>
              </a:spcBef>
              <a:spcAft>
                <a:spcPts val="400"/>
              </a:spcAft>
              <a:buNone/>
            </a:pPr>
            <a:r>
              <a:rPr lang="en-US" sz="1100" b="1" dirty="0">
                <a:solidFill>
                  <a:srgbClr val="2A55C5"/>
                </a:solidFill>
                <a:latin typeface="Arial" pitchFamily="34" charset="0"/>
                <a:ea typeface="Arial" pitchFamily="34" charset="-122"/>
                <a:cs typeface="Arial" pitchFamily="34" charset="-120"/>
              </a:rPr>
              <a:t>BÀI HỌC</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Thống nhất chuẩn API Response và Data Contract giữa FE &amp; BE ngay từ đầu Sprint.</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Viết Unit Test song song với tính năng giúp phát hiện sớm xung đột logic và tiết kiệm thời gian debug.</a:t>
            </a:r>
            <a:endParaRPr lang="en-US" sz="1200" dirty="0"/>
          </a:p>
          <a:p>
            <a:pPr marL="0" indent="0">
              <a:spcBef>
                <a:spcPts val="200"/>
              </a:spcBef>
              <a:spcAft>
                <a:spcPts val="400"/>
              </a:spcAft>
              <a:buNone/>
            </a:pPr>
            <a:r>
              <a:rPr lang="en-US" sz="1100" b="1" dirty="0">
                <a:solidFill>
                  <a:srgbClr val="2A55C5"/>
                </a:solidFill>
                <a:latin typeface="Arial" pitchFamily="34" charset="0"/>
                <a:ea typeface="Arial" pitchFamily="34" charset="-122"/>
                <a:cs typeface="Arial" pitchFamily="34" charset="-120"/>
              </a:rPr>
              <a:t>NẾU LÀM LẠI, NHÓM SẼ</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Tăng cường thêm các buổi pair-programming giữa thành viên BE và FE khi tích hợp module phức tạp.</a:t>
            </a:r>
            <a:endParaRPr lang="en-US" sz="1200" dirty="0"/>
          </a:p>
        </p:txBody>
      </p:sp>
      <p:sp>
        <p:nvSpPr>
          <p:cNvPr id="11" name="Shape 7"/>
          <p:cNvSpPr/>
          <p:nvPr/>
        </p:nvSpPr>
        <p:spPr>
          <a:xfrm>
            <a:off x="6190488" y="1828800"/>
            <a:ext cx="5175504" cy="2880360"/>
          </a:xfrm>
          <a:prstGeom prst="roundRect">
            <a:avLst>
              <a:gd name="adj" fmla="val 2540"/>
            </a:avLst>
          </a:prstGeom>
          <a:solidFill>
            <a:srgbClr val="FCFCFA"/>
          </a:solidFill>
          <a:ln w="9525">
            <a:solidFill>
              <a:srgbClr val="D5D9DE"/>
            </a:solidFill>
            <a:prstDash val="solid"/>
          </a:ln>
        </p:spPr>
      </p:sp>
      <p:sp>
        <p:nvSpPr>
          <p:cNvPr id="12" name="Text 8"/>
          <p:cNvSpPr txBox="1"/>
          <p:nvPr/>
        </p:nvSpPr>
        <p:spPr>
          <a:xfrm>
            <a:off x="6391656" y="1938528"/>
            <a:ext cx="4754880" cy="365760"/>
          </a:xfrm>
          <a:prstGeom prst="rect">
            <a:avLst/>
          </a:prstGeom>
          <a:noFill/>
          <a:ln/>
        </p:spPr>
        <p:txBody>
          <a:bodyPr wrap="square" lIns="0" tIns="0" rIns="0" bIns="0" rtlCol="0" anchor="t"/>
          <a:lstStyle/>
          <a:p>
            <a:pPr marL="0" indent="0">
              <a:buNone/>
            </a:pPr>
            <a:r>
              <a:rPr lang="en-US" sz="1600" b="1" dirty="0">
                <a:solidFill>
                  <a:srgbClr val="12263A"/>
                </a:solidFill>
                <a:latin typeface="Arial" pitchFamily="34" charset="0"/>
                <a:ea typeface="Arial" pitchFamily="34" charset="-122"/>
                <a:cs typeface="Arial" pitchFamily="34" charset="-120"/>
              </a:rPr>
              <a:t>Làm việc nhóm</a:t>
            </a:r>
            <a:endParaRPr lang="en-US" sz="1600" dirty="0"/>
          </a:p>
        </p:txBody>
      </p:sp>
      <p:sp>
        <p:nvSpPr>
          <p:cNvPr id="13" name="Text 9"/>
          <p:cNvSpPr txBox="1"/>
          <p:nvPr/>
        </p:nvSpPr>
        <p:spPr>
          <a:xfrm>
            <a:off x="6391656" y="2377440"/>
            <a:ext cx="4800600" cy="2286000"/>
          </a:xfrm>
          <a:prstGeom prst="rect">
            <a:avLst/>
          </a:prstGeom>
          <a:noFill/>
          <a:ln/>
        </p:spPr>
        <p:txBody>
          <a:bodyPr wrap="square" lIns="0" tIns="0" rIns="0" bIns="0" rtlCol="0" anchor="t"/>
          <a:lstStyle/>
          <a:p>
            <a:pPr marL="0" indent="0">
              <a:spcBef>
                <a:spcPts val="200"/>
              </a:spcBef>
              <a:spcAft>
                <a:spcPts val="400"/>
              </a:spcAft>
              <a:buNone/>
            </a:pPr>
            <a:r>
              <a:rPr lang="en-US" sz="1100" b="1" dirty="0">
                <a:solidFill>
                  <a:srgbClr val="2A55C5"/>
                </a:solidFill>
                <a:latin typeface="Arial" pitchFamily="34" charset="0"/>
                <a:ea typeface="Arial" pitchFamily="34" charset="-122"/>
                <a:cs typeface="Arial" pitchFamily="34" charset="-120"/>
              </a:rPr>
              <a:t>BÀI HỌC</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Daily Scrum ngắn gọn (15 phút) giúp phát hiện và gỡ vướng blocker cho đồng đội kịp thời.</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Chia nhỏ User Story giúp tăng tốc độ review PR và tránh xung đột khi merge code.</a:t>
            </a:r>
            <a:endParaRPr lang="en-US" sz="1200" dirty="0"/>
          </a:p>
          <a:p>
            <a:pPr marL="0" indent="0">
              <a:spcBef>
                <a:spcPts val="200"/>
              </a:spcBef>
              <a:spcAft>
                <a:spcPts val="400"/>
              </a:spcAft>
              <a:buNone/>
            </a:pPr>
            <a:r>
              <a:rPr lang="en-US" sz="1100" b="1" dirty="0">
                <a:solidFill>
                  <a:srgbClr val="2A55C5"/>
                </a:solidFill>
                <a:latin typeface="Arial" pitchFamily="34" charset="0"/>
                <a:ea typeface="Arial" pitchFamily="34" charset="-122"/>
                <a:cs typeface="Arial" pitchFamily="34" charset="-120"/>
              </a:rPr>
              <a:t>NẾU LÀM LẠI, NHÓM SẼ</a:t>
            </a:r>
            <a:endParaRPr lang="en-US" sz="1200" dirty="0"/>
          </a:p>
          <a:p>
            <a:pPr marL="165100" indent="-165100">
              <a:spcAft>
                <a:spcPts val="500"/>
              </a:spcAft>
              <a:buSzPct val="100000"/>
              <a:buChar char="•"/>
            </a:pPr>
            <a:r>
              <a:rPr lang="en-US" sz="1100" dirty="0">
                <a:solidFill>
                  <a:srgbClr val="4F5967"/>
                </a:solidFill>
                <a:latin typeface="Arial" pitchFamily="34" charset="0"/>
                <a:ea typeface="Arial" pitchFamily="34" charset="-122"/>
                <a:cs typeface="Arial" pitchFamily="34" charset="-120"/>
              </a:rPr>
              <a:t>Tăng cường thêm các buổi pair-programming giữa thành viên BE và FE khi tích hợp module phức tạp.</a:t>
            </a:r>
            <a:endParaRPr lang="en-US" sz="1200" dirty="0"/>
          </a:p>
        </p:txBody>
      </p:sp>
      <p:sp>
        <p:nvSpPr>
          <p:cNvPr id="14" name="Shape 10"/>
          <p:cNvSpPr/>
          <p:nvPr/>
        </p:nvSpPr>
        <p:spPr>
          <a:xfrm>
            <a:off x="822960" y="4892040"/>
            <a:ext cx="10543032" cy="1280160"/>
          </a:xfrm>
          <a:prstGeom prst="roundRect">
            <a:avLst>
              <a:gd name="adj" fmla="val 5714"/>
            </a:avLst>
          </a:prstGeom>
          <a:solidFill>
            <a:srgbClr val="FCFCFA"/>
          </a:solidFill>
          <a:ln w="9525">
            <a:solidFill>
              <a:srgbClr val="D5D9DE"/>
            </a:solidFill>
            <a:prstDash val="solid"/>
          </a:ln>
        </p:spPr>
      </p:sp>
      <p:sp>
        <p:nvSpPr>
          <p:cNvPr id="15" name="Shape 11"/>
          <p:cNvSpPr/>
          <p:nvPr/>
        </p:nvSpPr>
        <p:spPr>
          <a:xfrm>
            <a:off x="841248" y="4892040"/>
            <a:ext cx="10506456" cy="45720"/>
          </a:xfrm>
          <a:prstGeom prst="rect">
            <a:avLst/>
          </a:prstGeom>
          <a:solidFill>
            <a:srgbClr val="F28C28"/>
          </a:solidFill>
          <a:ln w="12700">
            <a:solidFill>
              <a:srgbClr val="F28C28"/>
            </a:solidFill>
            <a:prstDash val="solid"/>
          </a:ln>
        </p:spPr>
      </p:sp>
      <p:sp>
        <p:nvSpPr>
          <p:cNvPr id="16" name="Text 12"/>
          <p:cNvSpPr txBox="1"/>
          <p:nvPr/>
        </p:nvSpPr>
        <p:spPr>
          <a:xfrm>
            <a:off x="1024128" y="5029200"/>
            <a:ext cx="7315200" cy="365760"/>
          </a:xfrm>
          <a:prstGeom prst="rect">
            <a:avLst/>
          </a:prstGeom>
          <a:noFill/>
          <a:ln/>
        </p:spPr>
        <p:txBody>
          <a:bodyPr wrap="square" lIns="0" tIns="0" rIns="0" bIns="0" rtlCol="0" anchor="t"/>
          <a:lstStyle/>
          <a:p>
            <a:pPr marL="0" indent="0">
              <a:buNone/>
            </a:pPr>
            <a:r>
              <a:rPr lang="en-US" sz="1500" b="1" dirty="0">
                <a:solidFill>
                  <a:srgbClr val="12263A"/>
                </a:solidFill>
                <a:latin typeface="Arial" pitchFamily="34" charset="0"/>
                <a:ea typeface="Arial" pitchFamily="34" charset="-122"/>
                <a:cs typeface="Arial" pitchFamily="34" charset="-120"/>
              </a:rPr>
              <a:t>Khó khăn lớn nhất &amp; cách xử lý</a:t>
            </a:r>
            <a:endParaRPr lang="en-US" sz="1500" dirty="0"/>
          </a:p>
        </p:txBody>
      </p:sp>
      <p:sp>
        <p:nvSpPr>
          <p:cNvPr id="17" name="Text 13"/>
          <p:cNvSpPr txBox="1"/>
          <p:nvPr/>
        </p:nvSpPr>
        <p:spPr>
          <a:xfrm>
            <a:off x="1024128" y="5440680"/>
            <a:ext cx="10131552" cy="640080"/>
          </a:xfrm>
          <a:prstGeom prst="rect">
            <a:avLst/>
          </a:prstGeom>
          <a:noFill/>
          <a:ln/>
        </p:spPr>
        <p:txBody>
          <a:bodyPr wrap="square" lIns="0" tIns="0" rIns="0" bIns="0" rtlCol="0" anchor="t"/>
          <a:lstStyle/>
          <a:p>
            <a:pPr marL="0" indent="0">
              <a:buNone/>
            </a:pPr>
            <a:r>
              <a:rPr lang="en-US" sz="1150" dirty="0">
                <a:solidFill>
                  <a:srgbClr val="4F5967"/>
                </a:solidFill>
                <a:latin typeface="Arial" pitchFamily="34" charset="0"/>
                <a:ea typeface="Arial" pitchFamily="34" charset="-122"/>
                <a:cs typeface="Arial" pitchFamily="34" charset="-120"/>
              </a:rPr>
              <a:t>Xung đột Token Blacklist khi đăng xuất và bất đồng bộ Custom Field → Nhóm họp nhanh 30 phút, thống nhất giải pháp tại Middleware Auth và Form Schema Renderer → Fix triệt để trong 2 giờ.</a:t>
            </a:r>
            <a:endParaRPr lang="en-US" sz="1150" dirty="0"/>
          </a:p>
        </p:txBody>
      </p:sp>
      <p:sp>
        <p:nvSpPr>
          <p:cNvPr id="18" name="TextBox 17"/>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6F4"/>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0" tIns="0" rIns="0" bIns="0" rtlCol="0" anchor="t"/>
          <a:lstStyle/>
          <a:p>
            <a:pPr marL="0" indent="0">
              <a:buNone/>
            </a:pPr>
            <a:r>
              <a:rPr lang="en-US" sz="1200" b="1" dirty="0">
                <a:solidFill>
                  <a:srgbClr val="2A55C5"/>
                </a:solidFill>
                <a:latin typeface="Arial" pitchFamily="34" charset="0"/>
                <a:ea typeface="Arial" pitchFamily="34" charset="-122"/>
                <a:cs typeface="Arial" pitchFamily="34" charset="-120"/>
              </a:rPr>
              <a:t>C · 03 — HƯỚNG PHÁT TRIỂN</a:t>
            </a:r>
            <a:endParaRPr lang="en-US" sz="1200" dirty="0"/>
          </a:p>
        </p:txBody>
      </p:sp>
      <p:sp>
        <p:nvSpPr>
          <p:cNvPr id="5" name="Text 1"/>
          <p:cNvSpPr txBox="1"/>
          <p:nvPr/>
        </p:nvSpPr>
        <p:spPr>
          <a:xfrm>
            <a:off x="822960" y="1143000"/>
            <a:ext cx="10543032" cy="548640"/>
          </a:xfrm>
          <a:prstGeom prst="rect">
            <a:avLst/>
          </a:prstGeom>
          <a:noFill/>
          <a:ln/>
        </p:spPr>
        <p:txBody>
          <a:bodyPr wrap="square" lIns="0" tIns="0" rIns="0" bIns="0" rtlCol="0" anchor="t"/>
          <a:lstStyle/>
          <a:p>
            <a:pPr marL="0" indent="0">
              <a:buNone/>
            </a:pPr>
            <a:r>
              <a:rPr lang="en-US" sz="2600" b="1" dirty="0">
                <a:solidFill>
                  <a:srgbClr val="12263A"/>
                </a:solidFill>
                <a:latin typeface="Arial" pitchFamily="34" charset="0"/>
                <a:ea typeface="Arial" pitchFamily="34" charset="-122"/>
                <a:cs typeface="Arial" pitchFamily="34" charset="-120"/>
              </a:rPr>
              <a:t>Hướng phát triển tiếp theo</a:t>
            </a:r>
            <a:endParaRPr lang="en-US" sz="2600" dirty="0"/>
          </a:p>
        </p:txBody>
      </p:sp>
      <p:sp>
        <p:nvSpPr>
          <p:cNvPr id="6" name="Text 2"/>
          <p:cNvSpPr txBox="1"/>
          <p:nvPr/>
        </p:nvSpPr>
        <p:spPr>
          <a:xfrm>
            <a:off x="822960" y="6400800"/>
            <a:ext cx="6583680" cy="274320"/>
          </a:xfrm>
          <a:prstGeom prst="rect">
            <a:avLst/>
          </a:prstGeom>
          <a:noFill/>
          <a:ln/>
        </p:spPr>
        <p:txBody>
          <a:bodyPr wrap="square" lIns="0" tIns="0" rIns="0" bIns="0" rtlCol="0" anchor="t"/>
          <a:lstStyle/>
          <a:p>
            <a:pPr marL="0" indent="0">
              <a:buNone/>
            </a:pPr>
            <a:r>
              <a:rPr lang="en-US" sz="1000" dirty="0">
                <a:solidFill>
                  <a:srgbClr val="4F5967"/>
                </a:solidFill>
                <a:latin typeface="Arial" pitchFamily="34" charset="0"/>
                <a:ea typeface="Arial" pitchFamily="34" charset="-122"/>
                <a:cs typeface="Arial" pitchFamily="34" charset="-120"/>
              </a:rPr>
              <a:t>Hệ thống quản lý khách hàng · Báo cáo tổng kết thực tập</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C — Tổng kết</a:t>
            </a:r>
            <a:endParaRPr lang="en-US" sz="1000" dirty="0"/>
          </a:p>
        </p:txBody>
      </p:sp>
      <p:sp>
        <p:nvSpPr>
          <p:cNvPr id="8" name="Shape 4"/>
          <p:cNvSpPr/>
          <p:nvPr/>
        </p:nvSpPr>
        <p:spPr>
          <a:xfrm>
            <a:off x="822960" y="1828800"/>
            <a:ext cx="5175504" cy="4297680"/>
          </a:xfrm>
          <a:prstGeom prst="roundRect">
            <a:avLst>
              <a:gd name="adj" fmla="val 1702"/>
            </a:avLst>
          </a:prstGeom>
          <a:solidFill>
            <a:srgbClr val="FCFCFA"/>
          </a:solidFill>
          <a:ln w="9525">
            <a:solidFill>
              <a:srgbClr val="D5D9DE"/>
            </a:solidFill>
            <a:prstDash val="solid"/>
          </a:ln>
        </p:spPr>
      </p:sp>
      <p:sp>
        <p:nvSpPr>
          <p:cNvPr id="9" name="Text 5"/>
          <p:cNvSpPr txBox="1"/>
          <p:nvPr/>
        </p:nvSpPr>
        <p:spPr>
          <a:xfrm>
            <a:off x="1024128" y="1965960"/>
            <a:ext cx="4572000" cy="365760"/>
          </a:xfrm>
          <a:prstGeom prst="rect">
            <a:avLst/>
          </a:prstGeom>
          <a:noFill/>
          <a:ln/>
        </p:spPr>
        <p:txBody>
          <a:bodyPr wrap="square" lIns="0" tIns="0" rIns="0" bIns="0" rtlCol="0" anchor="t"/>
          <a:lstStyle/>
          <a:p>
            <a:pPr marL="0" indent="0">
              <a:buNone/>
            </a:pPr>
            <a:r>
              <a:rPr lang="en-US" sz="1600" b="1" dirty="0">
                <a:solidFill>
                  <a:srgbClr val="12263A"/>
                </a:solidFill>
                <a:latin typeface="Arial" pitchFamily="34" charset="0"/>
                <a:ea typeface="Arial" pitchFamily="34" charset="-122"/>
                <a:cs typeface="Arial" pitchFamily="34" charset="-120"/>
              </a:rPr>
              <a:t>Roadmap sản phẩm</a:t>
            </a:r>
            <a:endParaRPr lang="en-US" sz="1600" dirty="0"/>
          </a:p>
        </p:txBody>
      </p:sp>
      <p:sp>
        <p:nvSpPr>
          <p:cNvPr id="10" name="Text 6"/>
          <p:cNvSpPr txBox="1"/>
          <p:nvPr/>
        </p:nvSpPr>
        <p:spPr>
          <a:xfrm>
            <a:off x="1024128" y="2606040"/>
            <a:ext cx="1463040" cy="365760"/>
          </a:xfrm>
          <a:prstGeom prst="rect">
            <a:avLst/>
          </a:prstGeom>
          <a:noFill/>
          <a:ln/>
        </p:spPr>
        <p:txBody>
          <a:bodyPr wrap="square" lIns="0" tIns="0" rIns="0" bIns="0" rtlCol="0" anchor="t"/>
          <a:lstStyle/>
          <a:p>
            <a:pPr marL="0" indent="0">
              <a:buNone/>
            </a:pPr>
            <a:r>
              <a:rPr lang="en-US" sz="1300" b="1" dirty="0">
                <a:solidFill>
                  <a:srgbClr val="2A55C5"/>
                </a:solidFill>
                <a:latin typeface="Arial" pitchFamily="34" charset="0"/>
                <a:ea typeface="Arial" pitchFamily="34" charset="-122"/>
                <a:cs typeface="Arial" pitchFamily="34" charset="-120"/>
              </a:rPr>
              <a:t>NGẮN HẠN</a:t>
            </a:r>
            <a:endParaRPr lang="en-US" sz="1300" dirty="0"/>
          </a:p>
        </p:txBody>
      </p:sp>
      <p:sp>
        <p:nvSpPr>
          <p:cNvPr id="11" name="Text 7"/>
          <p:cNvSpPr txBox="1"/>
          <p:nvPr/>
        </p:nvSpPr>
        <p:spPr>
          <a:xfrm>
            <a:off x="2560320" y="2606040"/>
            <a:ext cx="3246120" cy="868680"/>
          </a:xfrm>
          <a:prstGeom prst="rect">
            <a:avLst/>
          </a:prstGeom>
          <a:noFill/>
          <a:ln/>
        </p:spPr>
        <p:txBody>
          <a:bodyPr wrap="square" lIns="0" tIns="0" rIns="0" bIns="0" rtlCol="0" anchor="t"/>
          <a:lstStyle/>
          <a:p>
            <a:pPr marL="0" indent="0">
              <a:buNone/>
            </a:pPr>
            <a:r>
              <a:rPr lang="en-US" sz="1150" dirty="0">
                <a:solidFill>
                  <a:srgbClr val="4F5967"/>
                </a:solidFill>
                <a:latin typeface="Arial" pitchFamily="34" charset="0"/>
                <a:ea typeface="Arial" pitchFamily="34" charset="-122"/>
                <a:cs typeface="Arial" pitchFamily="34" charset="-120"/>
              </a:rPr>
              <a:t>Tích hợp tổng đài VoIP ảo (gọi điện và ghi âm cuộc gọi trực tiếp trên CRM).</a:t>
            </a:r>
            <a:endParaRPr lang="en-US" sz="1150" dirty="0"/>
          </a:p>
        </p:txBody>
      </p:sp>
      <p:sp>
        <p:nvSpPr>
          <p:cNvPr id="12" name="Text 8"/>
          <p:cNvSpPr txBox="1"/>
          <p:nvPr/>
        </p:nvSpPr>
        <p:spPr>
          <a:xfrm>
            <a:off x="1024128" y="3703320"/>
            <a:ext cx="1463040" cy="365760"/>
          </a:xfrm>
          <a:prstGeom prst="rect">
            <a:avLst/>
          </a:prstGeom>
          <a:noFill/>
          <a:ln/>
        </p:spPr>
        <p:txBody>
          <a:bodyPr wrap="square" lIns="0" tIns="0" rIns="0" bIns="0" rtlCol="0" anchor="t"/>
          <a:lstStyle/>
          <a:p>
            <a:pPr marL="0" indent="0">
              <a:buNone/>
            </a:pPr>
            <a:r>
              <a:rPr lang="en-US" sz="1300" b="1" dirty="0">
                <a:solidFill>
                  <a:srgbClr val="2A55C5"/>
                </a:solidFill>
                <a:latin typeface="Arial" pitchFamily="34" charset="0"/>
                <a:ea typeface="Arial" pitchFamily="34" charset="-122"/>
                <a:cs typeface="Arial" pitchFamily="34" charset="-120"/>
              </a:rPr>
              <a:t>1–3 THÁNG</a:t>
            </a:r>
            <a:endParaRPr lang="en-US" sz="1300" dirty="0"/>
          </a:p>
        </p:txBody>
      </p:sp>
      <p:sp>
        <p:nvSpPr>
          <p:cNvPr id="13" name="Text 9"/>
          <p:cNvSpPr txBox="1"/>
          <p:nvPr/>
        </p:nvSpPr>
        <p:spPr>
          <a:xfrm>
            <a:off x="2560320" y="3703320"/>
            <a:ext cx="3246120" cy="868680"/>
          </a:xfrm>
          <a:prstGeom prst="rect">
            <a:avLst/>
          </a:prstGeom>
          <a:noFill/>
          <a:ln/>
        </p:spPr>
        <p:txBody>
          <a:bodyPr wrap="square" lIns="0" tIns="0" rIns="0" bIns="0" rtlCol="0" anchor="t"/>
          <a:lstStyle/>
          <a:p>
            <a:pPr marL="0" indent="0">
              <a:buNone/>
            </a:pPr>
            <a:r>
              <a:rPr lang="en-US" sz="1150" dirty="0">
                <a:solidFill>
                  <a:srgbClr val="4F5967"/>
                </a:solidFill>
                <a:latin typeface="Arial" pitchFamily="34" charset="0"/>
                <a:ea typeface="Arial" pitchFamily="34" charset="-122"/>
                <a:cs typeface="Arial" pitchFamily="34" charset="-120"/>
              </a:rPr>
              <a:t>Xây dựng tính năng tự động hóa chiến dịch Email Marketing và phân bổ Lead thông minh bằng AI.</a:t>
            </a:r>
            <a:endParaRPr lang="en-US" sz="1150" dirty="0"/>
          </a:p>
        </p:txBody>
      </p:sp>
      <p:sp>
        <p:nvSpPr>
          <p:cNvPr id="14" name="Text 10"/>
          <p:cNvSpPr txBox="1"/>
          <p:nvPr/>
        </p:nvSpPr>
        <p:spPr>
          <a:xfrm>
            <a:off x="1024128" y="4800600"/>
            <a:ext cx="1463040" cy="365760"/>
          </a:xfrm>
          <a:prstGeom prst="rect">
            <a:avLst/>
          </a:prstGeom>
          <a:noFill/>
          <a:ln/>
        </p:spPr>
        <p:txBody>
          <a:bodyPr wrap="square" lIns="0" tIns="0" rIns="0" bIns="0" rtlCol="0" anchor="t"/>
          <a:lstStyle/>
          <a:p>
            <a:pPr marL="0" indent="0">
              <a:buNone/>
            </a:pPr>
            <a:r>
              <a:rPr lang="en-US" sz="1300" b="1" dirty="0">
                <a:solidFill>
                  <a:srgbClr val="2A55C5"/>
                </a:solidFill>
                <a:latin typeface="Arial" pitchFamily="34" charset="0"/>
                <a:ea typeface="Arial" pitchFamily="34" charset="-122"/>
                <a:cs typeface="Arial" pitchFamily="34" charset="-120"/>
              </a:rPr>
              <a:t>DÀI HẠN</a:t>
            </a:r>
            <a:endParaRPr lang="en-US" sz="1300" dirty="0"/>
          </a:p>
        </p:txBody>
      </p:sp>
      <p:sp>
        <p:nvSpPr>
          <p:cNvPr id="15" name="Text 11"/>
          <p:cNvSpPr txBox="1"/>
          <p:nvPr/>
        </p:nvSpPr>
        <p:spPr>
          <a:xfrm>
            <a:off x="2560320" y="4800600"/>
            <a:ext cx="3246120" cy="868680"/>
          </a:xfrm>
          <a:prstGeom prst="rect">
            <a:avLst/>
          </a:prstGeom>
          <a:noFill/>
          <a:ln/>
        </p:spPr>
        <p:txBody>
          <a:bodyPr wrap="square" lIns="0" tIns="0" rIns="0" bIns="0" rtlCol="0" anchor="t"/>
          <a:lstStyle/>
          <a:p>
            <a:pPr marL="0" indent="0">
              <a:buNone/>
            </a:pPr>
            <a:r>
              <a:rPr lang="en-US" sz="1150" dirty="0">
                <a:solidFill>
                  <a:srgbClr val="4F5967"/>
                </a:solidFill>
                <a:latin typeface="Arial" pitchFamily="34" charset="0"/>
                <a:ea typeface="Arial" pitchFamily="34" charset="-122"/>
                <a:cs typeface="Arial" pitchFamily="34" charset="-120"/>
              </a:rPr>
              <a:t>Phát triển phiên bản Mobile App (React Native) phục vụ nhân viên kinh doanh đi thị trường.</a:t>
            </a:r>
            <a:endParaRPr lang="en-US" sz="1150" dirty="0"/>
          </a:p>
        </p:txBody>
      </p:sp>
      <p:sp>
        <p:nvSpPr>
          <p:cNvPr id="16" name="Shape 12"/>
          <p:cNvSpPr/>
          <p:nvPr/>
        </p:nvSpPr>
        <p:spPr>
          <a:xfrm>
            <a:off x="6190488" y="1828800"/>
            <a:ext cx="5175504" cy="4297680"/>
          </a:xfrm>
          <a:prstGeom prst="roundRect">
            <a:avLst>
              <a:gd name="adj" fmla="val 1702"/>
            </a:avLst>
          </a:prstGeom>
          <a:solidFill>
            <a:srgbClr val="FCFCFA"/>
          </a:solidFill>
          <a:ln w="9525">
            <a:solidFill>
              <a:srgbClr val="D5D9DE"/>
            </a:solidFill>
            <a:prstDash val="solid"/>
          </a:ln>
        </p:spPr>
      </p:sp>
      <p:sp>
        <p:nvSpPr>
          <p:cNvPr id="17" name="Text 13"/>
          <p:cNvSpPr txBox="1"/>
          <p:nvPr/>
        </p:nvSpPr>
        <p:spPr>
          <a:xfrm>
            <a:off x="6391656" y="1965960"/>
            <a:ext cx="4754880" cy="365760"/>
          </a:xfrm>
          <a:prstGeom prst="rect">
            <a:avLst/>
          </a:prstGeom>
          <a:noFill/>
          <a:ln/>
        </p:spPr>
        <p:txBody>
          <a:bodyPr wrap="square" lIns="0" tIns="0" rIns="0" bIns="0" rtlCol="0" anchor="t"/>
          <a:lstStyle/>
          <a:p>
            <a:pPr marL="0" indent="0">
              <a:buNone/>
            </a:pPr>
            <a:r>
              <a:rPr lang="en-US" sz="1600" b="1" dirty="0">
                <a:solidFill>
                  <a:srgbClr val="12263A"/>
                </a:solidFill>
                <a:latin typeface="Arial" pitchFamily="34" charset="0"/>
                <a:ea typeface="Arial" pitchFamily="34" charset="-122"/>
                <a:cs typeface="Arial" pitchFamily="34" charset="-120"/>
              </a:rPr>
              <a:t>Định hướng nghề nghiệp</a:t>
            </a:r>
            <a:endParaRPr lang="en-US" sz="1600" dirty="0"/>
          </a:p>
        </p:txBody>
      </p:sp>
      <p:sp>
        <p:nvSpPr>
          <p:cNvPr id="18" name="Text 14"/>
          <p:cNvSpPr txBox="1"/>
          <p:nvPr/>
        </p:nvSpPr>
        <p:spPr>
          <a:xfrm>
            <a:off x="6391656" y="2606040"/>
            <a:ext cx="4754880" cy="3383280"/>
          </a:xfrm>
          <a:prstGeom prst="rect">
            <a:avLst/>
          </a:prstGeom>
          <a:noFill/>
          <a:ln/>
        </p:spPr>
        <p:txBody>
          <a:bodyPr wrap="square" lIns="0" tIns="0" rIns="0" bIns="0" rtlCol="0" anchor="t"/>
          <a:lstStyle/>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Triệu Quang Dũng, Lê Minh Danh, Nguyễn Trần Việt Anh — Hướng tới vị trí Backend / Fullstack Engineer.</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Đỗ Tuấn Dũng, Nguyễn Thùy Chang, Phạm Xuân Bính — Chuyên sâu NodeJS, Database &amp; System Architecture.</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Nguyễn Ngọc Anh, Chẩu Thùy Dung — Định hướng Frontend React / UI-UX Engineering.</a:t>
            </a:r>
            <a:endParaRPr lang="en-US" sz="1200" dirty="0"/>
          </a:p>
          <a:p>
            <a:pPr marL="165100" indent="-165100">
              <a:spcAft>
                <a:spcPts val="500"/>
              </a:spcAft>
              <a:buSzPct val="100000"/>
              <a:buChar char="•"/>
            </a:pPr>
            <a:r>
              <a:rPr lang="en-US" sz="1200" dirty="0">
                <a:solidFill>
                  <a:srgbClr val="4F5967"/>
                </a:solidFill>
                <a:latin typeface="Arial" pitchFamily="34" charset="0"/>
                <a:ea typeface="Arial" pitchFamily="34" charset="-122"/>
                <a:cs typeface="Arial" pitchFamily="34" charset="-120"/>
              </a:rPr>
              <a:t>Hoàng Lan Anh, Hứa Huệ An — Định hướng Frontend Web Developer &amp; Quality Assurance.</a:t>
            </a:r>
            <a:endParaRPr lang="en-US" sz="1200" dirty="0"/>
          </a:p>
        </p:txBody>
      </p:sp>
      <p:sp>
        <p:nvSpPr>
          <p:cNvPr id="19" name="TextBox 18"/>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8C28"/>
        </a:solidFill>
        <a:effectLst/>
      </p:bgPr>
    </p:bg>
    <p:spTree>
      <p:nvGrpSpPr>
        <p:cNvPr id="1" name=""/>
        <p:cNvGrpSpPr/>
        <p:nvPr/>
      </p:nvGrpSpPr>
      <p:grpSpPr>
        <a:xfrm>
          <a:off x="0" y="0"/>
          <a:ext cx="0" cy="0"/>
          <a:chOff x="0" y="0"/>
          <a:chExt cx="0" cy="0"/>
        </a:xfrm>
      </p:grpSpPr>
      <p:pic>
        <p:nvPicPr>
          <p:cNvPr id="2" name="Image 0" descr="/home/claude/img/ictu.png"/>
          <p:cNvPicPr>
            <a:picLocks noChangeAspect="1"/>
          </p:cNvPicPr>
          <p:nvPr/>
        </p:nvPicPr>
        <p:blipFill>
          <a:blip r:embed="rId3"/>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4"/>
          <a:stretch>
            <a:fillRect/>
          </a:stretch>
        </p:blipFill>
        <p:spPr>
          <a:xfrm>
            <a:off x="5440680" y="182880"/>
            <a:ext cx="2130552" cy="438912"/>
          </a:xfrm>
          <a:prstGeom prst="rect">
            <a:avLst/>
          </a:prstGeom>
        </p:spPr>
      </p:pic>
      <p:sp>
        <p:nvSpPr>
          <p:cNvPr id="4" name="Text 0"/>
          <p:cNvSpPr txBox="1"/>
          <p:nvPr/>
        </p:nvSpPr>
        <p:spPr>
          <a:xfrm>
            <a:off x="822960" y="1188720"/>
            <a:ext cx="10543032" cy="320040"/>
          </a:xfrm>
          <a:prstGeom prst="rect">
            <a:avLst/>
          </a:prstGeom>
          <a:noFill/>
          <a:ln/>
        </p:spPr>
        <p:txBody>
          <a:bodyPr wrap="square" lIns="0" tIns="0" rIns="0" bIns="0" rtlCol="0" anchor="t"/>
          <a:lstStyle/>
          <a:p>
            <a:pPr marL="0" indent="0">
              <a:buNone/>
            </a:pPr>
            <a:r>
              <a:rPr lang="en-US" sz="1300" b="1" dirty="0">
                <a:solidFill>
                  <a:srgbClr val="10253A"/>
                </a:solidFill>
                <a:latin typeface="Arial" pitchFamily="34" charset="0"/>
                <a:ea typeface="Arial" pitchFamily="34" charset="-122"/>
                <a:cs typeface="Arial" pitchFamily="34" charset="-120"/>
              </a:rPr>
              <a:t>PHẦN C · KẾT THÚC</a:t>
            </a:r>
            <a:endParaRPr lang="en-US" sz="1300" dirty="0"/>
          </a:p>
        </p:txBody>
      </p:sp>
      <p:sp>
        <p:nvSpPr>
          <p:cNvPr id="5" name="Text 1"/>
          <p:cNvSpPr txBox="1"/>
          <p:nvPr/>
        </p:nvSpPr>
        <p:spPr>
          <a:xfrm>
            <a:off x="822960" y="1600200"/>
            <a:ext cx="10543032" cy="822960"/>
          </a:xfrm>
          <a:prstGeom prst="rect">
            <a:avLst/>
          </a:prstGeom>
          <a:noFill/>
          <a:ln/>
        </p:spPr>
        <p:txBody>
          <a:bodyPr wrap="square" lIns="0" tIns="0" rIns="0" bIns="0" rtlCol="0" anchor="t"/>
          <a:lstStyle/>
          <a:p>
            <a:pPr marL="0" indent="0">
              <a:buNone/>
            </a:pPr>
            <a:r>
              <a:rPr lang="en-US" sz="3800" b="1" dirty="0">
                <a:solidFill>
                  <a:srgbClr val="10253A"/>
                </a:solidFill>
                <a:latin typeface="Arial" pitchFamily="34" charset="0"/>
                <a:ea typeface="Arial" pitchFamily="34" charset="-122"/>
                <a:cs typeface="Arial" pitchFamily="34" charset="-120"/>
              </a:rPr>
              <a:t>Demo trực tiếp &amp; Hỏi đáp</a:t>
            </a:r>
            <a:endParaRPr lang="en-US" sz="3800" dirty="0"/>
          </a:p>
        </p:txBody>
      </p:sp>
      <p:sp>
        <p:nvSpPr>
          <p:cNvPr id="6" name="Text 2"/>
          <p:cNvSpPr txBox="1"/>
          <p:nvPr/>
        </p:nvSpPr>
        <p:spPr>
          <a:xfrm>
            <a:off x="822960" y="2651760"/>
            <a:ext cx="10543032" cy="822960"/>
          </a:xfrm>
          <a:prstGeom prst="rect">
            <a:avLst/>
          </a:prstGeom>
          <a:noFill/>
          <a:ln/>
        </p:spPr>
        <p:txBody>
          <a:bodyPr wrap="square" lIns="0" tIns="0" rIns="0" bIns="0" rtlCol="0" anchor="t"/>
          <a:lstStyle/>
          <a:p>
            <a:pPr marL="0" indent="0">
              <a:buNone/>
            </a:pPr>
            <a:r>
              <a:rPr lang="en-US" sz="1600" dirty="0">
                <a:solidFill>
                  <a:srgbClr val="10253A"/>
                </a:solidFill>
                <a:latin typeface="Arial" pitchFamily="34" charset="0"/>
                <a:ea typeface="Arial" pitchFamily="34" charset="-122"/>
                <a:cs typeface="Arial" pitchFamily="34" charset="-120"/>
              </a:rPr>
              <a:t>Trân trọng cảm ơn Mentor Dư Thanh Hoàng, Quý Thầy/Cô Trường Đại học Công nghệ Thông tin và Truyền thông Thái Nguyên (ICTU) và Hội đồng đánh giá đã theo sát hướng dẫn và lắng nghe.</a:t>
            </a:r>
            <a:endParaRPr lang="en-US" sz="1600" dirty="0"/>
          </a:p>
        </p:txBody>
      </p:sp>
      <p:sp>
        <p:nvSpPr>
          <p:cNvPr id="7" name="Text 3"/>
          <p:cNvSpPr txBox="1"/>
          <p:nvPr/>
        </p:nvSpPr>
        <p:spPr>
          <a:xfrm>
            <a:off x="822960" y="5029200"/>
            <a:ext cx="3383280" cy="274320"/>
          </a:xfrm>
          <a:prstGeom prst="rect">
            <a:avLst/>
          </a:prstGeom>
          <a:noFill/>
          <a:ln/>
        </p:spPr>
        <p:txBody>
          <a:bodyPr wrap="square" lIns="0" tIns="0" rIns="0" bIns="0" rtlCol="0" anchor="t"/>
          <a:lstStyle/>
          <a:p>
            <a:pPr marL="0" indent="0">
              <a:buNone/>
            </a:pPr>
            <a:r>
              <a:rPr lang="en-US" sz="1300" b="1" dirty="0">
                <a:solidFill>
                  <a:srgbClr val="10253A"/>
                </a:solidFill>
                <a:latin typeface="Arial" pitchFamily="34" charset="0"/>
                <a:ea typeface="Arial" pitchFamily="34" charset="-122"/>
                <a:cs typeface="Arial" pitchFamily="34" charset="-120"/>
              </a:rPr>
              <a:t>SẢN PHẨM</a:t>
            </a:r>
            <a:endParaRPr lang="en-US" sz="1300" dirty="0"/>
          </a:p>
        </p:txBody>
      </p:sp>
      <p:sp>
        <p:nvSpPr>
          <p:cNvPr id="8" name="Text 4"/>
          <p:cNvSpPr txBox="1"/>
          <p:nvPr/>
        </p:nvSpPr>
        <p:spPr>
          <a:xfrm>
            <a:off x="822960" y="5349240"/>
            <a:ext cx="3383280" cy="731520"/>
          </a:xfrm>
          <a:prstGeom prst="rect">
            <a:avLst/>
          </a:prstGeom>
          <a:noFill/>
          <a:ln/>
        </p:spPr>
        <p:txBody>
          <a:bodyPr wrap="square" lIns="0" tIns="0" rIns="0" bIns="0" rtlCol="0" anchor="t"/>
          <a:lstStyle/>
          <a:p>
            <a:pPr marL="0" indent="0">
              <a:buNone/>
            </a:pPr>
            <a:r>
              <a:rPr lang="en-US" sz="1150" dirty="0">
                <a:solidFill>
                  <a:srgbClr val="10253A"/>
                </a:solidFill>
                <a:latin typeface="Arial" pitchFamily="34" charset="0"/>
                <a:ea typeface="Arial" pitchFamily="34" charset="-122"/>
                <a:cs typeface="Arial" pitchFamily="34" charset="-120"/>
              </a:rPr>
              <a:t>Frontend: http://localhost:5173 | Backend API: http://localhost:5000</a:t>
            </a:r>
            <a:endParaRPr lang="en-US" sz="1150" dirty="0"/>
          </a:p>
        </p:txBody>
      </p:sp>
      <p:sp>
        <p:nvSpPr>
          <p:cNvPr id="9" name="Text 5"/>
          <p:cNvSpPr txBox="1"/>
          <p:nvPr/>
        </p:nvSpPr>
        <p:spPr>
          <a:xfrm>
            <a:off x="4434840" y="5029200"/>
            <a:ext cx="3383280" cy="274320"/>
          </a:xfrm>
          <a:prstGeom prst="rect">
            <a:avLst/>
          </a:prstGeom>
          <a:noFill/>
          <a:ln/>
        </p:spPr>
        <p:txBody>
          <a:bodyPr wrap="square" lIns="0" tIns="0" rIns="0" bIns="0" rtlCol="0" anchor="t"/>
          <a:lstStyle/>
          <a:p>
            <a:pPr marL="0" indent="0">
              <a:buNone/>
            </a:pPr>
            <a:r>
              <a:rPr lang="en-US" sz="1300" b="1" dirty="0">
                <a:solidFill>
                  <a:srgbClr val="10253A"/>
                </a:solidFill>
                <a:latin typeface="Arial" pitchFamily="34" charset="0"/>
                <a:ea typeface="Arial" pitchFamily="34" charset="-122"/>
                <a:cs typeface="Arial" pitchFamily="34" charset="-120"/>
              </a:rPr>
              <a:t>MÃ NGUỒN</a:t>
            </a:r>
            <a:endParaRPr lang="en-US" sz="1300" dirty="0"/>
          </a:p>
        </p:txBody>
      </p:sp>
      <p:sp>
        <p:nvSpPr>
          <p:cNvPr id="10" name="Text 6"/>
          <p:cNvSpPr txBox="1"/>
          <p:nvPr/>
        </p:nvSpPr>
        <p:spPr>
          <a:xfrm>
            <a:off x="4434840" y="5349240"/>
            <a:ext cx="3383280" cy="731520"/>
          </a:xfrm>
          <a:prstGeom prst="rect">
            <a:avLst/>
          </a:prstGeom>
          <a:noFill/>
          <a:ln/>
        </p:spPr>
        <p:txBody>
          <a:bodyPr wrap="square" lIns="0" tIns="0" rIns="0" bIns="0" rtlCol="0" anchor="t"/>
          <a:lstStyle/>
          <a:p>
            <a:pPr marL="0" indent="0">
              <a:buNone/>
            </a:pPr>
            <a:r>
              <a:rPr lang="en-US" sz="1150" dirty="0">
                <a:solidFill>
                  <a:srgbClr val="10253A"/>
                </a:solidFill>
                <a:latin typeface="Arial" pitchFamily="34" charset="0"/>
                <a:ea typeface="Arial" pitchFamily="34" charset="-122"/>
                <a:cs typeface="Arial" pitchFamily="34" charset="-120"/>
              </a:rPr>
              <a:t>GitHub: https://github.com/QuangDung1708/TTCS_N1</a:t>
            </a:r>
            <a:endParaRPr lang="en-US" sz="1150" dirty="0"/>
          </a:p>
        </p:txBody>
      </p:sp>
      <p:sp>
        <p:nvSpPr>
          <p:cNvPr id="11" name="Text 7"/>
          <p:cNvSpPr txBox="1"/>
          <p:nvPr/>
        </p:nvSpPr>
        <p:spPr>
          <a:xfrm>
            <a:off x="8046720" y="5029200"/>
            <a:ext cx="3383280" cy="274320"/>
          </a:xfrm>
          <a:prstGeom prst="rect">
            <a:avLst/>
          </a:prstGeom>
          <a:noFill/>
          <a:ln/>
        </p:spPr>
        <p:txBody>
          <a:bodyPr wrap="square" lIns="0" tIns="0" rIns="0" bIns="0" rtlCol="0" anchor="t"/>
          <a:lstStyle/>
          <a:p>
            <a:pPr marL="0" indent="0">
              <a:buNone/>
            </a:pPr>
            <a:r>
              <a:rPr lang="en-US" sz="1300" b="1" dirty="0">
                <a:solidFill>
                  <a:srgbClr val="10253A"/>
                </a:solidFill>
                <a:latin typeface="Arial" pitchFamily="34" charset="0"/>
                <a:ea typeface="Arial" pitchFamily="34" charset="-122"/>
                <a:cs typeface="Arial" pitchFamily="34" charset="-120"/>
              </a:rPr>
              <a:t>JIRA</a:t>
            </a:r>
            <a:endParaRPr lang="en-US" sz="1300" dirty="0"/>
          </a:p>
        </p:txBody>
      </p:sp>
      <p:sp>
        <p:nvSpPr>
          <p:cNvPr id="12" name="Text 8"/>
          <p:cNvSpPr txBox="1"/>
          <p:nvPr/>
        </p:nvSpPr>
        <p:spPr>
          <a:xfrm>
            <a:off x="8046720" y="5349240"/>
            <a:ext cx="3383280" cy="731520"/>
          </a:xfrm>
          <a:prstGeom prst="rect">
            <a:avLst/>
          </a:prstGeom>
          <a:noFill/>
          <a:ln/>
        </p:spPr>
        <p:txBody>
          <a:bodyPr wrap="square" lIns="0" tIns="0" rIns="0" bIns="0" rtlCol="0" anchor="t"/>
          <a:lstStyle/>
          <a:p>
            <a:pPr marL="0" indent="0">
              <a:buNone/>
            </a:pPr>
            <a:r>
              <a:rPr lang="en-US" sz="1150" dirty="0">
                <a:solidFill>
                  <a:srgbClr val="10253A"/>
                </a:solidFill>
                <a:latin typeface="Arial" pitchFamily="34" charset="0"/>
                <a:ea typeface="Arial" pitchFamily="34" charset="-122"/>
                <a:cs typeface="Arial" pitchFamily="34" charset="-120"/>
              </a:rPr>
              <a:t>Jira Project: TTCS_N1 CRM Scrum Board</a:t>
            </a:r>
            <a:endParaRPr lang="en-US" sz="1150" dirty="0"/>
          </a:p>
        </p:txBody>
      </p:sp>
      <p:sp>
        <p:nvSpPr>
          <p:cNvPr id="13" name="TextBox 1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01/10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Triệu Quang Dũng</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Trưởng nhóm</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Trong dự án, tôi phụ trách phân chia công việc, theo dõi tiến độ và làm rõ yêu cầu để các thành viên cùng hiểu mục tiêu. Tôi cũng tham gia xây dựng cách giới hạn thông tin theo người phụ trách và theo nhóm.</a:t>
            </a:r>
          </a:p>
          <a:p>
            <a:pPr>
              <a:lnSpc>
                <a:spcPct val="113000"/>
              </a:lnSpc>
              <a:spcBef>
                <a:spcPts val="0"/>
              </a:spcBef>
              <a:spcAft>
                <a:spcPts val="700"/>
              </a:spcAft>
            </a:pPr>
            <a:r>
              <a:rPr sz="1800" b="0">
                <a:solidFill>
                  <a:srgbClr val="142B3D"/>
                </a:solidFill>
                <a:latin typeface="Arial"/>
              </a:rPr>
              <a:t>Bên cạnh đó, tôi kết nối các phần đã hoàn thành, kiểm tra các luồng sử dụng và xử lý những điểm chưa thống nhất trước khi đưa vào bản chung.</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xem xét các phần việc do thành viên gửi lên, trao đổi những điểm cần sửa và hỗ trợ khi có vướng mắc. Tôi cũng tổng hợp hướng dẫn chạy thử để cả nhóm có thể kiểm tra và chuẩn bị báo cáo trên cùng một phiên bản.</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các phần việc của nhiều người trở thành một sản phẩm thống nhất và dễ kiểm tra.</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TRIỆU QUANG DŨNG</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Đảm bảo mỗi người chỉ xem đúng dữ liệu được giao</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N1-83, N1-84, N1-98, N1-99, PR #68, PR #88</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Hệ thống có nhiều vai trò và nhiều nhóm kinh doanh. Nếu chỉ cho phép mở một chức năng mà không giới hạn dữ liệu bên trong, nhân viên có thể xem nhầm thông tin của người hoặc nhóm khác.</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tổ chức phạm vi truy cập theo ba mức: dữ liệu của bản thân, dữ liệu của nhóm và dữ liệu được phép xem toàn bộ. Khi người dùng mở thông tin, hệ thống kiểm tra phạm vi trước khi trả kết quả.</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Cách xử lý này giúp việc xem và sử dụng dữ liệu bám đúng trách nhiệm của từng người. Nhóm cũng có tình huống kiểm tra rõ ràng: nhân viên này không được mở hồ sơ ngoài phạm vi của mình.</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cần phân biệt quyền sử dụng chức năng và quyền xem từng hồ sơ.</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thông tin được giới hạn theo người phụ trách và nhóm kinh doanh.</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02/10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Lê Minh Danh</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phần xử lý hệ thống</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phần quản lý sản phẩm và bảng giá để nhóm có một nguồn thông tin thống nhất khi lập báo giá. Phần việc này gồm thông tin sản phẩm, đơn vị tính và các mức giá cần sử dụng.</a:t>
            </a:r>
          </a:p>
          <a:p>
            <a:pPr>
              <a:lnSpc>
                <a:spcPct val="113000"/>
              </a:lnSpc>
              <a:spcBef>
                <a:spcPts val="0"/>
              </a:spcBef>
              <a:spcAft>
                <a:spcPts val="700"/>
              </a:spcAft>
            </a:pPr>
            <a:r>
              <a:rPr sz="1800" b="0">
                <a:solidFill>
                  <a:srgbClr val="142B3D"/>
                </a:solidFill>
                <a:latin typeface="Arial"/>
              </a:rPr>
              <a:t>Tôi cũng xử lý việc kiểm tra mức giá bán và giới hạn người được xem thông tin giá vốn, nhằm hỗ trợ sử dụng dữ liệu đúng quy định.</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trao đổi với các bạn làm giao diện để thống nhất những thông tin cần hiển thị và cách báo lỗi khi nhập giá chưa phù hợp. Khi tích hợp, tôi hỗ trợ kiểm tra các trường hợp nhập liệu và điều chỉnh phần xử lý theo phản hồi.</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việc lập báo giá dựa trên dữ liệu chung và hạn chế sai sót về giá.</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LÊ MINH DANH</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Giúp nhóm sử dụng sản phẩm và mức giá thống nhất</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N1-118, N1-120, S2-05, PR #65</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Khi thông tin sản phẩm và mức giá không thống nhất, người lập báo giá có thể chọn sai dữ liệu hoặc áp dụng mức giá chưa phù hợp với quy định của doanh nghiệp.</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tập trung thông tin sản phẩm và các mức giá vào một danh mục chung, đồng thời bổ sung kiểm tra khi sử dụng giá. Những thông tin nhạy cảm như giá vốn được giới hạn theo quyền của người dùng.</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Nhóm có cơ sở chung để lấy thông tin sản phẩm và giá bán. Các trường hợp chưa phù hợp được thông báo để người dùng kiểm tra trước khi tiếp tục.</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tránh sử dụng giá và thông tin sản phẩm thiếu thống nhất.</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danh mục và kiểm tra giá được dùng chung trong luồng báo giá.</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03/10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Nguyễn Trần Việt Anh</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phần xử lý hệ thống</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cách lưu và quản lý cơ cấu tổ chức kinh doanh, từ đơn vị cấp trên đến các nhóm trực thuộc. Tôi xây dựng phần thêm, sửa nhóm và gắn nhân sự vào đúng đơn vị.</a:t>
            </a:r>
          </a:p>
          <a:p>
            <a:pPr>
              <a:lnSpc>
                <a:spcPct val="113000"/>
              </a:lnSpc>
              <a:spcBef>
                <a:spcPts val="0"/>
              </a:spcBef>
              <a:spcAft>
                <a:spcPts val="700"/>
              </a:spcAft>
            </a:pPr>
            <a:r>
              <a:rPr sz="1800" b="0">
                <a:solidFill>
                  <a:srgbClr val="142B3D"/>
                </a:solidFill>
                <a:latin typeface="Arial"/>
              </a:rPr>
              <a:t>Tôi cũng hỗ trợ xác định người quản lý và các thành viên thuộc một nhánh, để các phần khác của hệ thống sử dụng cùng một cơ cấu tổ chức.</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phối hợp với các bạn làm giao diện để hiển thị cây tổ chức rõ ràng, đồng thời hỗ trợ phần phân quyền xác định đúng phạm vi nhóm. Khi có thay đổi về nhân sự hoặc đơn vị, tôi cùng nhóm kiểm tra các thông tin liên quan.</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cơ cấu tổ chức vừa dễ theo dõi vừa phục vụ việc phân chia phạm vi dữ liệu.</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19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NGUYỄN TRẦN VIỆT ANH</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Gắn cơ cấu tổ chức với trách nhiệm quản lý dữ liệu</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N1-110, N1-112, S2-06</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Nếu phòng ban và nhóm kinh doanh chỉ được ghi bằng tên rời rạc, hệ thống khó biết một người thuộc đơn vị nào và người quản lý được theo dõi những thành viên nào.</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tổ chức các đơn vị theo quan hệ cấp trên và cấp dưới, đồng thời gắn nhân sự với nhóm cụ thể. Cơ cấu này được dùng chung khi xác định phạm vi quản lý.</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Nhóm có thể hiển thị một cây tổ chức thống nhất và sử dụng thông tin đó để phục vụ quyền xem dữ liệu của người quản lý.</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cần xác định rõ quan hệ giữa phòng ban, nhóm và nhân sự.</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cơ cấu tổ chức trở thành căn cứ để quản lý nhóm và phạm vi thông tin.</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04/10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Đỗ Tuấn Dũng</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phần xử lý hệ thống</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các danh mục dùng chung như nguồn khách hàng, ngành nghề và các lựa chọn phục vụ bán hàng. Tôi xây dựng phần thêm, sửa và sắp xếp để các màn hình có thể dùng cùng một bộ dữ liệu.</a:t>
            </a:r>
          </a:p>
          <a:p>
            <a:pPr>
              <a:lnSpc>
                <a:spcPct val="113000"/>
              </a:lnSpc>
              <a:spcBef>
                <a:spcPts val="0"/>
              </a:spcBef>
              <a:spcAft>
                <a:spcPts val="700"/>
              </a:spcAft>
            </a:pPr>
            <a:r>
              <a:rPr sz="1800" b="0">
                <a:solidFill>
                  <a:srgbClr val="142B3D"/>
                </a:solidFill>
                <a:latin typeface="Arial"/>
              </a:rPr>
              <a:t>Tôi cũng tham gia quản lý thông tin đối thủ và lý do chốt thành công hoặc không thành công của cơ hội.</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chuẩn bị dữ liệu mẫu và hướng dẫn sử dụng các danh mục cho những bạn làm giao diện. Khi nhóm tích hợp, tôi hỗ trợ đối chiếu các lựa chọn hiển thị để tránh mỗi màn hình sử dụng một cách gọi khác nhau.</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dữ liệu nhập vào nhất quán và thuận tiện hơn khi tổng hợp kết quả bán hàng.</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ĐỖ TUẤN DŨNG</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Chuẩn hóa những lựa chọn được dùng trên nhiều màn hình</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N1-164, S2-07, S2-10, PR #69</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Nếu từng màn hình tự tạo danh sách lựa chọn, cùng một nguồn khách hàng hoặc ngành nghề có thể được ghi theo nhiều cách, gây khó khăn khi tìm kiếm và tổng hợp.</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đưa các lựa chọn về một bộ danh mục chung, cho phép quản lý nội dung và thứ tự hiển thị. Các màn hình lấy dữ liệu từ cùng một nơi thay vì tự khai báo riêng.</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dùng có các lựa chọn thống nhất khi nhập thông tin. Nhóm cũng dễ bổ sung hoặc điều chỉnh danh mục mà không phải sửa từng màn hình một cách riêng lẻ.</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cùng một thông tin có thể được gọi tên khác nhau ở nhiều nơi.</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các lựa chọn được quản lý tập trung và sử dụng nhất quán.</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05/10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Nguyễn Thùy Chang</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phần xử lý hệ thống</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phần ghi nhận lịch sử thay đổi đối với những thông tin quan trọng của hệ thống. Khi dữ liệu được chỉnh sửa, phần xử lý lưu lại người thực hiện, thời điểm và nội dung đã thay đổi.</a:t>
            </a:r>
          </a:p>
          <a:p>
            <a:pPr>
              <a:lnSpc>
                <a:spcPct val="113000"/>
              </a:lnSpc>
              <a:spcBef>
                <a:spcPts val="0"/>
              </a:spcBef>
              <a:spcAft>
                <a:spcPts val="700"/>
              </a:spcAft>
            </a:pPr>
            <a:r>
              <a:rPr sz="1800" b="0">
                <a:solidFill>
                  <a:srgbClr val="142B3D"/>
                </a:solidFill>
                <a:latin typeface="Arial"/>
              </a:rPr>
              <a:t>Tôi cũng xây dựng cách tra cứu lịch sử theo người dùng, thời gian và loại thông tin, giúp việc kiểm tra lại thuận tiện hơn.</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phối hợp với các bạn làm giao diện để thống nhất cách trình bày giá trị cũ và giá trị mới. Tôi hỗ trợ kiểm tra các tình huống chỉnh sửa để lịch sử phản ánh đúng thao tác và dễ đọc đối với người sử dụng.</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nhóm và người quản lý giải thích được dữ liệu đã thay đổi như thế nào.</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NGUYỄN THÙY CHANG</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Làm rõ ai đã sửa gì và sửa vào thời điểm nào</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N1-140, S2-04, S3-04</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Khi các thông tin quan trọng thay đổi mà không có lịch sử, người quản lý khó xác định nguyên nhân của chênh lệch hoặc biết ai là người thực hiện chỉnh sửa.</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bổ sung phần ghi lại thao tác và so sánh thông tin trước với sau khi sửa. Người dùng có thể tra cứu theo thời gian, người thực hiện và loại dữ liệu cần kiểm tra.</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Lịch sử chỉnh sửa trở nên rõ ràng hơn, hỗ trợ đối chiếu khi có thắc mắc và giúp việc trao đổi giữa các thành viên dựa trên thông tin cụ thể.</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khó giải thích thay đổi nếu chỉ nhìn thấy giá trị hiện tại.</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có lịch sử để đối chiếu người thực hiện, thời điểm và nội dung thay đổi.</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06/10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Phạm Xuân Bính</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phần xử lý hệ thống</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các thao tác liên quan đến bảo vệ và khôi phục tài khoản, gồm đăng xuất, đổi mật khẩu và yêu cầu đặt lại mật khẩu qua email. Tôi xử lý việc kiểm tra thông tin và giới hạn sử dụng liên kết khôi phục.</a:t>
            </a:r>
          </a:p>
          <a:p>
            <a:pPr>
              <a:lnSpc>
                <a:spcPct val="113000"/>
              </a:lnSpc>
              <a:spcBef>
                <a:spcPts val="0"/>
              </a:spcBef>
              <a:spcAft>
                <a:spcPts val="700"/>
              </a:spcAft>
            </a:pPr>
            <a:r>
              <a:rPr sz="1800" b="0">
                <a:solidFill>
                  <a:srgbClr val="142B3D"/>
                </a:solidFill>
                <a:latin typeface="Arial"/>
              </a:rPr>
              <a:t>Tôi cũng tham gia cấu hình gửi thư và kiểm tra các tình huống liên quan đến mật khẩu.</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trao đổi với các bạn làm giao diện để thống nhất thông báo cho người dùng, chẳng hạn khi thông tin chưa đúng hoặc liên kết không còn dùng được. Khi thử nghiệm, tôi hỗ trợ nhóm kiểm tra luồng nhận thư và đặt mật khẩu mới.</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người dùng chủ động bảo vệ tài khoản và có cách lấy lại quyền truy cập khi cần.</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PHẠM XUÂN BÍNH</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Tạo luồng khôi phục tài khoản rõ ràng cho người dùng</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N1-88, N1-91, N1-92, N1-93, N1-95, S1-03</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dùng có thể quên mật khẩu hoặc cần thay mật khẩu để bảo vệ tài khoản. Nếu quy trình không rõ ràng, họ dễ gặp khó khăn khi muốn tiếp tục công việc.</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xây dựng luồng yêu cầu khôi phục qua email, kiểm tra liên kết trước khi đổi mật khẩu và xử lý các trường hợp liên kết hết hạn hoặc đã được sử dụng.</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dùng có một luồng thao tác thống nhất để yêu cầu khôi phục và đặt mật khẩu mới. Những trường hợp không hợp lệ được thông báo để họ biết bước cần thực hiện tiếp theo.</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cần có cách khôi phục tài khoản thuận tiện nhưng vẫn được kiểm tra.</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yêu cầu, liên kết khôi phục và đổi mật khẩu được nối thành một luồng rõ ràng.</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07/10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Nguyễn Ngọc Anh</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giao diện</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giao diện đăng nhập và những phần người dùng thường tiếp xúc khi bắt đầu sử dụng hệ thống. Tôi xây dựng thanh điều hướng và cách hiển thị các lựa chọn phù hợp với quyền của tài khoản.</a:t>
            </a:r>
          </a:p>
          <a:p>
            <a:pPr>
              <a:lnSpc>
                <a:spcPct val="113000"/>
              </a:lnSpc>
              <a:spcBef>
                <a:spcPts val="0"/>
              </a:spcBef>
              <a:spcAft>
                <a:spcPts val="700"/>
              </a:spcAft>
            </a:pPr>
            <a:r>
              <a:rPr sz="1800" b="0">
                <a:solidFill>
                  <a:srgbClr val="142B3D"/>
                </a:solidFill>
                <a:latin typeface="Arial"/>
              </a:rPr>
              <a:t>Tôi cũng xử lý thông báo và hướng dẫn quay lại đăng nhập khi phiên làm việc không còn hợp lệ.</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phối hợp với các bạn xử lý tài khoản để thống nhất phản hồi giữa hệ thống và màn hình. Tôi kiểm tra cách hiển thị trên các kích thước khác nhau và điều chỉnh những điểm gây khó hiểu trong quá trình sử dụng.</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người dùng bắt đầu công việc thuận tiện và biết cách xử lý khi cần đăng nhập lại.</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NGUYỄN NGỌC ANH</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Giúp người dùng hiểu trạng thái đăng nhập và bước tiếp theo</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N1-86, N1-87, N1-89, N1-90, N1-96, S1-01</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Khi phiên làm việc hết hạn mà màn hình không hướng dẫn rõ, người dùng có thể tiếp tục thao tác nhưng không biết vì sao thông tin không được lưu hoặc chức năng không sử dụng được.</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bổ sung thông báo phù hợp và dẫn người dùng trở lại màn hình đăng nhập khi cần. Thanh điều hướng cũng được điều chỉnh để chỉ hiển thị những lựa chọn phù hợp với tài khoản.</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Luồng truy cập trở nên dễ hiểu hơn. Người dùng nhận được hướng dẫn thay vì phải tự đoán nguyên nhân khi gặp vấn đề liên quan đến phiên làm việc.</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người dùng cần hiểu vì sao không thể tiếp tục thao tác.</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màn hình có thông báo và hướng dẫn quay lại đúng bước.</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08/10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Chẩu Thùy Dung</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giao diện</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giao diện quản lý người dùng, gồm danh sách nhân viên, tìm kiếm, lọc và các biểu mẫu tạo hoặc chỉnh sửa tài khoản. Tôi tổ chức các thông tin cần nhập để người quản trị dễ theo dõi.</a:t>
            </a:r>
          </a:p>
          <a:p>
            <a:pPr>
              <a:lnSpc>
                <a:spcPct val="113000"/>
              </a:lnSpc>
              <a:spcBef>
                <a:spcPts val="0"/>
              </a:spcBef>
              <a:spcAft>
                <a:spcPts val="700"/>
              </a:spcAft>
            </a:pPr>
            <a:r>
              <a:rPr sz="1800" b="0">
                <a:solidFill>
                  <a:srgbClr val="142B3D"/>
                </a:solidFill>
                <a:latin typeface="Arial"/>
              </a:rPr>
              <a:t>Tôi cũng tích hợp các thao tác cập nhật ảnh đại diện và thay đổi trạng thái hoạt động của tài khoản.</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làm việc với các bạn phụ trách xử lý người dùng để thống nhất dữ liệu và cách báo lỗi trên biểu mẫu. Tôi tham gia kiểm tra những tình huống nhập thiếu thông tin và điều chỉnh bố cục để màn hình sử dụng thuận tiện hơn.</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người quản trị quản lý nhân sự trên một màn hình có thao tác rõ ràng.</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29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CHẨU THÙY DUNG</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Đưa các thao tác quản lý tài khoản về một luồng thuận tiện</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S1-08, S1-09, N1-102, PR #13, PR #14</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quản trị cần thực hiện nhiều thao tác với tài khoản nhân viên. Nếu danh sách và biểu mẫu tách rời hoặc khó tìm, việc tạo và cập nhật thông tin sẽ mất thời gian.</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kết hợp danh sách, tìm kiếm và các biểu mẫu tạo hoặc sửa trong cùng một luồng sử dụng. Các thông báo được đặt gần nội dung cần kiểm tra để người dùng biết chỗ phải điều chỉnh.</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quản trị có thể tìm tài khoản và thực hiện những thay đổi cần thiết thuận tiện hơn, đồng thời dễ theo dõi kết quả sau mỗi thao tác.</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cần kết nối tìm kiếm, tạo và sửa tài khoản một cách dễ hiểu.</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các thao tác quản lý nhân viên được trình bày trong một luồng thống nhất.</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09/10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Hoàng Lan Anh</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giao diện</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giao diện hồ sơ khách hàng để người dùng có thể xem thông tin công ty, người liên hệ và lịch sử tương tác tại cùng một nơi. Tôi sắp xếp các phần nội dung để dễ tìm trước khi làm việc với khách hàng.</a:t>
            </a:r>
          </a:p>
          <a:p>
            <a:pPr>
              <a:lnSpc>
                <a:spcPct val="113000"/>
              </a:lnSpc>
              <a:spcBef>
                <a:spcPts val="0"/>
              </a:spcBef>
              <a:spcAft>
                <a:spcPts val="700"/>
              </a:spcAft>
            </a:pPr>
            <a:r>
              <a:rPr sz="1800" b="0">
                <a:solidFill>
                  <a:srgbClr val="142B3D"/>
                </a:solidFill>
                <a:latin typeface="Arial"/>
              </a:rPr>
              <a:t>Tôi cũng thực hiện phần hiển thị các thông tin bổ sung theo cấu hình và khu vực chỉnh sửa chữ ký email.</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phối hợp với các bạn xử lý dữ liệu để bảo đảm thông tin trên hồ sơ được hiển thị phù hợp. Tôi kiểm tra những trường hợp dữ liệu chưa đầy đủ hoặc có nhiều loại thông tin, rồi điều chỉnh cách trình bày để dễ sử dụng.</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nhân viên nắm được bối cảnh khách hàng mà không phải mở nhiều màn hình.</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HOÀNG LAN ANH</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Giúp người dùng nhìn tổng thể một khách hàng tại một nơi</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N1-138, S2-08, S3-01, PR #61</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Thông tin công ty, người liên hệ và những lần trao đổi có thể nằm ở nhiều mục khác nhau. Trước một cuộc gặp, nhân viên sẽ khó nắm đủ bối cảnh nếu phải tìm từng phần.</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đưa các nhóm thông tin liên quan vào hồ sơ khách hàng tổng hợp, trình bày theo từng khu vực rõ ràng và bổ sung các trường thông tin theo cấu hình của nhóm.</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dùng có thể xem thông tin liên quan trong cùng một hồ sơ, thuận tiện hơn khi chuẩn bị trao đổi và tiếp tục chăm sóc khách hàng.</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nhân viên cần xem nhiều loại thông tin trước khi làm việc với khách.</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hồ sơ tập trung giúp việc tìm và đọc thông tin liên quan dễ dàng hơn.</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01 — ĐÓNG GÓP CÁ NHÂN · 10/10</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800" b="1">
                <a:solidFill>
                  <a:srgbClr val="12263A"/>
                </a:solidFill>
                <a:latin typeface="Arial"/>
              </a:rPr>
              <a:t>Hứa Huệ An</a:t>
            </a:r>
            <a:endParaRPr lang="en-US" sz="26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Nguồn nội dung: phân công trong file báo cáo của nhóm</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TextBox 7"/>
          <p:cNvSpPr txBox="1"/>
          <p:nvPr/>
        </p:nvSpPr>
        <p:spPr>
          <a:xfrm>
            <a:off x="841248" y="1655064"/>
            <a:ext cx="10241280" cy="27432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596572"/>
                </a:solidFill>
                <a:latin typeface="Arial"/>
              </a:rPr>
              <a:t>Phát triển giao diện</a:t>
            </a:r>
          </a:p>
        </p:txBody>
      </p:sp>
      <p:sp>
        <p:nvSpPr>
          <p:cNvPr id="9" name="Rounded Rectangle 8"/>
          <p:cNvSpPr/>
          <p:nvPr/>
        </p:nvSpPr>
        <p:spPr>
          <a:xfrm>
            <a:off x="822960" y="2084831"/>
            <a:ext cx="649224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7516368" y="2084831"/>
            <a:ext cx="3840480" cy="3319272"/>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24128" y="2258568"/>
            <a:ext cx="6080760"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Phần việc và tính năng tôi phụ trách</a:t>
            </a:r>
          </a:p>
        </p:txBody>
      </p:sp>
      <p:sp>
        <p:nvSpPr>
          <p:cNvPr id="12" name="TextBox 11"/>
          <p:cNvSpPr txBox="1"/>
          <p:nvPr/>
        </p:nvSpPr>
        <p:spPr>
          <a:xfrm>
            <a:off x="1024128" y="2816352"/>
            <a:ext cx="6080760" cy="2359152"/>
          </a:xfrm>
          <a:prstGeom prst="rect">
            <a:avLst/>
          </a:prstGeom>
          <a:noFill/>
        </p:spPr>
        <p:txBody>
          <a:bodyPr wrap="square" lIns="13716" rIns="13716" tIns="13716" bIns="13716">
            <a:spAutoFit/>
          </a:bodyPr>
          <a:lstStyle/>
          <a:p>
            <a:pPr>
              <a:lnSpc>
                <a:spcPct val="113000"/>
              </a:lnSpc>
              <a:spcBef>
                <a:spcPts val="0"/>
              </a:spcBef>
              <a:spcAft>
                <a:spcPts val="700"/>
              </a:spcAft>
            </a:pPr>
            <a:r>
              <a:rPr sz="1800" b="0">
                <a:solidFill>
                  <a:srgbClr val="142B3D"/>
                </a:solidFill>
                <a:latin typeface="Arial"/>
              </a:rPr>
              <a:t>Tôi phụ trách giao diện theo dõi cơ hội bán hàng theo từng giai đoạn. Tôi xây dựng cách kéo thả để chuyển cơ hội và các biểu mẫu ghi nhận khi một cơ hội được chốt thành công hoặc không thành công.</a:t>
            </a:r>
          </a:p>
          <a:p>
            <a:pPr>
              <a:lnSpc>
                <a:spcPct val="113000"/>
              </a:lnSpc>
              <a:spcBef>
                <a:spcPts val="0"/>
              </a:spcBef>
              <a:spcAft>
                <a:spcPts val="700"/>
              </a:spcAft>
            </a:pPr>
            <a:r>
              <a:rPr sz="1800" b="0">
                <a:solidFill>
                  <a:srgbClr val="142B3D"/>
                </a:solidFill>
                <a:latin typeface="Arial"/>
              </a:rPr>
              <a:t>Tôi cũng trình bày các giá trị tổng hợp để người dùng theo dõi quy mô cơ hội và doanh số dự kiến.</a:t>
            </a:r>
          </a:p>
        </p:txBody>
      </p:sp>
      <p:sp>
        <p:nvSpPr>
          <p:cNvPr id="13" name="TextBox 12"/>
          <p:cNvSpPr txBox="1"/>
          <p:nvPr/>
        </p:nvSpPr>
        <p:spPr>
          <a:xfrm>
            <a:off x="7717536" y="2258568"/>
            <a:ext cx="3438144" cy="411480"/>
          </a:xfrm>
          <a:prstGeom prst="rect">
            <a:avLst/>
          </a:prstGeom>
          <a:noFill/>
        </p:spPr>
        <p:txBody>
          <a:bodyPr wrap="square" lIns="13716" rIns="13716" tIns="13716" bIns="13716">
            <a:spAutoFit/>
          </a:bodyPr>
          <a:lstStyle/>
          <a:p>
            <a:pPr>
              <a:lnSpc>
                <a:spcPct val="113000"/>
              </a:lnSpc>
              <a:spcBef>
                <a:spcPts val="0"/>
              </a:spcBef>
              <a:spcAft>
                <a:spcPts val="700"/>
              </a:spcAft>
            </a:pPr>
            <a:r>
              <a:rPr sz="1900" b="1">
                <a:solidFill>
                  <a:srgbClr val="2F50CC"/>
                </a:solidFill>
                <a:latin typeface="Arial"/>
              </a:rPr>
              <a:t>Đóng góp cho nhóm</a:t>
            </a:r>
          </a:p>
        </p:txBody>
      </p:sp>
      <p:sp>
        <p:nvSpPr>
          <p:cNvPr id="14" name="TextBox 13"/>
          <p:cNvSpPr txBox="1"/>
          <p:nvPr/>
        </p:nvSpPr>
        <p:spPr>
          <a:xfrm>
            <a:off x="7717536" y="2816352"/>
            <a:ext cx="3438144" cy="2359152"/>
          </a:xfrm>
          <a:prstGeom prst="rect">
            <a:avLst/>
          </a:prstGeom>
          <a:noFill/>
        </p:spPr>
        <p:txBody>
          <a:bodyPr wrap="square" lIns="13716" rIns="13716" tIns="13716" bIns="13716">
            <a:spAutoFit/>
          </a:bodyPr>
          <a:lstStyle/>
          <a:p>
            <a:pPr>
              <a:lnSpc>
                <a:spcPct val="113000"/>
              </a:lnSpc>
              <a:spcBef>
                <a:spcPts val="0"/>
              </a:spcBef>
              <a:spcAft>
                <a:spcPts val="700"/>
              </a:spcAft>
            </a:pPr>
            <a:r>
              <a:rPr sz="1700" b="0">
                <a:solidFill>
                  <a:srgbClr val="142B3D"/>
                </a:solidFill>
                <a:latin typeface="Arial"/>
              </a:rPr>
              <a:t>Tôi phối hợp với các bạn xử lý cơ hội để thống nhất điều kiện chuyển giai đoạn và những thông tin cần bổ sung khi chốt. Tôi tham gia kiểm tra thao tác kéo thả, phản hồi của màn hình và cách cập nhật dữ liệu sau thay đổi.</a:t>
            </a:r>
          </a:p>
        </p:txBody>
      </p:sp>
      <p:sp>
        <p:nvSpPr>
          <p:cNvPr id="15" name="Rounded Rectangle 14"/>
          <p:cNvSpPr/>
          <p:nvPr/>
        </p:nvSpPr>
        <p:spPr>
          <a:xfrm>
            <a:off x="822960" y="5596128"/>
            <a:ext cx="10533888" cy="548640"/>
          </a:xfrm>
          <a:prstGeom prst="roundRect">
            <a:avLst>
              <a:gd name="adj" fmla="val 6000"/>
            </a:avLst>
          </a:prstGeom>
          <a:solidFill>
            <a:srgbClr val="EFF4FD"/>
          </a:solidFill>
          <a:ln>
            <a:solidFill>
              <a:srgbClr val="EFF4F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96696" y="5705856"/>
            <a:ext cx="10149840" cy="320040"/>
          </a:xfrm>
          <a:prstGeom prst="rect">
            <a:avLst/>
          </a:prstGeom>
          <a:noFill/>
        </p:spPr>
        <p:txBody>
          <a:bodyPr wrap="square" lIns="13716" rIns="13716" tIns="13716" bIns="13716">
            <a:spAutoFit/>
          </a:bodyPr>
          <a:lstStyle/>
          <a:p>
            <a:pPr>
              <a:lnSpc>
                <a:spcPct val="113000"/>
              </a:lnSpc>
              <a:spcBef>
                <a:spcPts val="0"/>
              </a:spcBef>
              <a:spcAft>
                <a:spcPts val="700"/>
              </a:spcAft>
            </a:pPr>
            <a:r>
              <a:rPr sz="1600" b="1">
                <a:solidFill>
                  <a:srgbClr val="2F50CC"/>
                </a:solidFill>
                <a:latin typeface="Arial"/>
              </a:rPr>
              <a:t>Giá trị mang lại: Giúp nhân viên và người quản lý theo dõi tiến độ bán hàng một cách trực quan.</a:t>
            </a:r>
          </a:p>
        </p:txBody>
      </p:sp>
      <p:sp>
        <p:nvSpPr>
          <p:cNvPr id="17" name="TextBox 16"/>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6F4"/>
        </a:solidFill>
        <a:effectLst/>
      </p:bgPr>
    </p:bg>
    <p:spTree>
      <p:nvGrpSpPr>
        <p:cNvPr id="1" name=""/>
        <p:cNvGrpSpPr/>
        <p:nvPr/>
      </p:nvGrpSpPr>
      <p:grpSpPr/>
      <p:pic>
        <p:nvPicPr>
          <p:cNvPr id="2" name="Image 0" descr="/home/claude/img/ictu.png"/>
          <p:cNvPicPr>
            <a:picLocks noChangeAspect="1"/>
          </p:cNvPicPr>
          <p:nvPr/>
        </p:nvPicPr>
        <p:blipFill>
          <a:blip r:embed="rId2"/>
          <a:stretch>
            <a:fillRect/>
          </a:stretch>
        </p:blipFill>
        <p:spPr>
          <a:xfrm>
            <a:off x="4773168" y="182880"/>
            <a:ext cx="438912" cy="438912"/>
          </a:xfrm>
          <a:prstGeom prst="rect">
            <a:avLst/>
          </a:prstGeom>
        </p:spPr>
      </p:pic>
      <p:pic>
        <p:nvPicPr>
          <p:cNvPr id="3" name="Image 1" descr="/home/claude/img/cg.png"/>
          <p:cNvPicPr>
            <a:picLocks noChangeAspect="1"/>
          </p:cNvPicPr>
          <p:nvPr/>
        </p:nvPicPr>
        <p:blipFill>
          <a:blip r:embed="rId3"/>
          <a:stretch>
            <a:fillRect/>
          </a:stretch>
        </p:blipFill>
        <p:spPr>
          <a:xfrm>
            <a:off x="5440680" y="182880"/>
            <a:ext cx="2130552" cy="438912"/>
          </a:xfrm>
          <a:prstGeom prst="rect">
            <a:avLst/>
          </a:prstGeom>
        </p:spPr>
      </p:pic>
      <p:sp>
        <p:nvSpPr>
          <p:cNvPr id="4" name="Text 0"/>
          <p:cNvSpPr txBox="1"/>
          <p:nvPr/>
        </p:nvSpPr>
        <p:spPr>
          <a:xfrm>
            <a:off x="822960" y="868680"/>
            <a:ext cx="10543032"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1200" b="1">
                <a:solidFill>
                  <a:srgbClr val="2A55C5"/>
                </a:solidFill>
                <a:latin typeface="Arial"/>
              </a:rPr>
              <a:t>B · 02 — ĐÓNG GÓP TIÊU BIỂU · HỨA HUỆ AN</a:t>
            </a:r>
            <a:endParaRPr lang="en-US" sz="1200" dirty="0"/>
          </a:p>
        </p:txBody>
      </p:sp>
      <p:sp>
        <p:nvSpPr>
          <p:cNvPr id="5" name="Text 1"/>
          <p:cNvSpPr txBox="1"/>
          <p:nvPr/>
        </p:nvSpPr>
        <p:spPr>
          <a:xfrm>
            <a:off x="822960" y="1143000"/>
            <a:ext cx="10543032" cy="54864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2600" b="1">
                <a:solidFill>
                  <a:srgbClr val="12263A"/>
                </a:solidFill>
                <a:latin typeface="Arial"/>
              </a:rPr>
              <a:t>Biến tiến độ bán hàng thành một bảng dễ theo dõi</a:t>
            </a:r>
            <a:endParaRPr lang="en-US" sz="1800" dirty="0"/>
          </a:p>
        </p:txBody>
      </p:sp>
      <p:sp>
        <p:nvSpPr>
          <p:cNvPr id="6" name="Text 2"/>
          <p:cNvSpPr txBox="1"/>
          <p:nvPr/>
        </p:nvSpPr>
        <p:spPr>
          <a:xfrm>
            <a:off x="822960" y="6400800"/>
            <a:ext cx="6583680" cy="274320"/>
          </a:xfrm>
          <a:prstGeom prst="rect">
            <a:avLst/>
          </a:prstGeom>
          <a:noFill/>
          <a:ln/>
        </p:spPr>
        <p:txBody>
          <a:bodyPr wrap="square" lIns="13716" tIns="13716" rIns="13716" bIns="13716" rtlCol="0" anchor="t"/>
          <a:lstStyle/>
          <a:p>
            <a:pPr marL="0" indent="0">
              <a:lnSpc>
                <a:spcPct val="113000"/>
              </a:lnSpc>
              <a:spcBef>
                <a:spcPts val="0"/>
              </a:spcBef>
              <a:spcAft>
                <a:spcPts val="700"/>
              </a:spcAft>
              <a:buNone/>
            </a:pPr>
            <a:r>
              <a:rPr sz="900">
                <a:solidFill>
                  <a:srgbClr val="4F5967"/>
                </a:solidFill>
                <a:latin typeface="Arial"/>
              </a:rPr>
              <a:t>Đối chiếu trong file gốc: S2-09, S3-05</a:t>
            </a:r>
            <a:endParaRPr lang="en-US" sz="1000" dirty="0"/>
          </a:p>
        </p:txBody>
      </p:sp>
      <p:sp>
        <p:nvSpPr>
          <p:cNvPr id="7" name="Text 3"/>
          <p:cNvSpPr txBox="1"/>
          <p:nvPr/>
        </p:nvSpPr>
        <p:spPr>
          <a:xfrm>
            <a:off x="6766560" y="6400800"/>
            <a:ext cx="4599432" cy="274320"/>
          </a:xfrm>
          <a:prstGeom prst="rect">
            <a:avLst/>
          </a:prstGeom>
          <a:noFill/>
          <a:ln/>
        </p:spPr>
        <p:txBody>
          <a:bodyPr wrap="square" lIns="0" tIns="0" rIns="0" bIns="0" rtlCol="0" anchor="t"/>
          <a:lstStyle/>
          <a:p>
            <a:pPr marL="0" indent="0" algn="r">
              <a:buNone/>
            </a:pPr>
            <a:r>
              <a:rPr lang="en-US" sz="1000" dirty="0">
                <a:solidFill>
                  <a:srgbClr val="4F5967"/>
                </a:solidFill>
                <a:latin typeface="Arial" pitchFamily="34" charset="0"/>
                <a:ea typeface="Arial" pitchFamily="34" charset="-122"/>
                <a:cs typeface="Arial" pitchFamily="34" charset="-120"/>
              </a:rPr>
              <a:t>Phần B — Đóng góp cá nhân</a:t>
            </a:r>
            <a:endParaRPr lang="en-US" sz="1000" dirty="0"/>
          </a:p>
        </p:txBody>
      </p:sp>
      <p:sp>
        <p:nvSpPr>
          <p:cNvPr id="8" name="Rounded Rectangle 7"/>
          <p:cNvSpPr/>
          <p:nvPr/>
        </p:nvSpPr>
        <p:spPr>
          <a:xfrm>
            <a:off x="822960"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Vấn đề</a:t>
            </a:r>
          </a:p>
        </p:txBody>
      </p:sp>
      <p:sp>
        <p:nvSpPr>
          <p:cNvPr id="10" name="TextBox 9"/>
          <p:cNvSpPr txBox="1"/>
          <p:nvPr/>
        </p:nvSpPr>
        <p:spPr>
          <a:xfrm>
            <a:off x="1005840"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Một danh sách dài có thể khiến người dùng khó nhận ra cơ hội đang ở bước nào và cần xử lý gì tiếp theo, đặc biệt khi nhiều cơ hội diễn ra cùng lúc.</a:t>
            </a:r>
          </a:p>
        </p:txBody>
      </p:sp>
      <p:sp>
        <p:nvSpPr>
          <p:cNvPr id="11" name="TextBox 10"/>
          <p:cNvSpPr txBox="1"/>
          <p:nvPr/>
        </p:nvSpPr>
        <p:spPr>
          <a:xfrm>
            <a:off x="4041648"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2" name="Rounded Rectangle 11"/>
          <p:cNvSpPr/>
          <p:nvPr/>
        </p:nvSpPr>
        <p:spPr>
          <a:xfrm>
            <a:off x="4489704"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672584"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Cách tôi giải quyết</a:t>
            </a:r>
          </a:p>
        </p:txBody>
      </p:sp>
      <p:sp>
        <p:nvSpPr>
          <p:cNvPr id="14" name="TextBox 13"/>
          <p:cNvSpPr txBox="1"/>
          <p:nvPr/>
        </p:nvSpPr>
        <p:spPr>
          <a:xfrm>
            <a:off x="4672584"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Tôi trình bày cơ hội theo các cột giai đoạn và hỗ trợ chuyển bằng kéo thả. Khi chốt, màn hình yêu cầu bổ sung thông tin liên quan thay vì chỉ đổi trạng thái.</a:t>
            </a:r>
          </a:p>
        </p:txBody>
      </p:sp>
      <p:sp>
        <p:nvSpPr>
          <p:cNvPr id="15" name="TextBox 14"/>
          <p:cNvSpPr txBox="1"/>
          <p:nvPr/>
        </p:nvSpPr>
        <p:spPr>
          <a:xfrm>
            <a:off x="7708392" y="3191256"/>
            <a:ext cx="411480" cy="411480"/>
          </a:xfrm>
          <a:prstGeom prst="rect">
            <a:avLst/>
          </a:prstGeom>
          <a:noFill/>
        </p:spPr>
        <p:txBody>
          <a:bodyPr wrap="square" lIns="13716" rIns="13716" tIns="13716" bIns="13716">
            <a:spAutoFit/>
          </a:bodyPr>
          <a:lstStyle/>
          <a:p>
            <a:pPr>
              <a:lnSpc>
                <a:spcPct val="113000"/>
              </a:lnSpc>
              <a:spcBef>
                <a:spcPts val="0"/>
              </a:spcBef>
              <a:spcAft>
                <a:spcPts val="700"/>
              </a:spcAft>
            </a:pPr>
            <a:r>
              <a:rPr sz="2400" b="1">
                <a:solidFill>
                  <a:srgbClr val="F68A19"/>
                </a:solidFill>
                <a:latin typeface="Arial"/>
              </a:rPr>
              <a:t>→</a:t>
            </a:r>
          </a:p>
        </p:txBody>
      </p:sp>
      <p:sp>
        <p:nvSpPr>
          <p:cNvPr id="16" name="Rounded Rectangle 15"/>
          <p:cNvSpPr/>
          <p:nvPr/>
        </p:nvSpPr>
        <p:spPr>
          <a:xfrm>
            <a:off x="8156448" y="1920240"/>
            <a:ext cx="3209544" cy="3017520"/>
          </a:xfrm>
          <a:prstGeom prst="roundRect">
            <a:avLst>
              <a:gd name="adj" fmla="val 6000"/>
            </a:avLst>
          </a:prstGeom>
          <a:solidFill>
            <a:srgbClr val="FCFCFC"/>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39327" y="2084831"/>
            <a:ext cx="2843784" cy="384048"/>
          </a:xfrm>
          <a:prstGeom prst="rect">
            <a:avLst/>
          </a:prstGeom>
          <a:noFill/>
        </p:spPr>
        <p:txBody>
          <a:bodyPr wrap="square" lIns="13716" rIns="13716" tIns="13716" bIns="13716">
            <a:spAutoFit/>
          </a:bodyPr>
          <a:lstStyle/>
          <a:p>
            <a:pPr>
              <a:lnSpc>
                <a:spcPct val="113000"/>
              </a:lnSpc>
              <a:spcBef>
                <a:spcPts val="0"/>
              </a:spcBef>
              <a:spcAft>
                <a:spcPts val="700"/>
              </a:spcAft>
            </a:pPr>
            <a:r>
              <a:rPr sz="1800" b="1">
                <a:solidFill>
                  <a:srgbClr val="142B3D"/>
                </a:solidFill>
                <a:latin typeface="Arial"/>
              </a:rPr>
              <a:t>Kết quả mang lại</a:t>
            </a:r>
          </a:p>
        </p:txBody>
      </p:sp>
      <p:sp>
        <p:nvSpPr>
          <p:cNvPr id="18" name="TextBox 17"/>
          <p:cNvSpPr txBox="1"/>
          <p:nvPr/>
        </p:nvSpPr>
        <p:spPr>
          <a:xfrm>
            <a:off x="8339327" y="2697480"/>
            <a:ext cx="2843784" cy="2011680"/>
          </a:xfrm>
          <a:prstGeom prst="rect">
            <a:avLst/>
          </a:prstGeom>
          <a:noFill/>
        </p:spPr>
        <p:txBody>
          <a:bodyPr wrap="square" lIns="13716" rIns="13716" tIns="13716" bIns="13716">
            <a:spAutoFit/>
          </a:bodyPr>
          <a:lstStyle/>
          <a:p>
            <a:pPr>
              <a:lnSpc>
                <a:spcPct val="113000"/>
              </a:lnSpc>
              <a:spcBef>
                <a:spcPts val="0"/>
              </a:spcBef>
              <a:spcAft>
                <a:spcPts val="700"/>
              </a:spcAft>
            </a:pPr>
            <a:r>
              <a:rPr sz="1600" b="0">
                <a:solidFill>
                  <a:srgbClr val="142B3D"/>
                </a:solidFill>
                <a:latin typeface="Arial"/>
              </a:rPr>
              <a:t>Người dùng có thể nhận biết tiến độ bán hàng nhanh hơn và thực hiện thao tác trong cùng một luồng. Các thông tin khi chốt cũng được ghi nhận rõ ràng hơn.</a:t>
            </a:r>
          </a:p>
        </p:txBody>
      </p:sp>
      <p:sp>
        <p:nvSpPr>
          <p:cNvPr id="19" name="Rounded Rectangle 18"/>
          <p:cNvSpPr/>
          <p:nvPr/>
        </p:nvSpPr>
        <p:spPr>
          <a:xfrm>
            <a:off x="822960"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153912" y="5138928"/>
            <a:ext cx="5212080" cy="1005840"/>
          </a:xfrm>
          <a:prstGeom prst="roundRect">
            <a:avLst>
              <a:gd name="adj" fmla="val 6000"/>
            </a:avLst>
          </a:prstGeom>
          <a:solidFill>
            <a:srgbClr val="EFF4FD"/>
          </a:solidFill>
          <a:ln>
            <a:solidFill>
              <a:srgbClr val="D5DCE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05840"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Bài toán ban đầu: khó nhìn tiến độ của nhiều cơ hội trong một danh sách thông thường.</a:t>
            </a:r>
          </a:p>
        </p:txBody>
      </p:sp>
      <p:sp>
        <p:nvSpPr>
          <p:cNvPr id="22" name="TextBox 21"/>
          <p:cNvSpPr txBox="1"/>
          <p:nvPr/>
        </p:nvSpPr>
        <p:spPr>
          <a:xfrm>
            <a:off x="6336792" y="5321808"/>
            <a:ext cx="4846320" cy="640080"/>
          </a:xfrm>
          <a:prstGeom prst="rect">
            <a:avLst/>
          </a:prstGeom>
          <a:noFill/>
        </p:spPr>
        <p:txBody>
          <a:bodyPr wrap="square" lIns="13716" rIns="13716" tIns="13716" bIns="13716">
            <a:spAutoFit/>
          </a:bodyPr>
          <a:lstStyle/>
          <a:p>
            <a:pPr>
              <a:lnSpc>
                <a:spcPct val="113000"/>
              </a:lnSpc>
              <a:spcBef>
                <a:spcPts val="0"/>
              </a:spcBef>
              <a:spcAft>
                <a:spcPts val="700"/>
              </a:spcAft>
            </a:pPr>
            <a:r>
              <a:rPr sz="1500" b="0">
                <a:solidFill>
                  <a:srgbClr val="142B3D"/>
                </a:solidFill>
                <a:latin typeface="Arial"/>
              </a:rPr>
              <a:t>Kết quả: các cơ hội được sắp theo giai đoạn, có thao tác chuyển và ghi nhận khi chốt.</a:t>
            </a:r>
          </a:p>
        </p:txBody>
      </p:sp>
      <p:sp>
        <p:nvSpPr>
          <p:cNvPr id="23" name="TextBox 22"/>
          <p:cNvSpPr txBox="1"/>
          <p:nvPr/>
        </p:nvSpPr>
        <p:spPr>
          <a:xfrm>
            <a:off x="11539728" y="6428232"/>
            <a:ext cx="274320" cy="201168"/>
          </a:xfrm>
          <a:prstGeom prst="rect">
            <a:avLst/>
          </a:prstGeom>
          <a:noFill/>
        </p:spPr>
        <p:txBody>
          <a:bodyPr wrap="square" lIns="13716" rIns="13716" tIns="13716" bIns="13716">
            <a:spAutoFit/>
          </a:bodyPr>
          <a:lstStyle/>
          <a:p>
            <a:pPr algn="r">
              <a:lnSpc>
                <a:spcPct val="113000"/>
              </a:lnSpc>
              <a:spcBef>
                <a:spcPts val="0"/>
              </a:spcBef>
              <a:spcAft>
                <a:spcPts val="700"/>
              </a:spcAft>
            </a:pPr>
            <a:r>
              <a:rPr sz="800" b="0">
                <a:solidFill>
                  <a:srgbClr val="596572"/>
                </a:solidFill>
                <a:latin typeface="Arial"/>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5195</Words>
  <Application>Microsoft Office PowerPoint</Application>
  <PresentationFormat>Widescreen</PresentationFormat>
  <Paragraphs>724</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Be Vietnam Pro</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TTCS_N1 — Quy trình làm việc và đóng góp từng thành viên</dc:title>
  <dc:subject>Chỉnh sửa từ llll.pptx; workflow nhóm; hai slide cho mỗi thành viên</dc:subject>
  <dc:creator>PptxGenJS</dc:creator>
  <cp:lastModifiedBy>Administrator</cp:lastModifiedBy>
  <cp:revision>4</cp:revision>
  <dcterms:created xsi:type="dcterms:W3CDTF">2026-10-21T05:06:17Z</dcterms:created>
  <dcterms:modified xsi:type="dcterms:W3CDTF">2026-10-21T07:25:46Z</dcterms:modified>
</cp:coreProperties>
</file>